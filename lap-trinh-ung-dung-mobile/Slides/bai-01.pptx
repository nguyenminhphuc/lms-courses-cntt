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Thời lượng: 2 tiết lý thuyết, 3 tiết thực hành.</a:t>
            </a:r>
          </a:p>
          <a:p>
            <a:r>
              <a:t>CLO liên quan: CLO1, CLO4.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Ghi lại các ứng dụng sinh viên kể, dùng làm ví dụ cho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mạnh: không có lựa chọn tốt nhất cho mọi trường hợp; học phần chọn React Native vì sinh viên đã biết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Không đi sâu vào New Architecture; chỉ cần sinh viên hiểu "không phải web nhúng".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Gói miễn phí giới hạn lượt build: khi phát triển dùng Expo Go, chỉ build APK khi cần nộp.</a:t>
            </a:r>
          </a:p>
          <a:p>
            <a:r>
              <a:t>Android bắt buộc, iOS là phần mở rộng.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Hỏi: điều gì xảy ra nếu đặt chữ trực tiếp trong View? (báo lỗi)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code đầy đủ trong bài học (mục 2.3), chạy trực tiếp trên Expo Go cho lớp xem.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nhanh: nhờ Copilot sinh một component đơn giản, chỉ ra một chỗ AI làm chưa đúng.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Quy tắc 5 là căn cứ cho phần bảo vệ kỹ thuật ở Demo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Sinh viên sẽ tự viết AGENTS.md cho LHU Food trong phần thực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Giới thiệu lộ trình 4 sprint và 3 checkpoint (buổi 03, 06, 09).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Mạng phòng lab chặn kết nối: dùng `npx expo start --tunnel`.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 file Word/Excel nằm ở mục Tài liệu của bài trên LMS và trang học phần (giao-trinh/, srs/, rubric/).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Lập trình ứng dụng di động (111114)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01: Tổng quan phát triển ứng dụng di động &amp; khởi động dự 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Từ React web đến ứng dụng Android, cùng quy trình vibe coding có kiểm soát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Công nghệ Thông tin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So sánh 3 hướng phát triển ứng dụng di động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Giải thích kiến trúc React Native và vai trò của Expo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Chuyển cách viết React web sang React Native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Thiết lập môi trường, quy trình vibe coding và phân vai nhóm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01: Tổng quan phát triển ứng dụng di động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Bạn đã viết web app bằng React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Cần học thêm gì để chạy trên điện thoại Android?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AI giúp bạn nhanh hơn, nhưng ai chịu trách nhiệm về mã?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Hỏi nhanh 3 sinh viên: ứng dụng di động nào bạn dùng nhiều nhất mỗi ngày?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01: Tổng quan phát triển ứng dụng di động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Ba hướng phát triển ứng dụng di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Native</a:t>
            </a:r>
            <a:r>
              <a:rPr b="0" sz="2000">
                <a:solidFill>
                  <a:srgbClr val="212529"/>
                </a:solidFill>
                <a:latin typeface="Arial"/>
              </a:rPr>
              <a:t>: Kotlin (Android), Swift (iOS); hiệu năng tốt nhất, nhưng 2 mã nguồn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Cross-platform</a:t>
            </a:r>
            <a:r>
              <a:rPr b="0" sz="2000">
                <a:solidFill>
                  <a:srgbClr val="212529"/>
                </a:solidFill>
                <a:latin typeface="Arial"/>
              </a:rPr>
              <a:t>: React Native, Flutter; 1 mã nguồn, giao diện native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PWA</a:t>
            </a:r>
            <a:r>
              <a:rPr b="0" sz="2000">
                <a:solidFill>
                  <a:srgbClr val="212529"/>
                </a:solidFill>
                <a:latin typeface="Arial"/>
              </a:rPr>
              <a:t>: web app cài lên màn hình chính; truy cập thiết bị hạn chế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Ví dụ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Ứng dụng đặt món cần camera, vị trí, thông báo: cross-platform đáp ứng đủ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01: Tổng quan phát triển ứng dụng di động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React Native hoạt động thế nào?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Mã JavaScript/TypeScript mô tả giao diện bằng component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React Native chuyển component thành </a:t>
            </a:r>
            <a:r>
              <a:rPr b="1" sz="2000">
                <a:solidFill>
                  <a:srgbClr val="212529"/>
                </a:solidFill>
                <a:latin typeface="Arial"/>
              </a:rPr>
              <a:t>view native</a:t>
            </a:r>
            <a:r>
              <a:rPr b="0" sz="2000">
                <a:solidFill>
                  <a:srgbClr val="212529"/>
                </a:solidFill>
                <a:latin typeface="Arial"/>
              </a:rPr>
              <a:t> của Android/iOS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&lt;Text&gt;</a:t>
            </a:r>
            <a:r>
              <a:rPr b="0" sz="2000">
                <a:solidFill>
                  <a:srgbClr val="212529"/>
                </a:solidFill>
                <a:latin typeface="Arial"/>
              </a:rPr>
              <a:t> trên Android là một TextView thật, không phải trang web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New Architecture (JSI, Fabric, TurboModules): gọi mã native trực tiếp, nhanh hơn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01: Tổng quan phát triển ứng dụng di động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Expo giúp gì?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Expo Go</a:t>
            </a:r>
            <a:r>
              <a:rPr b="0" sz="2000">
                <a:solidFill>
                  <a:srgbClr val="212529"/>
                </a:solidFill>
                <a:latin typeface="Arial"/>
              </a:rPr>
              <a:t>: chạy thử dự án ngay trên điện thoại, không cần build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Development build</a:t>
            </a:r>
            <a:r>
              <a:rPr b="0" sz="2000">
                <a:solidFill>
                  <a:srgbClr val="212529"/>
                </a:solidFill>
                <a:latin typeface="Arial"/>
              </a:rPr>
              <a:t>: bản app riêng khi cần thư viện native mà Expo Go không có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EAS Build / Update</a:t>
            </a:r>
            <a:r>
              <a:rPr b="0" sz="2000">
                <a:solidFill>
                  <a:srgbClr val="212529"/>
                </a:solidFill>
                <a:latin typeface="Arial"/>
              </a:rPr>
              <a:t>: build APK, AAB và cập nhật ứng dụng qua mạng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Mỗi sinh viên đăng ký tài khoản Expo miễn phí ngay trên lớp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01: Tổng quan phát triển ứng dụng di động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Từ React web sang React Native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&lt;div&gt;</a:t>
            </a:r>
            <a:r>
              <a:rPr b="0" sz="2000">
                <a:solidFill>
                  <a:srgbClr val="212529"/>
                </a:solidFill>
                <a:latin typeface="Arial"/>
              </a:rPr>
              <a:t> → </a:t>
            </a:r>
            <a:r>
              <a:rPr sz="2000">
                <a:solidFill>
                  <a:srgbClr val="212529"/>
                </a:solidFill>
                <a:latin typeface="Consolas"/>
              </a:rPr>
              <a:t>&lt;View&gt;</a:t>
            </a:r>
            <a:r>
              <a:rPr b="0" sz="2000">
                <a:solidFill>
                  <a:srgbClr val="212529"/>
                </a:solidFill>
                <a:latin typeface="Arial"/>
              </a:rPr>
              <a:t> (mặc định xếp theo cột)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&lt;p&gt;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&lt;span&gt;</a:t>
            </a:r>
            <a:r>
              <a:rPr b="0" sz="2000">
                <a:solidFill>
                  <a:srgbClr val="212529"/>
                </a:solidFill>
                <a:latin typeface="Arial"/>
              </a:rPr>
              <a:t> → </a:t>
            </a:r>
            <a:r>
              <a:rPr sz="2000">
                <a:solidFill>
                  <a:srgbClr val="212529"/>
                </a:solidFill>
                <a:latin typeface="Consolas"/>
              </a:rPr>
              <a:t>&lt;Text&gt;</a:t>
            </a:r>
            <a:r>
              <a:rPr b="0" sz="2000">
                <a:solidFill>
                  <a:srgbClr val="212529"/>
                </a:solidFill>
                <a:latin typeface="Arial"/>
              </a:rPr>
              <a:t> (mọi chữ </a:t>
            </a:r>
            <a:r>
              <a:rPr b="1" sz="2000">
                <a:solidFill>
                  <a:srgbClr val="212529"/>
                </a:solidFill>
                <a:latin typeface="Arial"/>
              </a:rPr>
              <a:t>bắt buộc</a:t>
            </a:r>
            <a:r>
              <a:rPr b="0" sz="2000">
                <a:solidFill>
                  <a:srgbClr val="212529"/>
                </a:solidFill>
                <a:latin typeface="Arial"/>
              </a:rPr>
              <a:t> nằm trong Text)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&lt;img&gt;</a:t>
            </a:r>
            <a:r>
              <a:rPr b="0" sz="2000">
                <a:solidFill>
                  <a:srgbClr val="212529"/>
                </a:solidFill>
                <a:latin typeface="Arial"/>
              </a:rPr>
              <a:t> → </a:t>
            </a:r>
            <a:r>
              <a:rPr sz="2000">
                <a:solidFill>
                  <a:srgbClr val="212529"/>
                </a:solidFill>
                <a:latin typeface="Consolas"/>
              </a:rPr>
              <a:t>&lt;Image&gt;</a:t>
            </a:r>
            <a:r>
              <a:rPr b="0" sz="2000">
                <a:solidFill>
                  <a:srgbClr val="212529"/>
                </a:solidFill>
                <a:latin typeface="Arial"/>
              </a:rPr>
              <a:t> (ảnh từ URL cần width, height)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onClick</a:t>
            </a:r>
            <a:r>
              <a:rPr b="0" sz="2000">
                <a:solidFill>
                  <a:srgbClr val="212529"/>
                </a:solidFill>
                <a:latin typeface="Arial"/>
              </a:rPr>
              <a:t> → </a:t>
            </a:r>
            <a:r>
              <a:rPr sz="2000">
                <a:solidFill>
                  <a:srgbClr val="212529"/>
                </a:solidFill>
                <a:latin typeface="Consolas"/>
              </a:rPr>
              <a:t>onPress</a:t>
            </a:r>
            <a:r>
              <a:rPr b="0" sz="2000">
                <a:solidFill>
                  <a:srgbClr val="212529"/>
                </a:solidFill>
                <a:latin typeface="Arial"/>
              </a:rPr>
              <a:t> trên </a:t>
            </a:r>
            <a:r>
              <a:rPr sz="2000">
                <a:solidFill>
                  <a:srgbClr val="212529"/>
                </a:solidFill>
                <a:latin typeface="Consolas"/>
              </a:rPr>
              <a:t>&lt;Pressable&gt;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File CSS → </a:t>
            </a:r>
            <a:r>
              <a:rPr sz="2000">
                <a:solidFill>
                  <a:srgbClr val="212529"/>
                </a:solidFill>
                <a:latin typeface="Consolas"/>
              </a:rPr>
              <a:t>StyleSheet.create</a:t>
            </a:r>
            <a:r>
              <a:rPr b="0" sz="2000">
                <a:solidFill>
                  <a:srgbClr val="212529"/>
                </a:solidFill>
                <a:latin typeface="Arial"/>
              </a:rPr>
              <a:t>, thuộc tính camelCase, không kế thừa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01: Tổng quan phát triển ứng dụng di động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Ví dụ thẻ món ăn LHU Food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Component, props, hàm xử lý giữ nguyên như React 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232257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&lt;View style={styles.card}&gt;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&lt;Text style={styles.name}&gt;{name}&lt;/Text&gt;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&lt;Text&gt;{price.toLocaleString('vi-VN')} đ&lt;/Text&gt;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&lt;Pressable style={styles.button} onPress={onAdd}&gt;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&lt;Text style={styles.buttonText}&gt;Thêm vào giỏ&lt;/Text&gt;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&lt;/Pressable&gt;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&lt;/View&gt;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01: Tổng quan phát triển ứng dụng di động &amp; khởi động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Vibe coding là gì?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Mô tả điều mình muốn bằng ngôn ngữ tự nhiên, AI sinh mã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Công cụ của học phần: </a:t>
            </a:r>
            <a:r>
              <a:rPr b="1" sz="2000">
                <a:solidFill>
                  <a:srgbClr val="212529"/>
                </a:solidFill>
                <a:latin typeface="Arial"/>
              </a:rPr>
              <a:t>Google Antigravity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b="1" sz="2000">
                <a:solidFill>
                  <a:srgbClr val="212529"/>
                </a:solidFill>
                <a:latin typeface="Arial"/>
              </a:rPr>
              <a:t>GitHub Copilot Chat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AI viết nhanh, nhưng </a:t>
            </a:r>
            <a:r>
              <a:rPr b="1" sz="2000">
                <a:solidFill>
                  <a:srgbClr val="212529"/>
                </a:solidFill>
                <a:latin typeface="Arial"/>
              </a:rPr>
              <a:t>người chịu trách nhiệm về mã vẫn là bạn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01: Tổng quan phát triển ứng dụng di động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Quy trình vibe coding có kiểm soát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1. Cho AI ngữ cảnh: </a:t>
            </a:r>
            <a:r>
              <a:rPr sz="2000">
                <a:solidFill>
                  <a:srgbClr val="212529"/>
                </a:solidFill>
                <a:latin typeface="Consolas"/>
              </a:rPr>
              <a:t>AGENTS.md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.github/copilot-instructions.md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2. Prompt cụ thể: màn hình nào, dữ liệu gì, tiêu chí hoàn thành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3. Đọc và chạy thử, sửa chỗ sai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4. Ghi prompt và nhận xét vào </a:t>
            </a:r>
            <a:r>
              <a:rPr sz="2000">
                <a:solidFill>
                  <a:srgbClr val="212529"/>
                </a:solidFill>
                <a:latin typeface="Consolas"/>
              </a:rPr>
              <a:t>PROMPTS.md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5. </a:t>
            </a:r>
            <a:r>
              <a:rPr b="1" sz="2000">
                <a:solidFill>
                  <a:srgbClr val="212529"/>
                </a:solidFill>
                <a:latin typeface="Arial"/>
              </a:rPr>
              <a:t>Không hiểu thì không merge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01: Tổng quan phát triển ứng dụng di động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Ví dụ AGENTS.md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173736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# LHU Food - Quy ước dự án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- React Native + Expo, TypeScript, Expo Router (app/).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- Component dùng chung trong components/, tên PascalCase.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- Style dùng StyleSheet; màu lấy từ constants/theme.ts.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- Không thêm thư viện mới khi chưa hỏi nhóm.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01: Tổng quan phát triển ứng dụng di động &amp; khởi động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Dự án PBL của học phần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Nhóm 4–5 sinh viên, 1 đề tài, 4 sprint × 3 buổi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Khuyến khích dùng chung đề tài và backend với môn Lập trình ứng dụng Web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Backend NestJS + SQL Server do nhóm tự xây, truy cập CSDL qua stored procedure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Cuối kỳ: APK chạy trên Android, kết nối server Khoa cấp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01: Tổng quan phát triển ứng dụng di động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Phân vai trong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Mobile UI · Mobile logic · Backend API · CSDL &amp; stored procedure · Kiểm thử &amp; phát hành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Mỗi người ít nhất một vai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Điểm CLO4 cuối kỳ chấm theo vai trò cá nhân: commit/PR và phần tự trình bày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Nhóm thống nhất bảng phân vai trước khi rời lớp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01: Tổng quan phát triển ứng dụng di động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 có hướng dẫn: Khởi tạo LHU Food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npx create-expo-app@latest lhu-food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npx expo start</a:t>
            </a:r>
            <a:r>
              <a:rPr b="0" sz="2000">
                <a:solidFill>
                  <a:srgbClr val="212529"/>
                </a:solidFill>
                <a:latin typeface="Arial"/>
              </a:rPr>
              <a:t>, quét QR bằng Expo Go (cùng mạng Wi-Fi)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Đọc cấu trúc: </a:t>
            </a:r>
            <a:r>
              <a:rPr sz="2000">
                <a:solidFill>
                  <a:srgbClr val="212529"/>
                </a:solidFill>
                <a:latin typeface="Consolas"/>
              </a:rPr>
              <a:t>app/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components/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assets/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app.json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Viết </a:t>
            </a:r>
            <a:r>
              <a:rPr sz="2000">
                <a:solidFill>
                  <a:srgbClr val="212529"/>
                </a:solidFill>
                <a:latin typeface="Consolas"/>
              </a:rPr>
              <a:t>AGENTS.md</a:t>
            </a:r>
            <a:r>
              <a:rPr b="0" sz="2000">
                <a:solidFill>
                  <a:srgbClr val="212529"/>
                </a:solidFill>
                <a:latin typeface="Arial"/>
              </a:rPr>
              <a:t> bằng AI, tạo repo GitHub, commit đầu tiên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01: Tổng quan phát triển ứng dụng di động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 không hướng dẫn &amp; thử thách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Cá nhân</a:t>
            </a:r>
            <a:r>
              <a:rPr b="0" sz="2000">
                <a:solidFill>
                  <a:srgbClr val="212529"/>
                </a:solidFill>
                <a:latin typeface="Arial"/>
              </a:rPr>
              <a:t>: ứng dụng "Thẻ giới thiệu bản thân" chạy trên Android, có </a:t>
            </a:r>
            <a:r>
              <a:rPr sz="2000">
                <a:solidFill>
                  <a:srgbClr val="212529"/>
                </a:solidFill>
                <a:latin typeface="Consolas"/>
              </a:rPr>
              <a:t>PROMPTS.md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Nhóm</a:t>
            </a:r>
            <a:r>
              <a:rPr b="0" sz="2000">
                <a:solidFill>
                  <a:srgbClr val="212529"/>
                </a:solidFill>
                <a:latin typeface="Arial"/>
              </a:rPr>
              <a:t>: Project Brief 1 trang, bảng phân vai, repo nhóm có </a:t>
            </a:r>
            <a:r>
              <a:rPr sz="2000">
                <a:solidFill>
                  <a:srgbClr val="212529"/>
                </a:solidFill>
                <a:latin typeface="Consolas"/>
              </a:rPr>
              <a:t>AGENTS.md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Nộp link repo qua Moodle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01: Tổng quan phát triển ứng dụng di động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Tóm tắt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React Native: một mã nguồn, giao diện native, dùng lại kỹ năng React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Expo: Expo Go để chạy thử, EAS để build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Chữ phải nằm trong Text; onPress thay onClick; StyleSheet thay CSS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Vibe coding: AI sinh mã, bạn hiểu và chịu trách nhiệm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Làm quiz Bài 01 (10 câu) ở cuối trang bài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01: Tổng quan phát triển ứng dụng di động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Tài liệu của buổi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Đọc thêm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Giáo trình nội bộ, Chương 1: Tổng quan phát triển ứng dụng di động và khởi động dự án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Bài tập hướng dẫn theo dự án LHU Food (cuối Chương 1)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SRS LHU Food: mục 2 (mô tả), 3 (actor), 5.14 (màn hình)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Kế hoạch Agile &amp; Product Backlog (Definition of Done, tiêu chí nghiệm thu)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01: Tổng quan phát triển ứng dụng di động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