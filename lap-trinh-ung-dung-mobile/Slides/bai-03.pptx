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tiết lý thuyết, 4 tiết thực hành. CLO1, CLO2, CLO3. Cuối buổi là Checkpoint Sprint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vì sao (tabs) cần headerShown: false để không hiện hai thanh tiêu đề.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giới thiệu, chưa yêu cầu sinh viên làm deep link ở buổi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ERD sơ bộ là đầu vào cho bài 05: CSDL SQL Server và stored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Ghi nhận xét từng nhóm; nhóm chưa có ERD sơ bộ cần bổ sung trước bài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03: Điều hướng với Expo 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Stack, Tab, Modal và từ màn hình đến dữ liệu · Checkpoint 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Giải thích mô hình điều hướng trên mobile: stack, tab, modal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Xây điều hướng theo file với Expo Router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Dùng route động, tham số và deep link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Phác sơ đồ luồng màn hình và ERD sơ bộ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Web có thanh địa chỉ và link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Điện thoại có nút Back, thanh tab, cử chỉ vuốt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Tổ chức màn hình thế nào để người dùng không bị "lạc"?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Ba kiểu điều hướng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Stack</a:t>
            </a:r>
            <a:r>
              <a:rPr b="0" sz="2000">
                <a:solidFill>
                  <a:srgbClr val="212529"/>
                </a:solidFill>
                <a:latin typeface="Arial"/>
              </a:rPr>
              <a:t>: màn hình mới chồng lên, Back gỡ màn hình trên cùng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Tab</a:t>
            </a:r>
            <a:r>
              <a:rPr b="0" sz="2000">
                <a:solidFill>
                  <a:srgbClr val="212529"/>
                </a:solidFill>
                <a:latin typeface="Arial"/>
              </a:rPr>
              <a:t>: thanh cố định ở cuối cho các khu vực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Modal</a:t>
            </a:r>
            <a:r>
              <a:rPr b="0" sz="2000">
                <a:solidFill>
                  <a:srgbClr val="212529"/>
                </a:solidFill>
                <a:latin typeface="Arial"/>
              </a:rPr>
              <a:t>: trượt lên cho tác vụ ngắn, đóng xong về chỗ cũ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LHU Food: Danh sách → Chi tiết (stack); Trang chủ/Giỏ hàng/Đơn hàng/Tài khoản (tab); Xác nhận đặt hàng (modal)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Expo Router: mỗi file là một màn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1800">
                <a:solidFill>
                  <a:srgbClr val="212529"/>
                </a:solidFill>
                <a:latin typeface="Arial"/>
              </a:rPr>
              <a:t>•  </a:t>
            </a:r>
            <a:r>
              <a:rPr sz="1800">
                <a:solidFill>
                  <a:srgbClr val="212529"/>
                </a:solidFill>
                <a:latin typeface="Consolas"/>
              </a:rPr>
              <a:t>(tabs)</a:t>
            </a:r>
            <a:r>
              <a:rPr b="0" sz="1800">
                <a:solidFill>
                  <a:srgbClr val="212529"/>
                </a:solidFill>
                <a:latin typeface="Arial"/>
              </a:rPr>
              <a:t> là nhóm route: không xuất hiện trong đường dẫn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261518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app/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├── _layout.tsx        Stack gốc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├── (tabs)/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│   ├── _layout.tsx    Thanh tab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│   ├── index.tsx      /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│   └── cart.tsx       /cart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├── product/[id].tsx   /product/12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└── confirm.tsx        modal /confirm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Layout: Stack gốc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&lt;Stack&gt;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&lt;Stack.Screen name="(tabs)" options={{ headerShown: false }}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&lt;Stack.Screen name="product/[id]" options={{ title: 'Chi tiết món' }}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&lt;Stack.Screen name="confirm" options={{ presentation: 'modal' }}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&lt;/Stack&gt;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Layout: Thanh tab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&lt;Tabs&gt;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&lt;Tabs.Screen name="index" options={{ title: 'Trang chủ' }}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&lt;Tabs.Screen name="cart" options={{ title: 'Giỏ hàng' }}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&lt;Tabs.Screen name="orders" options={{ title: 'Đơn hàng' }}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&lt;Tabs.Screen name="account" options={{ title: 'Tài khoản' }} /&gt;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&lt;/Tabs&gt;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Route động và tham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product/[id].tsx</a:t>
            </a:r>
            <a:r>
              <a:rPr b="0" sz="2000">
                <a:solidFill>
                  <a:srgbClr val="212529"/>
                </a:solidFill>
                <a:latin typeface="Arial"/>
              </a:rPr>
              <a:t> phục vụ </a:t>
            </a:r>
            <a:r>
              <a:rPr sz="2000">
                <a:solidFill>
                  <a:srgbClr val="212529"/>
                </a:solidFill>
                <a:latin typeface="Consolas"/>
              </a:rPr>
              <a:t>/product/1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/product/2</a:t>
            </a:r>
            <a:r>
              <a:rPr b="0" sz="2000">
                <a:solidFill>
                  <a:srgbClr val="212529"/>
                </a:solidFill>
                <a:latin typeface="Arial"/>
              </a:rPr>
              <a:t>…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Đọc tham số trong màn hình chi tiết, mở màn hình từ danh sách: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// app/product/[id].tsx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{ id } = useLocalSearchParams&lt;{ id: string }&gt;();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// Màn hình danh sách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&lt;Link href={`/product/${item.id}`}&gt;Xem chi tiết&lt;/Link&gt;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router.push, back, replace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router.push()</a:t>
            </a:r>
            <a:r>
              <a:rPr b="0" sz="2000">
                <a:solidFill>
                  <a:srgbClr val="212529"/>
                </a:solidFill>
                <a:latin typeface="Arial"/>
              </a:rPr>
              <a:t>: thêm màn hình vào stack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router.back()</a:t>
            </a:r>
            <a:r>
              <a:rPr b="0" sz="2000">
                <a:solidFill>
                  <a:srgbClr val="212529"/>
                </a:solidFill>
                <a:latin typeface="Arial"/>
              </a:rPr>
              <a:t>: quay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router.replace()</a:t>
            </a:r>
            <a:r>
              <a:rPr b="0" sz="2000">
                <a:solidFill>
                  <a:srgbClr val="212529"/>
                </a:solidFill>
                <a:latin typeface="Arial"/>
              </a:rPr>
              <a:t>: thay màn hình hiện tại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Đăng nhập xong dùng replace để Back không quay về màn hình đăng nhập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Hỏi lớp: luồng nào trong đề tài của nhóm cần replace?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Deep 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Khai báo </a:t>
            </a:r>
            <a:r>
              <a:rPr sz="2000">
                <a:solidFill>
                  <a:srgbClr val="212529"/>
                </a:solidFill>
                <a:latin typeface="Consolas"/>
              </a:rPr>
              <a:t>"scheme": "lhufood"</a:t>
            </a:r>
            <a:r>
              <a:rPr b="0" sz="2000">
                <a:solidFill>
                  <a:srgbClr val="212529"/>
                </a:solidFill>
                <a:latin typeface="Arial"/>
              </a:rPr>
              <a:t> trong </a:t>
            </a:r>
            <a:r>
              <a:rPr sz="2000">
                <a:solidFill>
                  <a:srgbClr val="212529"/>
                </a:solidFill>
                <a:latin typeface="Consolas"/>
              </a:rPr>
              <a:t>app.json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lhufood://product/12</a:t>
            </a:r>
            <a:r>
              <a:rPr b="0" sz="2000">
                <a:solidFill>
                  <a:srgbClr val="212529"/>
                </a:solidFill>
                <a:latin typeface="Arial"/>
              </a:rPr>
              <a:t> mở thẳng chi tiết món 12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Bài 09: bấm thông báo realtime mở đúng đơn hàng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Sơ đồ luồng màn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Vẽ các màn hình và mũi tên chuyển giữa chúng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Thống nhất cấu trúc </a:t>
            </a:r>
            <a:r>
              <a:rPr sz="2000">
                <a:solidFill>
                  <a:srgbClr val="212529"/>
                </a:solidFill>
                <a:latin typeface="Consolas"/>
              </a:rPr>
              <a:t>app/</a:t>
            </a:r>
            <a:r>
              <a:rPr b="0" sz="2000">
                <a:solidFill>
                  <a:srgbClr val="212529"/>
                </a:solidFill>
                <a:latin typeface="Arial"/>
              </a:rPr>
              <a:t> trước khi viết mã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Công cụ: draw.io, Figma (FigJam)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Từ màn hình đến dữ liệu: ERD sơ bộ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Trang chủ, Danh mục → Categories, Products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Giỏ hàng, Xác nhận → Products, Users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Đơn hàng → Orders, OrderItems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Categories 1-n Products; Users 1-n Orders; Orders n-n Products qua OrderItems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có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Tổ chức lại </a:t>
            </a:r>
            <a:r>
              <a:rPr sz="2000">
                <a:solidFill>
                  <a:srgbClr val="212529"/>
                </a:solidFill>
                <a:latin typeface="Consolas"/>
              </a:rPr>
              <a:t>app/</a:t>
            </a:r>
            <a:r>
              <a:rPr b="0" sz="2000">
                <a:solidFill>
                  <a:srgbClr val="212529"/>
                </a:solidFill>
                <a:latin typeface="Arial"/>
              </a:rPr>
              <a:t> theo cây thư mục mẫu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Stack gốc + 4 tab có biểu tượng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product/[id].tsx</a:t>
            </a:r>
            <a:r>
              <a:rPr b="0" sz="2000">
                <a:solidFill>
                  <a:srgbClr val="212529"/>
                </a:solidFill>
                <a:latin typeface="Arial"/>
              </a:rPr>
              <a:t> với dữ liệu giả, modal </a:t>
            </a:r>
            <a:r>
              <a:rPr sz="2000">
                <a:solidFill>
                  <a:srgbClr val="212529"/>
                </a:solidFill>
                <a:latin typeface="Consolas"/>
              </a:rPr>
              <a:t>confirm.tsx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tra nút Back của Android ở từng màn hình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Vẽ sơ đồ luồng màn hình và ERD sơ bộ LHU Food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không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Luồng Danh mục → Danh sách món theo danh mục → Chi tiết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Tiêu đề đổi theo danh mục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Back quay lại đúng từng bước, không lặp màn hình trong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Checkpoint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Khung ứng dụng của nhóm đủ điều hướng với dữ liệu giả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Nộp sơ đồ luồng màn hình và ERD sơ bộ trong </a:t>
            </a:r>
            <a:r>
              <a:rPr sz="2000">
                <a:solidFill>
                  <a:srgbClr val="212529"/>
                </a:solidFill>
                <a:latin typeface="Consolas"/>
              </a:rPr>
              <a:t>docs/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Demo 3 phút trên Android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Sprint Review: đã làm gì, còn gì · Retrospective: giữ gì, đổi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Tóm tắt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Stack cho đi sâu, Tab cho khu vực chính, Modal cho tác vụ ngắn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Expo Router: thư mục </a:t>
            </a:r>
            <a:r>
              <a:rPr sz="2000">
                <a:solidFill>
                  <a:srgbClr val="212529"/>
                </a:solidFill>
                <a:latin typeface="Consolas"/>
              </a:rPr>
              <a:t>app/</a:t>
            </a:r>
            <a:r>
              <a:rPr b="0" sz="2000">
                <a:solidFill>
                  <a:srgbClr val="212529"/>
                </a:solidFill>
                <a:latin typeface="Arial"/>
              </a:rPr>
              <a:t> là bản đồ điều hướng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Route động </a:t>
            </a:r>
            <a:r>
              <a:rPr sz="2000">
                <a:solidFill>
                  <a:srgbClr val="212529"/>
                </a:solidFill>
                <a:latin typeface="Consolas"/>
              </a:rPr>
              <a:t>[id]</a:t>
            </a:r>
            <a:r>
              <a:rPr b="0" sz="2000">
                <a:solidFill>
                  <a:srgbClr val="212529"/>
                </a:solidFill>
                <a:latin typeface="Arial"/>
              </a:rPr>
              <a:t> + </a:t>
            </a:r>
            <a:r>
              <a:rPr sz="2000">
                <a:solidFill>
                  <a:srgbClr val="212529"/>
                </a:solidFill>
                <a:latin typeface="Consolas"/>
              </a:rPr>
              <a:t>useLocalSearchParams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Màn hình → thực thể → ERD sơ bộ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Làm quiz Bài 03 ở cuối trang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03: Điều hướng với Expo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