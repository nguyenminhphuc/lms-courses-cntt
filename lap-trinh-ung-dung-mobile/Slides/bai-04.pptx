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tiết lý thuyết, 4 tiết thực hành. CLO1.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Nhấn mạnh luôn trả về mảng mới, không dùng push.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Demo: 500 món bằng ScrollView và FlatList trên máy Android tầm trung.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Liên hệ kỹ thuật giá trị biên ở môn Kiểm thử phần mềm.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Các file Word/Excel nằm ở mục Tài liệu của bài trên LMS và trang học phần (giao-trinh/, srs/, rubric/).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1463040" cy="73152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FFC627"/>
                </a:solidFill>
                <a:latin typeface="Arial"/>
              </a:rPr>
              <a:t>Lập trình ứng dụng di động (111114)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18288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Bài 04: Quản lý trạng thái, danh sách &amp; 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204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FFFFFF"/>
                </a:solidFill>
                <a:latin typeface="Arial"/>
              </a:rPr>
              <a:t>Giỏ hàng dùng chung, thực đơn cuộn mượt, form kiểm tra dữ liệu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200">
                <a:solidFill>
                  <a:srgbClr val="FFFFFF"/>
                </a:solidFill>
                <a:latin typeface="Arial"/>
              </a:rPr>
              <a:t>Khoa Công nghệ Thông tin - Trường Đại học Lạc Hồng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Mục tiêu buổi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Phân biệt trạng thái cục bộ, toàn cục và dữ liệu từ server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Quản lý giỏ hàng toàn cục bằng Zustand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Hiển thị danh sách lớn bằng FlatList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Xây form có kiểm tra dữ liệu với React Hook Form + Zod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04: Quản lý trạng thái, danh sách &amp; 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Câu hỏi mở đầu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Thêm món ở màn hình Chi tiết → tab Giỏ hàng biết ngay bằng cách nào?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Thực đơn có 500 món → làm sao cuộn vẫn mượt?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Người dùng gõ sai số điện thoại → báo lỗi ở đâu, lúc nào?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04: Quản lý trạng thái, danh sách &amp; 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Ba loại trạng thái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Cục bộ</a:t>
            </a:r>
            <a:r>
              <a:rPr b="0" sz="2000">
                <a:solidFill>
                  <a:srgbClr val="212529"/>
                </a:solidFill>
                <a:latin typeface="Arial"/>
              </a:rPr>
              <a:t>: một màn hình dùng → </a:t>
            </a:r>
            <a:r>
              <a:rPr sz="2000">
                <a:solidFill>
                  <a:srgbClr val="212529"/>
                </a:solidFill>
                <a:latin typeface="Consolas"/>
              </a:rPr>
              <a:t>useState</a:t>
            </a:r>
            <a:r>
              <a:rPr b="0" sz="2000">
                <a:solidFill>
                  <a:srgbClr val="212529"/>
                </a:solidFill>
                <a:latin typeface="Arial"/>
              </a:rPr>
              <a:t>, </a:t>
            </a:r>
            <a:r>
              <a:rPr sz="2000">
                <a:solidFill>
                  <a:srgbClr val="212529"/>
                </a:solidFill>
                <a:latin typeface="Consolas"/>
              </a:rPr>
              <a:t>useReducer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Toàn cục</a:t>
            </a:r>
            <a:r>
              <a:rPr b="0" sz="2000">
                <a:solidFill>
                  <a:srgbClr val="212529"/>
                </a:solidFill>
                <a:latin typeface="Arial"/>
              </a:rPr>
              <a:t>: nhiều màn hình dùng → Zustand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Từ server</a:t>
            </a:r>
            <a:r>
              <a:rPr b="0" sz="2000">
                <a:solidFill>
                  <a:srgbClr val="212529"/>
                </a:solidFill>
                <a:latin typeface="Arial"/>
              </a:rPr>
              <a:t>: bản gốc trong SQL Server → TanStack Query (bài 05)</a:t>
            </a:r>
          </a:p>
          <a:p>
            <a:pPr>
              <a:spcBef>
                <a:spcPts val="8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Ví dụ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Số lượng đang chọn (cục bộ) · Giỏ hàng (toàn cục) · Thực đơn (server)</a:t>
            </a:r>
          </a:p>
          <a:p>
            <a:pPr>
              <a:spcBef>
                <a:spcPts val="8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Hoạt động</a:t>
            </a:r>
            <a:r>
              <a:rPr b="0" sz="2000">
                <a:solidFill>
                  <a:srgbClr val="01295C"/>
                </a:solidFill>
                <a:latin typeface="Arial"/>
              </a:rPr>
              <a:t>: Lớp phân loại nhanh 6 dữ liệu của LHU Food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04: Quản lý trạng thái, danh sách &amp; 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Giỏ hàng với Zustand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Bản đầy đủ (cộng dồn số lượng) ở mục 2.1 của bài học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651760"/>
            <a:ext cx="11064240" cy="2029968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export const useCart = create&lt;CartState&gt;((set, get) =&gt; ({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items: [],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add: (p) =&gt; set((s) =&gt; ({ items: [...s.items, { ...p, quantity: 1 }] })),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remove: (id) =&gt; set((s) =&gt; ({ items: s.items.filter((i) =&gt; i.id !== id) })),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total: () =&gt; get().items.reduce((sum, i) =&gt; sum + i.price * i.quantity, 0),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}));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04: Quản lý trạng thái, danh sách &amp; 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Đọc store ở màn hình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Chỉ chọn phần state cần dùng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Màn hình chỉ vẽ lại khi phần đó thay đổi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Badge số món trên tab: </a:t>
            </a:r>
            <a:r>
              <a:rPr sz="2000">
                <a:solidFill>
                  <a:srgbClr val="212529"/>
                </a:solidFill>
                <a:latin typeface="Consolas"/>
              </a:rPr>
              <a:t>tabBarBadge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566160"/>
            <a:ext cx="11064240" cy="859536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const items = useCart((state) =&gt; state.items);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const add = useCart((state) =&gt; state.add);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04: Quản lý trạng thái, danh sách &amp; 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ScrollView và FlatList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sz="2000">
                <a:solidFill>
                  <a:srgbClr val="212529"/>
                </a:solidFill>
                <a:latin typeface="Consolas"/>
              </a:rPr>
              <a:t>ScrollView</a:t>
            </a:r>
            <a:r>
              <a:rPr b="0" sz="2000">
                <a:solidFill>
                  <a:srgbClr val="212529"/>
                </a:solidFill>
                <a:latin typeface="Arial"/>
              </a:rPr>
              <a:t> vẽ </a:t>
            </a:r>
            <a:r>
              <a:rPr b="1" sz="2000">
                <a:solidFill>
                  <a:srgbClr val="212529"/>
                </a:solidFill>
                <a:latin typeface="Arial"/>
              </a:rPr>
              <a:t>tất cả</a:t>
            </a:r>
            <a:r>
              <a:rPr b="0" sz="2000">
                <a:solidFill>
                  <a:srgbClr val="212529"/>
                </a:solidFill>
                <a:latin typeface="Arial"/>
              </a:rPr>
              <a:t> phần tử ngay lập tức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sz="2000">
                <a:solidFill>
                  <a:srgbClr val="212529"/>
                </a:solidFill>
                <a:latin typeface="Consolas"/>
              </a:rPr>
              <a:t>FlatList</a:t>
            </a:r>
            <a:r>
              <a:rPr b="0" sz="2000">
                <a:solidFill>
                  <a:srgbClr val="212529"/>
                </a:solidFill>
                <a:latin typeface="Arial"/>
              </a:rPr>
              <a:t> chỉ vẽ phần tử đang hiển thị → mượt, ít bộ nhớ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Không lồng FlatList trong ScrollView; phần đầu trang đưa vào </a:t>
            </a:r>
            <a:r>
              <a:rPr sz="2000">
                <a:solidFill>
                  <a:srgbClr val="212529"/>
                </a:solidFill>
                <a:latin typeface="Consolas"/>
              </a:rPr>
              <a:t>ListHeaderComponent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04: Quản lý trạng thái, danh sách &amp; 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FlatList cho thực đơn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1800">
                <a:solidFill>
                  <a:srgbClr val="01295C"/>
                </a:solidFill>
                <a:latin typeface="Arial"/>
              </a:rPr>
              <a:t>Nội dung chính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11064240" cy="2907792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&lt;FlatList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data={products}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keyExtractor={(item) =&gt; String(item.id)}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renderItem={({ item }) =&gt; &lt;ProductCard {...item} /&gt;}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numColumns={2}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ListEmptyComponent={&lt;Text&gt;Chưa có món nào.&lt;/Text&gt;}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refreshing={refreshing}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onRefresh={reload}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/&gt;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04: Quản lý trạng thái, danh sách &amp; 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Form với React Hook Form + Zod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Zod</a:t>
            </a:r>
            <a:r>
              <a:rPr b="0" sz="2000">
                <a:solidFill>
                  <a:srgbClr val="212529"/>
                </a:solidFill>
                <a:latin typeface="Arial"/>
              </a:rPr>
              <a:t>: mô tả quy tắc dữ liệu một lần (schema)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React Hook Form</a:t>
            </a:r>
            <a:r>
              <a:rPr b="0" sz="2000">
                <a:solidFill>
                  <a:srgbClr val="212529"/>
                </a:solidFill>
                <a:latin typeface="Arial"/>
              </a:rPr>
              <a:t>: quản lý giá trị, lỗi, gửi form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sz="2000">
                <a:solidFill>
                  <a:srgbClr val="212529"/>
                </a:solidFill>
                <a:latin typeface="Consolas"/>
              </a:rPr>
              <a:t>npx expo install react-hook-form zod @hookform/resolvers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566160"/>
            <a:ext cx="11064240" cy="1444752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const schema = z.object({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phone: z.string().regex(/^0\d{9}$/, 'Số điện thoại gồm 10 chữ số, bắt đầu bằng 0'),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note: z.string().max(200, 'Ghi chú tối đa 200 ký tự').optional(),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});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04: Quản lý trạng thái, danh sách &amp; 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Controller cho TextInput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Gửi form: </a:t>
            </a:r>
            <a:r>
              <a:rPr sz="2000">
                <a:solidFill>
                  <a:srgbClr val="212529"/>
                </a:solidFill>
                <a:latin typeface="Consolas"/>
              </a:rPr>
              <a:t>handleSubmit(onSubmit)</a:t>
            </a:r>
            <a:r>
              <a:rPr b="0" sz="2000">
                <a:solidFill>
                  <a:srgbClr val="212529"/>
                </a:solidFill>
                <a:latin typeface="Arial"/>
              </a:rPr>
              <a:t> chỉ chạy khi dữ liệu hợp lệ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651760"/>
            <a:ext cx="11064240" cy="2322576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&lt;Controller control={control} name="phone"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render={({ field: { onChange, onBlur, value } }) =&gt; (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  &lt;TextInput value={value} onChangeText={onChange}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    onBlur={onBlur} keyboardType="phone-pad" /&gt;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)}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/&gt;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{errors.phone &amp;&amp; &lt;Text&gt;{errors.phone.message}&lt;/Text&gt;}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04: Quản lý trạng thái, danh sách &amp; 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Mẹo form trên mobile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Chọn đúng </a:t>
            </a:r>
            <a:r>
              <a:rPr sz="2000">
                <a:solidFill>
                  <a:srgbClr val="212529"/>
                </a:solidFill>
                <a:latin typeface="Consolas"/>
              </a:rPr>
              <a:t>keyboardType</a:t>
            </a:r>
            <a:r>
              <a:rPr b="0" sz="2000">
                <a:solidFill>
                  <a:srgbClr val="212529"/>
                </a:solidFill>
                <a:latin typeface="Arial"/>
              </a:rPr>
              <a:t>: email, số điện thoại, số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sz="2000">
                <a:solidFill>
                  <a:srgbClr val="212529"/>
                </a:solidFill>
                <a:latin typeface="Consolas"/>
              </a:rPr>
              <a:t>KeyboardAvoidingView</a:t>
            </a:r>
            <a:r>
              <a:rPr b="0" sz="2000">
                <a:solidFill>
                  <a:srgbClr val="212529"/>
                </a:solidFill>
                <a:latin typeface="Arial"/>
              </a:rPr>
              <a:t> để bàn phím không che ô đang nhập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So khớp mật khẩu: </a:t>
            </a:r>
            <a:r>
              <a:rPr sz="2000">
                <a:solidFill>
                  <a:srgbClr val="212529"/>
                </a:solidFill>
                <a:latin typeface="Consolas"/>
              </a:rPr>
              <a:t>.refine(...)</a:t>
            </a:r>
            <a:r>
              <a:rPr b="0" sz="2000">
                <a:solidFill>
                  <a:srgbClr val="212529"/>
                </a:solidFill>
                <a:latin typeface="Arial"/>
              </a:rPr>
              <a:t> với </a:t>
            </a:r>
            <a:r>
              <a:rPr sz="2000">
                <a:solidFill>
                  <a:srgbClr val="212529"/>
                </a:solidFill>
                <a:latin typeface="Consolas"/>
              </a:rPr>
              <a:t>path: ['confirm']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Kiểm tra ở app chưa đủ: API vẫn phải kiểm tra lại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04: Quản lý trạng thái, danh sách &amp; 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Vibe coding cho quy tắc nghiệp vụ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1. Viết đặc tả bằng lời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2. Nhờ Copilot sinh schema Zod, thông báo lỗi tiếng Việt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3. </a:t>
            </a:r>
            <a:r>
              <a:rPr b="1" sz="2000">
                <a:solidFill>
                  <a:srgbClr val="212529"/>
                </a:solidFill>
                <a:latin typeface="Arial"/>
              </a:rPr>
              <a:t>Tự viết bảng trường hợp biên</a:t>
            </a:r>
            <a:r>
              <a:rPr b="0" sz="2000">
                <a:solidFill>
                  <a:srgbClr val="212529"/>
                </a:solidFill>
                <a:latin typeface="Arial"/>
              </a:rPr>
              <a:t> và thử từng dòng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4. Sửa schema chỗ AI sai, ghi </a:t>
            </a:r>
            <a:r>
              <a:rPr sz="2000">
                <a:solidFill>
                  <a:srgbClr val="212529"/>
                </a:solidFill>
                <a:latin typeface="Consolas"/>
              </a:rPr>
              <a:t>PROMPTS.md</a:t>
            </a:r>
          </a:p>
          <a:p>
            <a:pPr>
              <a:spcBef>
                <a:spcPts val="8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Ví dụ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Số điện thoại 9, 10, 11 chữ số; mật khẩu 7 và 8 ký tự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04: Quản lý trạng thái, danh sách &amp; 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Thực hành có hướng dẫn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Store giỏ hàng; nút "Thêm vào giỏ"; tab Giỏ hàng có tổng tiền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Badge số món trên tab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Trang chủ dùng FlatList 2 cột, danh sách rỗng, kéo để tải lại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Form ghi chú đơn hàng trong modal Xác nhận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04: Quản lý trạng thái, danh sách &amp; 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Thực hành không hướng dẫn &amp; thử thách nhóm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Cá nhân</a:t>
            </a:r>
            <a:r>
              <a:rPr b="0" sz="2000">
                <a:solidFill>
                  <a:srgbClr val="212529"/>
                </a:solidFill>
                <a:latin typeface="Arial"/>
              </a:rPr>
              <a:t>: form Đăng ký đủ quy tắc, kèm bảng trường hợp biên đã thử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Nhóm</a:t>
            </a:r>
            <a:r>
              <a:rPr b="0" sz="2000">
                <a:solidFill>
                  <a:srgbClr val="212529"/>
                </a:solidFill>
                <a:latin typeface="Arial"/>
              </a:rPr>
              <a:t>: store toàn cục + 1 form nghiệp vụ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Người làm backend</a:t>
            </a:r>
            <a:r>
              <a:rPr b="0" sz="2000">
                <a:solidFill>
                  <a:srgbClr val="212529"/>
                </a:solidFill>
                <a:latin typeface="Arial"/>
              </a:rPr>
              <a:t>: khởi tạo NestJS, cài </a:t>
            </a:r>
            <a:r>
              <a:rPr sz="2000">
                <a:solidFill>
                  <a:srgbClr val="212529"/>
                </a:solidFill>
                <a:latin typeface="Consolas"/>
              </a:rPr>
              <a:t>mssql</a:t>
            </a:r>
            <a:r>
              <a:rPr b="0" sz="2000">
                <a:solidFill>
                  <a:srgbClr val="212529"/>
                </a:solidFill>
                <a:latin typeface="Arial"/>
              </a:rPr>
              <a:t>, kết nối SQL Server, tạo bảng theo ERD sơ bộ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04: Quản lý trạng thái, danh sách &amp; 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Tóm tắt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Chọn đúng loại trạng thái trước khi viết mã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Zustand cho dữ liệu dùng chung; luôn trả về mảng mới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FlatList cho danh sách dài; luôn có trạng thái rỗng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Zod mô tả quy tắc; tự kiểm tra trường hợp biên mã AI sinh ra</a:t>
            </a:r>
          </a:p>
          <a:p>
            <a:pPr>
              <a:spcBef>
                <a:spcPts val="8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Hoạt động</a:t>
            </a:r>
            <a:r>
              <a:rPr b="0" sz="2000">
                <a:solidFill>
                  <a:srgbClr val="01295C"/>
                </a:solidFill>
                <a:latin typeface="Arial"/>
              </a:rPr>
              <a:t>: Làm quiz Bài 04 ở cuối trang bài học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04: Quản lý trạng thái, danh sách &amp; 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Tài liệu của buổi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Đọc thêm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Giáo trình nội bộ, Chương 4: Quản lý trạng thái, danh sách và form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Bài tập hướng dẫn theo dự án LHU Food (cuối Chương 4)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SRS LHU Food: mục 4.7 (US-C01, C02, G02, G04), 5.4, BR-02, BR-07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04: Quản lý trạng thái, danh sách &amp; 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