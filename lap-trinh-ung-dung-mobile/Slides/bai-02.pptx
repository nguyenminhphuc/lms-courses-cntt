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tiết lý thuyết, 4 tiết thực hành. CLO1, CLO3.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Chiếu một bản Figma mẫu LHU Food và hỏi sinh viên sẽ chia màn hình thành những khối nào.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Danh sách dài sẽ học FlatList ở bài 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trực tiếp: đổi flexDirection và justifyContent, cho lớp đoán kết quả trước khi lưu.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prompt mẫu ở mục 2.4 của bài học với Copilot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Nhắc nộp 2 ảnh chụp màn hình ở 2 kích thước khác nhau.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463040" cy="73152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FFC627"/>
                </a:solidFill>
                <a:latin typeface="Arial"/>
              </a:rPr>
              <a:t>Lập trình ứng dụng di động (111114)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b="1" sz="4000">
                <a:solidFill>
                  <a:srgbClr val="FFFFFF"/>
                </a:solidFill>
                <a:latin typeface="Arial"/>
              </a:rPr>
              <a:t>Bài 02: Core Components, Styling &amp; Layout với Flexbox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2000">
                <a:solidFill>
                  <a:srgbClr val="FFFFFF"/>
                </a:solidFill>
                <a:latin typeface="Arial"/>
              </a:rPr>
              <a:t>Từ bản thiết kế Figma đến màn hình chạy trên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200">
                <a:solidFill>
                  <a:srgbClr val="FFFFFF"/>
                </a:solidFill>
                <a:latin typeface="Arial"/>
              </a:rPr>
              <a:t>Khoa Công nghệ Thông tin - Trường Đại học Lạc Hồng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Mục tiêu buổi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Sử dụng các core component của React Native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Dựng bố cục responsive bằng Flexbox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Xây design system: theme và component dùng chung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Chuyển thiết kế Figma thành mã bằng vibe coding; vẽ sơ đồ chức năng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02: Core Components, Styling &amp; Layout với Flexbox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Câu hỏi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Bản Figma của nhóm ở môn UI/UX đã đẹp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Làm sao để màn hình trên điện thoại giống thiết kế?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Và vẫn đúng trên cả máy nhỏ lẫn máy màn hình lớn?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02: Core Components, Styling &amp; Layout với Flexbox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Core components thường dùng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View</a:t>
            </a:r>
            <a:r>
              <a:rPr b="0" sz="2000">
                <a:solidFill>
                  <a:srgbClr val="212529"/>
                </a:solidFill>
                <a:latin typeface="Arial"/>
              </a:rPr>
              <a:t>: khung chứa · </a:t>
            </a:r>
            <a:r>
              <a:rPr sz="2000">
                <a:solidFill>
                  <a:srgbClr val="212529"/>
                </a:solidFill>
                <a:latin typeface="Consolas"/>
              </a:rPr>
              <a:t>Text</a:t>
            </a:r>
            <a:r>
              <a:rPr b="0" sz="2000">
                <a:solidFill>
                  <a:srgbClr val="212529"/>
                </a:solidFill>
                <a:latin typeface="Arial"/>
              </a:rPr>
              <a:t>: chữ · </a:t>
            </a:r>
            <a:r>
              <a:rPr sz="2000">
                <a:solidFill>
                  <a:srgbClr val="212529"/>
                </a:solidFill>
                <a:latin typeface="Consolas"/>
              </a:rPr>
              <a:t>Image</a:t>
            </a:r>
            <a:r>
              <a:rPr b="0" sz="2000">
                <a:solidFill>
                  <a:srgbClr val="212529"/>
                </a:solidFill>
                <a:latin typeface="Arial"/>
              </a:rPr>
              <a:t>: ảnh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ScrollView</a:t>
            </a:r>
            <a:r>
              <a:rPr b="0" sz="2000">
                <a:solidFill>
                  <a:srgbClr val="212529"/>
                </a:solidFill>
                <a:latin typeface="Arial"/>
              </a:rPr>
              <a:t>: nội dung dài, cuộn được (không dùng cho danh sách dài)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TextInput</a:t>
            </a:r>
            <a:r>
              <a:rPr b="0" sz="2000">
                <a:solidFill>
                  <a:srgbClr val="212529"/>
                </a:solidFill>
                <a:latin typeface="Arial"/>
              </a:rPr>
              <a:t>: ô nhập (</a:t>
            </a:r>
            <a:r>
              <a:rPr sz="2000">
                <a:solidFill>
                  <a:srgbClr val="212529"/>
                </a:solidFill>
                <a:latin typeface="Consolas"/>
              </a:rPr>
              <a:t>keyboardType</a:t>
            </a:r>
            <a:r>
              <a:rPr b="0" sz="2000">
                <a:solidFill>
                  <a:srgbClr val="212529"/>
                </a:solidFill>
                <a:latin typeface="Arial"/>
              </a:rPr>
              <a:t>, </a:t>
            </a:r>
            <a:r>
              <a:rPr sz="2000">
                <a:solidFill>
                  <a:srgbClr val="212529"/>
                </a:solidFill>
                <a:latin typeface="Consolas"/>
              </a:rPr>
              <a:t>secureTextEntry</a:t>
            </a:r>
            <a:r>
              <a:rPr b="0" sz="2000">
                <a:solidFill>
                  <a:srgbClr val="212529"/>
                </a:solidFill>
                <a:latin typeface="Arial"/>
              </a:rPr>
              <a:t>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Pressable</a:t>
            </a:r>
            <a:r>
              <a:rPr b="0" sz="2000">
                <a:solidFill>
                  <a:srgbClr val="212529"/>
                </a:solidFill>
                <a:latin typeface="Arial"/>
              </a:rPr>
              <a:t>: vùng bấm được, đổi style khi đang bấm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02: Core Components, Styling &amp; Layout với Flexbox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Vùng an toàn (safe area)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Điện thoại có tai thỏ, thanh trạng thái, thanh điều hướng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Dùng </a:t>
            </a:r>
            <a:r>
              <a:rPr sz="2000">
                <a:solidFill>
                  <a:srgbClr val="212529"/>
                </a:solidFill>
                <a:latin typeface="Consolas"/>
              </a:rPr>
              <a:t>SafeAreaView</a:t>
            </a:r>
            <a:r>
              <a:rPr b="0" sz="2000">
                <a:solidFill>
                  <a:srgbClr val="212529"/>
                </a:solidFill>
                <a:latin typeface="Arial"/>
              </a:rPr>
              <a:t> của </a:t>
            </a:r>
            <a:r>
              <a:rPr sz="2000">
                <a:solidFill>
                  <a:srgbClr val="212529"/>
                </a:solidFill>
                <a:latin typeface="Consolas"/>
              </a:rPr>
              <a:t>react-native-safe-area-context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Thư viện đã có sẵn trong dự án Expo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Ví dụ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Không có safe area: tiêu đề màn hình bị tai thỏ che mất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02: Core Components, Styling &amp; Layout với Flexbox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Flexbox trên mobile khác web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Mặc định </a:t>
            </a:r>
            <a:r>
              <a:rPr sz="2000">
                <a:solidFill>
                  <a:srgbClr val="212529"/>
                </a:solidFill>
                <a:latin typeface="Consolas"/>
              </a:rPr>
              <a:t>flexDirection: 'column'</a:t>
            </a:r>
            <a:r>
              <a:rPr b="0" sz="2000">
                <a:solidFill>
                  <a:srgbClr val="212529"/>
                </a:solidFill>
                <a:latin typeface="Arial"/>
              </a:rPr>
              <a:t> (xếp dọc)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Xếp ngang: </a:t>
            </a:r>
            <a:r>
              <a:rPr sz="2000">
                <a:solidFill>
                  <a:srgbClr val="212529"/>
                </a:solidFill>
                <a:latin typeface="Consolas"/>
              </a:rPr>
              <a:t>flexDirection: 'row'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flex: 1</a:t>
            </a:r>
            <a:r>
              <a:rPr b="0" sz="2000">
                <a:solidFill>
                  <a:srgbClr val="212529"/>
                </a:solidFill>
                <a:latin typeface="Arial"/>
              </a:rPr>
              <a:t>: chiếm phần không gian còn lại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justifyContent</a:t>
            </a:r>
            <a:r>
              <a:rPr b="0" sz="2000">
                <a:solidFill>
                  <a:srgbClr val="212529"/>
                </a:solidFill>
                <a:latin typeface="Arial"/>
              </a:rPr>
              <a:t> (trục chính), </a:t>
            </a:r>
            <a:r>
              <a:rPr sz="2000">
                <a:solidFill>
                  <a:srgbClr val="212529"/>
                </a:solidFill>
                <a:latin typeface="Consolas"/>
              </a:rPr>
              <a:t>alignItems</a:t>
            </a:r>
            <a:r>
              <a:rPr b="0" sz="2000">
                <a:solidFill>
                  <a:srgbClr val="212529"/>
                </a:solidFill>
                <a:latin typeface="Arial"/>
              </a:rPr>
              <a:t> (trục phụ), </a:t>
            </a:r>
            <a:r>
              <a:rPr sz="2000">
                <a:solidFill>
                  <a:srgbClr val="212529"/>
                </a:solidFill>
                <a:latin typeface="Consolas"/>
              </a:rPr>
              <a:t>gap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Số không đơn vị là </a:t>
            </a:r>
            <a:r>
              <a:rPr b="1" sz="2000">
                <a:solidFill>
                  <a:srgbClr val="212529"/>
                </a:solidFill>
                <a:latin typeface="Arial"/>
              </a:rPr>
              <a:t>dp</a:t>
            </a:r>
            <a:r>
              <a:rPr b="0" sz="2000">
                <a:solidFill>
                  <a:srgbClr val="212529"/>
                </a:solidFill>
                <a:latin typeface="Arial"/>
              </a:rPr>
              <a:t>, tự co giãn theo mật độ màn hình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02: Core Components, Styling &amp; Layout với Flexbox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Responsive theo kích thước màn hình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useWindowDimensions()</a:t>
            </a:r>
            <a:r>
              <a:rPr b="0" sz="2000">
                <a:solidFill>
                  <a:srgbClr val="212529"/>
                </a:solidFill>
                <a:latin typeface="Arial"/>
              </a:rPr>
              <a:t> trả về chiều rộng hiện tại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Ví dụ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Lưới món ăn: 2 cột trên điện thoại nhỏ, 3 cột trên máy rộng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566160"/>
            <a:ext cx="11064240" cy="1152144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{ width } = useWindowDimensions();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columns = width &gt;= 600 ? 3 : 2;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itemWidth = (width - 16 * (columns + 1)) / columns;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02: Core Components, Styling &amp; Layout với Flexbox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Design system: theme.ts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Gom màu, khoảng cách, cỡ chữ về một file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Đổi một chỗ, cả app đổi theo; AI sinh mã đúng màu của nhóm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1152144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export const colors = { primary: '#013D88', accent: '#FFC627' };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export const spacing = { xs: 4, sm: 8, md: 16, lg: 24 };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export const fontSize = { body: 16, title: 20, heading: 24 };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02: Core Components, Styling &amp; Layout với Flexbox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Component dùng chung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Button</a:t>
            </a:r>
            <a:r>
              <a:rPr b="0" sz="2000">
                <a:solidFill>
                  <a:srgbClr val="212529"/>
                </a:solidFill>
                <a:latin typeface="Arial"/>
              </a:rPr>
              <a:t>: biến thể chính/phụ, trạng thái vô hiệu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Card</a:t>
            </a:r>
            <a:r>
              <a:rPr b="0" sz="2000">
                <a:solidFill>
                  <a:srgbClr val="212529"/>
                </a:solidFill>
                <a:latin typeface="Arial"/>
              </a:rPr>
              <a:t>: khung nội dung bo góc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Input</a:t>
            </a:r>
            <a:r>
              <a:rPr b="0" sz="2000">
                <a:solidFill>
                  <a:srgbClr val="212529"/>
                </a:solidFill>
                <a:latin typeface="Arial"/>
              </a:rPr>
              <a:t>: có nhãn và dòng báo lỗi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Dark mode: </a:t>
            </a:r>
            <a:r>
              <a:rPr sz="2000">
                <a:solidFill>
                  <a:srgbClr val="212529"/>
                </a:solidFill>
                <a:latin typeface="Consolas"/>
              </a:rPr>
              <a:t>useColorScheme()</a:t>
            </a:r>
            <a:r>
              <a:rPr b="0" sz="2000">
                <a:solidFill>
                  <a:srgbClr val="212529"/>
                </a:solidFill>
                <a:latin typeface="Arial"/>
              </a:rPr>
              <a:t> để chọn bảng màu sáng/tối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Hỏi lớp: màn hình Trang chủ LHU Food dùng lại được những component nào?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02: Core Components, Styling &amp; Layout với Flexbox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Từ Figma đến mã bằng vibe coding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1. Xuất ảnh màn hình từ Figma, ghi đặc tả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2. Prompt có ràng buộc: dùng theme, dùng component có sẵn, không thêm thư viện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3. Chạy thử, </a:t>
            </a:r>
            <a:r>
              <a:rPr b="1" sz="2000">
                <a:solidFill>
                  <a:srgbClr val="212529"/>
                </a:solidFill>
                <a:latin typeface="Arial"/>
              </a:rPr>
              <a:t>đặt cạnh ảnh thiết kế</a:t>
            </a:r>
            <a:r>
              <a:rPr b="0" sz="2000">
                <a:solidFill>
                  <a:srgbClr val="212529"/>
                </a:solidFill>
                <a:latin typeface="Arial"/>
              </a:rPr>
              <a:t> để so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4. Sửa chỗ lệch, tách component, ghi </a:t>
            </a:r>
            <a:r>
              <a:rPr sz="2000">
                <a:solidFill>
                  <a:srgbClr val="212529"/>
                </a:solidFill>
                <a:latin typeface="Consolas"/>
              </a:rPr>
              <a:t>PROMPTS.md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02: Core Components, Styling &amp; Layout với Flexbox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Lỗi AI hay mắc khi dựng giao diện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Viết cứng màu thay vì lấy từ theme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Dùng thư viện UI ngoài không được phép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Đặt chữ ngoài </a:t>
            </a:r>
            <a:r>
              <a:rPr sz="2000">
                <a:solidFill>
                  <a:srgbClr val="212529"/>
                </a:solidFill>
                <a:latin typeface="Consolas"/>
              </a:rPr>
              <a:t>&lt;Text&gt;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Quên safe area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Sinh viên tìm lỗi trong một đoạn mã AI sinh ra do giảng viên chuẩn bị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02: Core Components, Styling &amp; Layout với Flexbox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Sơ đồ chức năng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Chia ứng dụng thành nhóm chức năng và chức năng con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Là cơ sở để thiết kế màn hình, API và dữ liệu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Minh chứng cho CLO1 và CLO3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Ví dụ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LHU Food: Khách hàng (thực đơn, giỏ hàng, đặt hàng, theo dõi đơn) · Nhân viên (đơn mới, cập nhật trạng thái, quản lý món, thống kê) · Tài khoản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02: Core Components, Styling &amp; Layout với Flexbox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 có hướng dẫn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Tạo </a:t>
            </a:r>
            <a:r>
              <a:rPr sz="2000">
                <a:solidFill>
                  <a:srgbClr val="212529"/>
                </a:solidFill>
                <a:latin typeface="Consolas"/>
              </a:rPr>
              <a:t>theme.ts</a:t>
            </a:r>
            <a:r>
              <a:rPr b="0" sz="2000">
                <a:solidFill>
                  <a:srgbClr val="212529"/>
                </a:solidFill>
                <a:latin typeface="Arial"/>
              </a:rPr>
              <a:t> và 3 component: Button, Card, ProductCard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Dựng Trang chủ (lời chào, tìm kiếm, lưới món) và Chi tiết món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Sinh màn hình Chi tiết từ Figma bằng Copilot, so và sửa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Vẽ sơ đồ chức năng LHU Food bằng draw.io, lưu vào </a:t>
            </a:r>
            <a:r>
              <a:rPr sz="2000">
                <a:solidFill>
                  <a:srgbClr val="212529"/>
                </a:solidFill>
                <a:latin typeface="Consolas"/>
              </a:rPr>
              <a:t>docs/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02: Core Components, Styling &amp; Layout với Flexbox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 không hướng dẫn &amp; thử thách nhóm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Cá nhân</a:t>
            </a:r>
            <a:r>
              <a:rPr b="0" sz="2000">
                <a:solidFill>
                  <a:srgbClr val="212529"/>
                </a:solidFill>
                <a:latin typeface="Arial"/>
              </a:rPr>
              <a:t>: màn hình Hồ sơ theo thiết kế, đúng trên 2 kích thước màn hình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Nhóm</a:t>
            </a:r>
            <a:r>
              <a:rPr b="0" sz="2000">
                <a:solidFill>
                  <a:srgbClr val="212529"/>
                </a:solidFill>
                <a:latin typeface="Arial"/>
              </a:rPr>
              <a:t>: UI kit (theme + 5 component), 3 màn hình chính theo Figma, sơ đồ chức năng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02: Core Components, Styling &amp; Layout với Flexbox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Tóm tắt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Mọi chữ trong Text; ảnh URL cần kích thước; safe area để không bị che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Flexbox mặc định xếp dọc; </a:t>
            </a:r>
            <a:r>
              <a:rPr sz="2000">
                <a:solidFill>
                  <a:srgbClr val="212529"/>
                </a:solidFill>
                <a:latin typeface="Consolas"/>
              </a:rPr>
              <a:t>flex: 1</a:t>
            </a:r>
            <a:r>
              <a:rPr b="0" sz="2000">
                <a:solidFill>
                  <a:srgbClr val="212529"/>
                </a:solidFill>
                <a:latin typeface="Arial"/>
              </a:rPr>
              <a:t> lấp đầy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Theme + component dùng chung = giao diện nhất quán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AI dựng nhanh, bạn so với thiết kế và sửa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Làm quiz Bài 02 ở cuối trang bài học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02: Core Components, Styling &amp; Layout với Flexbox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