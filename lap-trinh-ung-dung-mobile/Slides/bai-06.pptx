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tiết lý thuyết, 3 tiết thực hành. CLO1, CLO4. Cuối buổi là Checkpoint Sprint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Mã AuthGuard đầy đủ theo mẫu tài liệu NestJS ở mục 2.3 của bài học.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Bài 11 tạo tài khoản này trên Windows Server của Khoa.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Góp ý báo cáo vai trò để sinh viên hoàn thiện cho phần chấm CLO4 cuối kỳ.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1463040" cy="73152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FFC627"/>
                </a:solidFill>
                <a:latin typeface="Arial"/>
              </a:rPr>
              <a:t>Lập trình ứng dụng di động (111114)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Bài 06: Xác thực &amp; bảo mật ứng dụng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FFFFFF"/>
                </a:solidFill>
                <a:latin typeface="Arial"/>
              </a:rPr>
              <a:t>JWT, SecureStore, bảo vệ route · Checkpoint Sprint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200">
                <a:solidFill>
                  <a:srgbClr val="FFFFFF"/>
                </a:solidFill>
                <a:latin typeface="Arial"/>
              </a:rPr>
              <a:t>Khoa Công nghệ Thông tin - Trường Đại học Lạc Hồng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Mục tiêu buổi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Triển khai đăng ký, đăng nhập bằng JWT ở API và ứng dụng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Lưu token an toàn bằng Expo SecureStore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Bảo vệ màn hình và API theo đăng nhập và vai trò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Nhận diện các rủi ro bảo mật thường gặp trên mobile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06: Xác thực &amp; bảo mật ứng dụng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Câu hỏi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Ai mở được app cũng đặt được hàng, đơn hàng không biết của ai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Khách hàng và nhân viên căn tin cần thấy màn hình khác nhau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App "biết bạn là ai" sau mỗi lần mở, nhưng không lưu mật khẩu?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06: Xác thực &amp; bảo mật ứng dụng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Luồng xác thực JWT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1. App gửi email + mật khẩu → </a:t>
            </a:r>
            <a:r>
              <a:rPr sz="2000">
                <a:solidFill>
                  <a:srgbClr val="212529"/>
                </a:solidFill>
                <a:latin typeface="Consolas"/>
              </a:rPr>
              <a:t>POST /auth/login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2. API gọi </a:t>
            </a:r>
            <a:r>
              <a:rPr sz="2000">
                <a:solidFill>
                  <a:srgbClr val="212529"/>
                </a:solidFill>
                <a:latin typeface="Consolas"/>
              </a:rPr>
              <a:t>sp_User_GetByEmail</a:t>
            </a:r>
            <a:r>
              <a:rPr b="0" sz="2000">
                <a:solidFill>
                  <a:srgbClr val="212529"/>
                </a:solidFill>
                <a:latin typeface="Arial"/>
              </a:rPr>
              <a:t>, so mật khẩu bằng bcrypt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3. API trả accessToken (~15 phút) + refreshToken (~7 ngày)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4. App lưu token vào SecureStore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5. Mỗi request: </a:t>
            </a:r>
            <a:r>
              <a:rPr sz="2000">
                <a:solidFill>
                  <a:srgbClr val="212529"/>
                </a:solidFill>
                <a:latin typeface="Consolas"/>
              </a:rPr>
              <a:t>Authorization: Bearer &lt;accessToken&gt;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6. Hết hạn → </a:t>
            </a:r>
            <a:r>
              <a:rPr sz="2000">
                <a:solidFill>
                  <a:srgbClr val="212529"/>
                </a:solidFill>
                <a:latin typeface="Consolas"/>
              </a:rPr>
              <a:t>POST /auth/refresh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06: Xác thực &amp; bảo mật ứng dụng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Mật khẩu và token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Mật khẩu băm bằng </a:t>
            </a:r>
            <a:r>
              <a:rPr b="1" sz="2000">
                <a:solidFill>
                  <a:srgbClr val="212529"/>
                </a:solidFill>
                <a:latin typeface="Arial"/>
              </a:rPr>
              <a:t>bcrypt</a:t>
            </a:r>
            <a:r>
              <a:rPr b="0" sz="2000">
                <a:solidFill>
                  <a:srgbClr val="212529"/>
                </a:solidFill>
                <a:latin typeface="Arial"/>
              </a:rPr>
              <a:t> ở NestJS, CSDL chỉ lưu </a:t>
            </a:r>
            <a:r>
              <a:rPr sz="2000">
                <a:solidFill>
                  <a:srgbClr val="212529"/>
                </a:solidFill>
                <a:latin typeface="Consolas"/>
              </a:rPr>
              <a:t>PasswordHash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JWT đã ký: server kiểm tra chữ ký, không cần tra CSDL mỗi request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Access token ngắn hạn → giảm thiệt hại khi bị lộ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Refresh token lưu (dạng băm) qua thủ tục để thu hồi khi đăng xuất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06: Xác thực &amp; bảo mật ứng dụng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Bảng Users và thủ tục đăng ký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18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1800">
                <a:solidFill>
                  <a:srgbClr val="212529"/>
                </a:solidFill>
                <a:latin typeface="Arial"/>
              </a:rPr>
              <a:t>•  Cột </a:t>
            </a:r>
            <a:r>
              <a:rPr sz="1800">
                <a:solidFill>
                  <a:srgbClr val="212529"/>
                </a:solidFill>
                <a:latin typeface="Consolas"/>
              </a:rPr>
              <a:t>Role</a:t>
            </a:r>
            <a:r>
              <a:rPr b="0" sz="1800">
                <a:solidFill>
                  <a:srgbClr val="212529"/>
                </a:solidFill>
                <a:latin typeface="Arial"/>
              </a:rPr>
              <a:t> có </a:t>
            </a:r>
            <a:r>
              <a:rPr sz="1800">
                <a:solidFill>
                  <a:srgbClr val="212529"/>
                </a:solidFill>
                <a:latin typeface="Consolas"/>
              </a:rPr>
              <a:t>CHECK (Role IN (N'customer', N'staff'))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51760"/>
            <a:ext cx="11064240" cy="320040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CREATE OR ALTER PROCEDURE sp_User_Register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@FullName NVARCHAR(100), @Email NVARCHAR(255), @PasswordHash NVARCHAR(255)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AS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BEGIN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SET NOCOUNT ON;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IF EXISTS (SELECT 1 FROM Users WHERE Email = @Email)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  THROW 50409, N'Email đã được sử dụng', 1;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INSERT INTO Users (FullName, Email, PasswordHash) VALUES (@FullName, @Email, @PasswordHash);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SELECT CAST(SCOPE_IDENTITY() AS INT) AS userId;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END;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06: Xác thực &amp; bảo mật ứng dụng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Đăng nhập trong NestJS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11064240" cy="2615184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const [user] = await this.db.execute&lt;UserRow&gt;('sp_User_GetByEmail', {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Email: { type: sql.NVarChar(255), value: email },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});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if (!user || !(await bcrypt.compare(password, user.PasswordHash))) {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throw new UnauthorizedException('Email hoặc mật khẩu không đúng');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}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const payload = { sub: user.UserId, role: user.Role };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return { accessToken: await this.jwt.signAsync(payload, { expiresIn: '15m' }) };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06: Xác thực &amp; bảo mật ứng dụng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AuthGuard và RolesGuard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AuthGuard đọc header </a:t>
            </a:r>
            <a:r>
              <a:rPr sz="2000">
                <a:solidFill>
                  <a:srgbClr val="212529"/>
                </a:solidFill>
                <a:latin typeface="Consolas"/>
              </a:rPr>
              <a:t>Bearer</a:t>
            </a:r>
            <a:r>
              <a:rPr b="0" sz="2000">
                <a:solidFill>
                  <a:srgbClr val="212529"/>
                </a:solidFill>
                <a:latin typeface="Arial"/>
              </a:rPr>
              <a:t>, </a:t>
            </a:r>
            <a:r>
              <a:rPr sz="2000">
                <a:solidFill>
                  <a:srgbClr val="212529"/>
                </a:solidFill>
                <a:latin typeface="Consolas"/>
              </a:rPr>
              <a:t>verifyAsync</a:t>
            </a:r>
            <a:r>
              <a:rPr b="0" sz="2000">
                <a:solidFill>
                  <a:srgbClr val="212529"/>
                </a:solidFill>
                <a:latin typeface="Arial"/>
              </a:rPr>
              <a:t>, gán </a:t>
            </a:r>
            <a:r>
              <a:rPr sz="2000">
                <a:solidFill>
                  <a:srgbClr val="212529"/>
                </a:solidFill>
                <a:latin typeface="Consolas"/>
              </a:rPr>
              <a:t>request.user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sz="2000">
                <a:solidFill>
                  <a:srgbClr val="212529"/>
                </a:solidFill>
                <a:latin typeface="Consolas"/>
              </a:rPr>
              <a:t>@UseGuards(AuthGuard)</a:t>
            </a:r>
            <a:r>
              <a:rPr b="0" sz="2000">
                <a:solidFill>
                  <a:srgbClr val="212529"/>
                </a:solidFill>
                <a:latin typeface="Arial"/>
              </a:rPr>
              <a:t> cho API cần đăng nhập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RolesGuard: chỉ </a:t>
            </a:r>
            <a:r>
              <a:rPr sz="2000">
                <a:solidFill>
                  <a:srgbClr val="212529"/>
                </a:solidFill>
                <a:latin typeface="Consolas"/>
              </a:rPr>
              <a:t>staff</a:t>
            </a:r>
            <a:r>
              <a:rPr b="0" sz="2000">
                <a:solidFill>
                  <a:srgbClr val="212529"/>
                </a:solidFill>
                <a:latin typeface="Arial"/>
              </a:rPr>
              <a:t> được đổi trạng thái đơn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Mã người dùng lấy từ token (</a:t>
            </a:r>
            <a:r>
              <a:rPr sz="2000">
                <a:solidFill>
                  <a:srgbClr val="212529"/>
                </a:solidFill>
                <a:latin typeface="Consolas"/>
              </a:rPr>
              <a:t>req.user.sub</a:t>
            </a:r>
            <a:r>
              <a:rPr b="0" sz="2000">
                <a:solidFill>
                  <a:srgbClr val="212529"/>
                </a:solidFill>
                <a:latin typeface="Arial"/>
              </a:rPr>
              <a:t>), </a:t>
            </a:r>
            <a:r>
              <a:rPr b="1" sz="2000">
                <a:solidFill>
                  <a:srgbClr val="212529"/>
                </a:solidFill>
                <a:latin typeface="Arial"/>
              </a:rPr>
              <a:t>không</a:t>
            </a:r>
            <a:r>
              <a:rPr b="0" sz="2000">
                <a:solidFill>
                  <a:srgbClr val="212529"/>
                </a:solidFill>
                <a:latin typeface="Arial"/>
              </a:rPr>
              <a:t> lấy từ body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06: Xác thực &amp; bảo mật ứng dụng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SecureStore và AsyncStorage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SecureStore</a:t>
            </a:r>
            <a:r>
              <a:rPr b="0" sz="2000">
                <a:solidFill>
                  <a:srgbClr val="212529"/>
                </a:solidFill>
                <a:latin typeface="Arial"/>
              </a:rPr>
              <a:t>: mã hóa bằng Android Keystore / iOS Keychain → token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AsyncStorage</a:t>
            </a:r>
            <a:r>
              <a:rPr b="0" sz="2000">
                <a:solidFill>
                  <a:srgbClr val="212529"/>
                </a:solidFill>
                <a:latin typeface="Arial"/>
              </a:rPr>
              <a:t>: văn bản thường → thiết lập không nhạy cảm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Không bao giờ lưu mật khẩu trên điện thoại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566160"/>
            <a:ext cx="11064240" cy="1152144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await SecureStore.setItemAsync('accessToken', token);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const token = await SecureStore.getItemAsync('accessToken');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await SecureStore.deleteItemAsync('accessToken');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06: Xác thực &amp; bảo mật ứng dụng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Bảo vệ màn hình bằng Redirect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Cờ </a:t>
            </a:r>
            <a:r>
              <a:rPr sz="2000">
                <a:solidFill>
                  <a:srgbClr val="212529"/>
                </a:solidFill>
                <a:latin typeface="Consolas"/>
              </a:rPr>
              <a:t>ready</a:t>
            </a:r>
            <a:r>
              <a:rPr b="0" sz="2000">
                <a:solidFill>
                  <a:srgbClr val="212529"/>
                </a:solidFill>
                <a:latin typeface="Arial"/>
              </a:rPr>
              <a:t> tránh nháy về màn hình đăng nhập khi mở app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Đăng nhập xong: </a:t>
            </a:r>
            <a:r>
              <a:rPr sz="2000">
                <a:solidFill>
                  <a:srgbClr val="212529"/>
                </a:solidFill>
                <a:latin typeface="Consolas"/>
              </a:rPr>
              <a:t>router.replace('/')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108960"/>
            <a:ext cx="11064240" cy="2029968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export default function TabLayout() {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const { token, ready } = useAuth();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if (!ready) return null;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if (!token) return &lt;Redirect href="/login" /&gt;;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return &lt;Tabs&gt;{/* các tab */}&lt;/Tabs&gt;;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06: Xác thực &amp; bảo mật ứng dụng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Rủi ro bảo mật thường gặp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Khóa bí mật trong biến </a:t>
            </a:r>
            <a:r>
              <a:rPr sz="2000">
                <a:solidFill>
                  <a:srgbClr val="212529"/>
                </a:solidFill>
                <a:latin typeface="Consolas"/>
              </a:rPr>
              <a:t>EXPO_PUBLIC_</a:t>
            </a:r>
            <a:r>
              <a:rPr b="0" sz="2000">
                <a:solidFill>
                  <a:srgbClr val="212529"/>
                </a:solidFill>
                <a:latin typeface="Arial"/>
              </a:rPr>
              <a:t> → đọc được từ APK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Chỉ ẩn nút ở app, API không kiểm tra quyền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sz="2000">
                <a:solidFill>
                  <a:srgbClr val="212529"/>
                </a:solidFill>
                <a:latin typeface="Consolas"/>
              </a:rPr>
              <a:t>console.log</a:t>
            </a:r>
            <a:r>
              <a:rPr b="0" sz="2000">
                <a:solidFill>
                  <a:srgbClr val="212529"/>
                </a:solidFill>
                <a:latin typeface="Arial"/>
              </a:rPr>
              <a:t> token, mật khẩu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API dùng tài khoản </a:t>
            </a:r>
            <a:r>
              <a:rPr sz="2000">
                <a:solidFill>
                  <a:srgbClr val="212529"/>
                </a:solidFill>
                <a:latin typeface="Consolas"/>
              </a:rPr>
              <a:t>sa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Thông báo lỗi tiết lộ "email không tồn tại"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Hoạt động</a:t>
            </a:r>
            <a:r>
              <a:rPr b="0" sz="2000">
                <a:solidFill>
                  <a:srgbClr val="01295C"/>
                </a:solidFill>
                <a:latin typeface="Arial"/>
              </a:rPr>
              <a:t>: Mỗi nhóm rà phần xác thực của mình theo 5 dòng này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06: Xác thực &amp; bảo mật ứng dụng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Tài khoản SQL Server chỉ có quyền EXECUTE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API không đọc/ghi bảng trực tiếp, chỉ chạy được thủ tục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51760"/>
            <a:ext cx="11064240" cy="1152144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CREATE LOGIN lhufood_api WITH PASSWORD = '&lt;mật khẩu mạnh&gt;';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CREATE USER lhufood_api FOR LOGIN lhufood_api;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GRANT EXECUTE ON SCHEMA::dbo TO lhufood_api;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06: Xác thực &amp; bảo mật ứng dụng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Thực hành có hướng dẫn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Bảng Users, thủ tục; tài khoản SQL chỉ có quyền EXECUTE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NestJS: </a:t>
            </a:r>
            <a:r>
              <a:rPr sz="2000">
                <a:solidFill>
                  <a:srgbClr val="212529"/>
                </a:solidFill>
                <a:latin typeface="Consolas"/>
              </a:rPr>
              <a:t>/auth/register</a:t>
            </a:r>
            <a:r>
              <a:rPr b="0" sz="2000">
                <a:solidFill>
                  <a:srgbClr val="212529"/>
                </a:solidFill>
                <a:latin typeface="Arial"/>
              </a:rPr>
              <a:t>, </a:t>
            </a:r>
            <a:r>
              <a:rPr sz="2000">
                <a:solidFill>
                  <a:srgbClr val="212529"/>
                </a:solidFill>
                <a:latin typeface="Consolas"/>
              </a:rPr>
              <a:t>/auth/login</a:t>
            </a:r>
            <a:r>
              <a:rPr b="0" sz="2000">
                <a:solidFill>
                  <a:srgbClr val="212529"/>
                </a:solidFill>
                <a:latin typeface="Arial"/>
              </a:rPr>
              <a:t>, AuthGuard cho </a:t>
            </a:r>
            <a:r>
              <a:rPr sz="2000">
                <a:solidFill>
                  <a:srgbClr val="212529"/>
                </a:solidFill>
                <a:latin typeface="Consolas"/>
              </a:rPr>
              <a:t>POST /orders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App: màn hình Đăng nhập/Đăng ký, store auth với SecureStore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Redirect cho nhóm (tabs); </a:t>
            </a:r>
            <a:r>
              <a:rPr sz="2000">
                <a:solidFill>
                  <a:srgbClr val="212529"/>
                </a:solidFill>
                <a:latin typeface="Consolas"/>
              </a:rPr>
              <a:t>lib/api.ts</a:t>
            </a:r>
            <a:r>
              <a:rPr b="0" sz="2000">
                <a:solidFill>
                  <a:srgbClr val="212529"/>
                </a:solidFill>
                <a:latin typeface="Arial"/>
              </a:rPr>
              <a:t> gắn header Authorization; Đăng xuất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06: Xác thực &amp; bảo mật ứng dụng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Thực hành không hướng dẫn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API trả 401 → gọi </a:t>
            </a:r>
            <a:r>
              <a:rPr sz="2000">
                <a:solidFill>
                  <a:srgbClr val="212529"/>
                </a:solidFill>
                <a:latin typeface="Consolas"/>
              </a:rPr>
              <a:t>/auth/refresh</a:t>
            </a:r>
            <a:r>
              <a:rPr b="0" sz="2000">
                <a:solidFill>
                  <a:srgbClr val="212529"/>
                </a:solidFill>
                <a:latin typeface="Arial"/>
              </a:rPr>
              <a:t>, lưu token mới, gửi lại request </a:t>
            </a:r>
            <a:r>
              <a:rPr b="1" sz="2000">
                <a:solidFill>
                  <a:srgbClr val="212529"/>
                </a:solidFill>
                <a:latin typeface="Arial"/>
              </a:rPr>
              <a:t>một lần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Refresh thất bại → đăng xuất, báo "Phiên đăng nhập đã hết hạn"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Thử bằng access token hết hạn sau 1 phút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06: Xác thực &amp; bảo mật ứng dụng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Checkpoint Sprint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Luồng nghiệp vụ chính chạy với dữ liệu thật, có đăng nhập và phân quyền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Demo trên Android + Sprint Review và Retrospective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Mỗi thành viên</a:t>
            </a:r>
            <a:r>
              <a:rPr b="0" sz="2000">
                <a:solidFill>
                  <a:srgbClr val="212529"/>
                </a:solidFill>
                <a:latin typeface="Arial"/>
              </a:rPr>
              <a:t>: bản nháp báo cáo vai trò cá nhân + tự trình bày 2 phút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Nộp </a:t>
            </a:r>
            <a:r>
              <a:rPr sz="2000">
                <a:solidFill>
                  <a:srgbClr val="212529"/>
                </a:solidFill>
                <a:latin typeface="Consolas"/>
              </a:rPr>
              <a:t>PROMPTS.md</a:t>
            </a:r>
            <a:r>
              <a:rPr b="0" sz="2000">
                <a:solidFill>
                  <a:srgbClr val="212529"/>
                </a:solidFill>
                <a:latin typeface="Arial"/>
              </a:rPr>
              <a:t> của sprint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06: Xác thực &amp; bảo mật ứng dụng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Tóm tắt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Mật khẩu băm ở backend; CSDL chỉ lưu hash; mọi truy cập qua thủ tục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Access token ngắn, refresh token dài; token lưu ở SecureStore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Kiểm tra quyền ở API, không chỉ ẩn nút ở app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Bí mật không bao giờ nằm trong ứng dụng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Hoạt động</a:t>
            </a:r>
            <a:r>
              <a:rPr b="0" sz="2000">
                <a:solidFill>
                  <a:srgbClr val="01295C"/>
                </a:solidFill>
                <a:latin typeface="Arial"/>
              </a:rPr>
              <a:t>: Làm quiz Bài 06 ở cuối trang bài học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di động (111114) • Bài 06: Xác thực &amp; bảo mật ứng dụng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