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-closing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3" r:id="rId1"/>
  </p:sldMasterIdLst>
  <p:notesMasterIdLst>
    <p:notesMasterId r:id="rId6"/>
  </p:notesMasterIdLst>
  <p:sldIdLst>
    <p:sldId id="266" r:id="rId4"/>
    <p:sldId id="267" r:id="rId3"/>
    <p:sldId id="268" r:id="rId2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65" r:id="rId5"/>
  </p:sldIdLst>
  <p:sldSz cx="12192000" cy="6858000"/>
  <p:notesSz cx="6858000" cy="9144000"/>
  <p:embeddedFontLst>
    <p:embeddedFont>
      <p:font typeface="Quattrocento Sans" panose="020B0502050000020003" pitchFamily="34" charset="0"/>
      <p:regular r:id="rId7"/>
      <p:bold r:id="rId8"/>
      <p:italic r:id="rId9"/>
      <p:boldItalic r:id="rId10"/>
    </p:embeddedFont>
    <p:embeddedFont>
      <p:font typeface="Roboto" panose="02000000000000000000" pitchFamily="2" charset="0"/>
      <p:regular r:id="rId11"/>
      <p:bold r:id="rId12"/>
      <p:italic r:id="rId13"/>
      <p:boldItalic r:id="rId14"/>
    </p:embeddedFont>
    <p:embeddedFont>
      <p:font typeface="Roboto Black" panose="02000000000000000000" pitchFamily="2" charset="0"/>
      <p:bold r:id="rId15"/>
      <p:boldItalic r:id="rId16"/>
    </p:embeddedFont>
    <p:embeddedFont>
      <p:font typeface="Roboto Medium" panose="020000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60">
          <p15:clr>
            <a:srgbClr val="A4A3A4"/>
          </p15:clr>
        </p15:guide>
        <p15:guide id="2" pos="7392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114"/>
      </p:cViewPr>
      <p:guideLst>
        <p:guide pos="360"/>
        <p:guide pos="7392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-closing.xml"/><Relationship Id="rId6" Type="http://schemas.openxmlformats.org/officeDocument/2006/relationships/notesMaster" Target="notesMasters/notesMaster1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font" Target="fonts/font3.fntdata"/><Relationship Id="rId10" Type="http://schemas.openxmlformats.org/officeDocument/2006/relationships/font" Target="fonts/font4.fntdata"/><Relationship Id="rId11" Type="http://schemas.openxmlformats.org/officeDocument/2006/relationships/font" Target="fonts/font5.fntdata"/><Relationship Id="rId12" Type="http://schemas.openxmlformats.org/officeDocument/2006/relationships/font" Target="fonts/font6.fntdata"/><Relationship Id="rId13" Type="http://schemas.openxmlformats.org/officeDocument/2006/relationships/font" Target="fonts/font7.fntdata"/><Relationship Id="rId14" Type="http://schemas.openxmlformats.org/officeDocument/2006/relationships/font" Target="fonts/font8.fntdata"/><Relationship Id="rId15" Type="http://schemas.openxmlformats.org/officeDocument/2006/relationships/font" Target="fonts/font9.fntdata"/><Relationship Id="rId16" Type="http://schemas.openxmlformats.org/officeDocument/2006/relationships/font" Target="fonts/font10.fntdata"/><Relationship Id="rId17" Type="http://schemas.openxmlformats.org/officeDocument/2006/relationships/font" Target="fonts/font11.fntdata"/><Relationship Id="rId18" Type="http://schemas.openxmlformats.org/officeDocument/2006/relationships/font" Target="fonts/font12.fntdata"/><Relationship Id="rId19" Type="http://schemas.openxmlformats.org/officeDocument/2006/relationships/font" Target="fonts/font13.fntdata"/><Relationship Id="rId20" Type="http://schemas.openxmlformats.org/officeDocument/2006/relationships/font" Target="fonts/font14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5.xml"/><Relationship Id="rId26" Type="http://schemas.openxmlformats.org/officeDocument/2006/relationships/slide" Target="slides/slide6.xml"/><Relationship Id="rId27" Type="http://schemas.openxmlformats.org/officeDocument/2006/relationships/slide" Target="slides/slide7.xml"/><Relationship Id="rId28" Type="http://schemas.openxmlformats.org/officeDocument/2006/relationships/slide" Target="slides/slide8.xml"/><Relationship Id="rId29" Type="http://schemas.openxmlformats.org/officeDocument/2006/relationships/slide" Target="slides/slide9.xml"/><Relationship Id="rId30" Type="http://schemas.openxmlformats.org/officeDocument/2006/relationships/slide" Target="slides/slide10.xml"/><Relationship Id="rId31" Type="http://schemas.openxmlformats.org/officeDocument/2006/relationships/slide" Target="slides/slide11.xml"/><Relationship Id="rId32" Type="http://schemas.openxmlformats.org/officeDocument/2006/relationships/slide" Target="slides/slide12.xml"/><Relationship Id="rId33" Type="http://schemas.openxmlformats.org/officeDocument/2006/relationships/slide" Target="slides/slide13.xml"/><Relationship Id="rId34" Type="http://schemas.openxmlformats.org/officeDocument/2006/relationships/slide" Target="slides/slide14.xml"/><Relationship Id="rId35" Type="http://schemas.openxmlformats.org/officeDocument/2006/relationships/slide" Target="slides/slide15.xml"/><Relationship Id="rId36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-closing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Nhắc sinh viên kiểm tra thư viện AI gợi ý có trong tài liệu Expo không.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 tiết lý thuyết, 4 tiết thực hành. CLO1.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Mã đầy đủ ở mục 2.2 của bài học.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Các file Word/Excel nằm ở mục Tài liệu của bài trên LMS và trang học phần (giao-trinh/, srs/, rubric/).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801368" y="1664208"/>
            <a:ext cx="8586300" cy="21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6600"/>
              <a:buFont typeface="Roboto Black"/>
              <a:buNone/>
              <a:defRPr sz="6600" b="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2487168" y="4142232"/>
            <a:ext cx="72237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Medium"/>
              <a:buNone/>
              <a:defRPr sz="28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1078992" y="1938528"/>
            <a:ext cx="7013400" cy="29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400"/>
              <a:buFont typeface="Quattrocento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8613648" y="1938528"/>
            <a:ext cx="2688300" cy="299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609084" y="2965074"/>
            <a:ext cx="1281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 rot="5400000">
            <a:off x="7360671" y="3424440"/>
            <a:ext cx="21030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1780130" y="95350"/>
            <a:ext cx="417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1780125" y="95350"/>
            <a:ext cx="100032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800"/>
              <a:buFont typeface="Quattrocento Sans"/>
              <a:buNone/>
              <a:defRPr sz="3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122350" y="1074775"/>
            <a:ext cx="11976000" cy="45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title" idx="2"/>
          </p:nvPr>
        </p:nvSpPr>
        <p:spPr>
          <a:xfrm>
            <a:off x="2305500" y="498850"/>
            <a:ext cx="81939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300"/>
              <a:buFont typeface="Quattrocento Sans"/>
              <a:buNone/>
              <a:defRPr sz="2300">
                <a:solidFill>
                  <a:srgbClr val="FF99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2pPr>
            <a:lvl3pPr lvl="2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3pPr>
            <a:lvl4pPr lvl="3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4pPr>
            <a:lvl5pPr lvl="4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5pPr>
            <a:lvl6pPr lvl="5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6pPr>
            <a:lvl7pPr lvl="6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7pPr>
            <a:lvl8pPr lvl="7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8pPr>
            <a:lvl9pPr lvl="8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9pPr>
          </a:lstStyle>
          <a:p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1921650" y="585375"/>
            <a:ext cx="417300" cy="214200"/>
          </a:xfrm>
          <a:prstGeom prst="homePlate">
            <a:avLst>
              <a:gd name="adj" fmla="val 60423"/>
            </a:avLst>
          </a:prstGeom>
          <a:solidFill>
            <a:srgbClr val="0033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4 pictures">
  <p:cSld name="Title and Content with 4 picture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7324344" y="630936"/>
            <a:ext cx="4517100" cy="5496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 w="9525" cap="flat" cmpd="sng">
            <a:solidFill>
              <a:srgbClr val="E8E8E8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D8D8D8">
                <a:alpha val="2980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7772400" y="978408"/>
            <a:ext cx="37215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>
            <a:spLocks noGrp="1"/>
          </p:cNvSpPr>
          <p:nvPr>
            <p:ph type="pic" idx="2"/>
          </p:nvPr>
        </p:nvSpPr>
        <p:spPr>
          <a:xfrm>
            <a:off x="895522" y="859155"/>
            <a:ext cx="6016800" cy="491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5"/>
          <p:cNvSpPr/>
          <p:nvPr/>
        </p:nvSpPr>
        <p:spPr>
          <a:xfrm>
            <a:off x="7260336" y="1179576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7792216" y="2185416"/>
            <a:ext cx="36831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7772400" y="3099816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3"/>
          </p:nvPr>
        </p:nvSpPr>
        <p:spPr>
          <a:xfrm>
            <a:off x="7772400" y="4215384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4"/>
          </p:nvPr>
        </p:nvSpPr>
        <p:spPr>
          <a:xfrm>
            <a:off x="7772400" y="5321808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>
            <a:spLocks noGrp="1"/>
          </p:cNvSpPr>
          <p:nvPr>
            <p:ph type="pic" idx="5"/>
          </p:nvPr>
        </p:nvSpPr>
        <p:spPr>
          <a:xfrm>
            <a:off x="7772400" y="2532888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5"/>
          <p:cNvSpPr>
            <a:spLocks noGrp="1"/>
          </p:cNvSpPr>
          <p:nvPr>
            <p:ph type="pic" idx="6"/>
          </p:nvPr>
        </p:nvSpPr>
        <p:spPr>
          <a:xfrm>
            <a:off x="7772400" y="3630168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5"/>
          <p:cNvSpPr>
            <a:spLocks noGrp="1"/>
          </p:cNvSpPr>
          <p:nvPr>
            <p:ph type="pic" idx="7"/>
          </p:nvPr>
        </p:nvSpPr>
        <p:spPr>
          <a:xfrm>
            <a:off x="7772400" y="4754880"/>
            <a:ext cx="457200" cy="45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pictures">
  <p:cSld name="Title and Content with picture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5084064" y="889393"/>
            <a:ext cx="6272700" cy="15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200"/>
              <a:buFont typeface="Quattrocento Sans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5102352" y="2727631"/>
            <a:ext cx="6272700" cy="30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6"/>
          <p:cNvSpPr/>
          <p:nvPr/>
        </p:nvSpPr>
        <p:spPr>
          <a:xfrm rot="5400000">
            <a:off x="5317906" y="363383"/>
            <a:ext cx="732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5065776" y="2553749"/>
            <a:ext cx="6291000" cy="456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>
            <a:spLocks noGrp="1"/>
          </p:cNvSpPr>
          <p:nvPr>
            <p:ph type="pic" idx="2"/>
          </p:nvPr>
        </p:nvSpPr>
        <p:spPr>
          <a:xfrm>
            <a:off x="457200" y="895738"/>
            <a:ext cx="4050900" cy="4834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2 pictures">
  <p:cSld name="Title and Content with 2 picture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612648" y="1074888"/>
            <a:ext cx="6272700" cy="15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200"/>
              <a:buFont typeface="Quattrocento Sans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612648" y="3009498"/>
            <a:ext cx="62727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5605272" y="6356350"/>
            <a:ext cx="1280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7"/>
          <p:cNvSpPr/>
          <p:nvPr/>
        </p:nvSpPr>
        <p:spPr>
          <a:xfrm rot="5400000">
            <a:off x="850338" y="629660"/>
            <a:ext cx="732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7"/>
          <p:cNvSpPr>
            <a:spLocks noGrp="1"/>
          </p:cNvSpPr>
          <p:nvPr>
            <p:ph type="pic" idx="2"/>
          </p:nvPr>
        </p:nvSpPr>
        <p:spPr>
          <a:xfrm>
            <a:off x="7684008" y="3204504"/>
            <a:ext cx="45081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7"/>
          <p:cNvSpPr>
            <a:spLocks noGrp="1"/>
          </p:cNvSpPr>
          <p:nvPr>
            <p:ph type="pic" idx="3"/>
          </p:nvPr>
        </p:nvSpPr>
        <p:spPr>
          <a:xfrm>
            <a:off x="7680960" y="1074888"/>
            <a:ext cx="4508100" cy="18549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7"/>
          <p:cNvSpPr/>
          <p:nvPr/>
        </p:nvSpPr>
        <p:spPr>
          <a:xfrm>
            <a:off x="612648" y="2801145"/>
            <a:ext cx="6217800" cy="183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57784" y="640080"/>
            <a:ext cx="10890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800"/>
              <a:buFont typeface="Quattrocento Sans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498834" y="5118581"/>
            <a:ext cx="1464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8"/>
          <p:cNvSpPr txBox="1">
            <a:spLocks noGrp="1"/>
          </p:cNvSpPr>
          <p:nvPr>
            <p:ph type="body" idx="1"/>
          </p:nvPr>
        </p:nvSpPr>
        <p:spPr>
          <a:xfrm>
            <a:off x="841248" y="5102352"/>
            <a:ext cx="9207900" cy="585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">
  <p:cSld name="Team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>
            <a:spLocks noGrp="1"/>
          </p:cNvSpPr>
          <p:nvPr>
            <p:ph type="pic" idx="2"/>
          </p:nvPr>
        </p:nvSpPr>
        <p:spPr>
          <a:xfrm>
            <a:off x="542239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9"/>
          <p:cNvSpPr>
            <a:spLocks noGrp="1"/>
          </p:cNvSpPr>
          <p:nvPr>
            <p:ph type="pic" idx="3"/>
          </p:nvPr>
        </p:nvSpPr>
        <p:spPr>
          <a:xfrm>
            <a:off x="57607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9"/>
          <p:cNvSpPr>
            <a:spLocks noGrp="1"/>
          </p:cNvSpPr>
          <p:nvPr>
            <p:ph type="pic" idx="4"/>
          </p:nvPr>
        </p:nvSpPr>
        <p:spPr>
          <a:xfrm>
            <a:off x="784555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9"/>
          <p:cNvSpPr/>
          <p:nvPr/>
        </p:nvSpPr>
        <p:spPr>
          <a:xfrm>
            <a:off x="1540857" y="876618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9"/>
          <p:cNvSpPr txBox="1">
            <a:spLocks noGrp="1"/>
          </p:cNvSpPr>
          <p:nvPr>
            <p:ph type="title"/>
          </p:nvPr>
        </p:nvSpPr>
        <p:spPr>
          <a:xfrm>
            <a:off x="1732881" y="721106"/>
            <a:ext cx="91002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>
            <a:spLocks noGrp="1"/>
          </p:cNvSpPr>
          <p:nvPr>
            <p:ph type="pic" idx="5"/>
          </p:nvPr>
        </p:nvSpPr>
        <p:spPr>
          <a:xfrm>
            <a:off x="299923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9"/>
          <p:cNvSpPr>
            <a:spLocks noGrp="1"/>
          </p:cNvSpPr>
          <p:nvPr>
            <p:ph type="pic" idx="6"/>
          </p:nvPr>
        </p:nvSpPr>
        <p:spPr>
          <a:xfrm>
            <a:off x="1026871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body" idx="1"/>
          </p:nvPr>
        </p:nvSpPr>
        <p:spPr>
          <a:xfrm>
            <a:off x="5431536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body" idx="7"/>
          </p:nvPr>
        </p:nvSpPr>
        <p:spPr>
          <a:xfrm>
            <a:off x="7845552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body" idx="8"/>
          </p:nvPr>
        </p:nvSpPr>
        <p:spPr>
          <a:xfrm>
            <a:off x="10268712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body" idx="9"/>
          </p:nvPr>
        </p:nvSpPr>
        <p:spPr>
          <a:xfrm>
            <a:off x="594360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body" idx="13"/>
          </p:nvPr>
        </p:nvSpPr>
        <p:spPr>
          <a:xfrm>
            <a:off x="3008376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/>
          <p:nvPr/>
        </p:nvSpPr>
        <p:spPr>
          <a:xfrm>
            <a:off x="1512865" y="786384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1640881" y="503825"/>
            <a:ext cx="92589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body" idx="1"/>
          </p:nvPr>
        </p:nvSpPr>
        <p:spPr>
          <a:xfrm>
            <a:off x="466343" y="2270703"/>
            <a:ext cx="55053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body" idx="2"/>
          </p:nvPr>
        </p:nvSpPr>
        <p:spPr>
          <a:xfrm>
            <a:off x="466344" y="3103104"/>
            <a:ext cx="55053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body" idx="3"/>
          </p:nvPr>
        </p:nvSpPr>
        <p:spPr>
          <a:xfrm>
            <a:off x="6220409" y="2256140"/>
            <a:ext cx="55053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body" idx="4"/>
          </p:nvPr>
        </p:nvSpPr>
        <p:spPr>
          <a:xfrm>
            <a:off x="6220409" y="3103104"/>
            <a:ext cx="55053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 3 column">
  <p:cSld name="Comparison 3 colum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1"/>
          <p:cNvSpPr/>
          <p:nvPr/>
        </p:nvSpPr>
        <p:spPr>
          <a:xfrm>
            <a:off x="1493520" y="786384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1"/>
          <p:cNvSpPr txBox="1">
            <a:spLocks noGrp="1"/>
          </p:cNvSpPr>
          <p:nvPr>
            <p:ph type="title"/>
          </p:nvPr>
        </p:nvSpPr>
        <p:spPr>
          <a:xfrm>
            <a:off x="1557528" y="548640"/>
            <a:ext cx="99564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1"/>
          </p:nvPr>
        </p:nvSpPr>
        <p:spPr>
          <a:xfrm>
            <a:off x="57607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body" idx="2"/>
          </p:nvPr>
        </p:nvSpPr>
        <p:spPr>
          <a:xfrm>
            <a:off x="576072" y="3203688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body" idx="3"/>
          </p:nvPr>
        </p:nvSpPr>
        <p:spPr>
          <a:xfrm>
            <a:off x="450799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body" idx="4"/>
          </p:nvPr>
        </p:nvSpPr>
        <p:spPr>
          <a:xfrm>
            <a:off x="4507992" y="3203687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11"/>
          <p:cNvSpPr txBox="1">
            <a:spLocks noGrp="1"/>
          </p:cNvSpPr>
          <p:nvPr>
            <p:ph type="body" idx="5"/>
          </p:nvPr>
        </p:nvSpPr>
        <p:spPr>
          <a:xfrm>
            <a:off x="843991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5" name="Google Shape;95;p11"/>
          <p:cNvSpPr txBox="1">
            <a:spLocks noGrp="1"/>
          </p:cNvSpPr>
          <p:nvPr>
            <p:ph type="body" idx="6"/>
          </p:nvPr>
        </p:nvSpPr>
        <p:spPr>
          <a:xfrm>
            <a:off x="8439912" y="3203687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3 pictures">
  <p:cSld name="Title and Content with 3 pictures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"/>
          <p:cNvSpPr txBox="1">
            <a:spLocks noGrp="1"/>
          </p:cNvSpPr>
          <p:nvPr>
            <p:ph type="title"/>
          </p:nvPr>
        </p:nvSpPr>
        <p:spPr>
          <a:xfrm>
            <a:off x="841248" y="978408"/>
            <a:ext cx="40599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2"/>
          <p:cNvSpPr txBox="1">
            <a:spLocks noGrp="1"/>
          </p:cNvSpPr>
          <p:nvPr>
            <p:ph type="body" idx="1"/>
          </p:nvPr>
        </p:nvSpPr>
        <p:spPr>
          <a:xfrm>
            <a:off x="841248" y="2359152"/>
            <a:ext cx="40599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2"/>
          <p:cNvSpPr>
            <a:spLocks noGrp="1"/>
          </p:cNvSpPr>
          <p:nvPr>
            <p:ph type="pic" idx="2"/>
          </p:nvPr>
        </p:nvSpPr>
        <p:spPr>
          <a:xfrm>
            <a:off x="8961120" y="566928"/>
            <a:ext cx="2871300" cy="23409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12"/>
          <p:cNvSpPr>
            <a:spLocks noGrp="1"/>
          </p:cNvSpPr>
          <p:nvPr>
            <p:ph type="pic" idx="3"/>
          </p:nvPr>
        </p:nvSpPr>
        <p:spPr>
          <a:xfrm>
            <a:off x="5843016" y="566928"/>
            <a:ext cx="2871300" cy="23409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12"/>
          <p:cNvSpPr/>
          <p:nvPr/>
        </p:nvSpPr>
        <p:spPr>
          <a:xfrm>
            <a:off x="345567" y="1170432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2"/>
          <p:cNvSpPr/>
          <p:nvPr/>
        </p:nvSpPr>
        <p:spPr>
          <a:xfrm>
            <a:off x="877459" y="2121408"/>
            <a:ext cx="39588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2"/>
          <p:cNvSpPr>
            <a:spLocks noGrp="1"/>
          </p:cNvSpPr>
          <p:nvPr>
            <p:ph type="pic" idx="4"/>
          </p:nvPr>
        </p:nvSpPr>
        <p:spPr>
          <a:xfrm>
            <a:off x="5843016" y="3108960"/>
            <a:ext cx="5989200" cy="30540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12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/>
          <p:nvPr/>
        </p:nvSpPr>
        <p:spPr>
          <a:xfrm>
            <a:off x="609084" y="2971798"/>
            <a:ext cx="1281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/>
          </p:nvPr>
        </p:nvSpPr>
        <p:spPr>
          <a:xfrm>
            <a:off x="1078992" y="1938528"/>
            <a:ext cx="10177200" cy="29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400"/>
              <a:buFont typeface="Quattrocento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/>
          <p:nvPr/>
        </p:nvSpPr>
        <p:spPr>
          <a:xfrm>
            <a:off x="498834" y="1618375"/>
            <a:ext cx="146400" cy="82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>
            <a:spLocks noGrp="1"/>
          </p:cNvSpPr>
          <p:nvPr>
            <p:ph type="title"/>
          </p:nvPr>
        </p:nvSpPr>
        <p:spPr>
          <a:xfrm>
            <a:off x="868680" y="1362456"/>
            <a:ext cx="3099900" cy="15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400"/>
              <a:buFont typeface="Quattrocento Sans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5"/>
          <p:cNvSpPr txBox="1">
            <a:spLocks noGrp="1"/>
          </p:cNvSpPr>
          <p:nvPr>
            <p:ph type="body" idx="1"/>
          </p:nvPr>
        </p:nvSpPr>
        <p:spPr>
          <a:xfrm>
            <a:off x="4965192" y="1162033"/>
            <a:ext cx="6729900" cy="46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2"/>
          </p:nvPr>
        </p:nvSpPr>
        <p:spPr>
          <a:xfrm>
            <a:off x="868680" y="3013788"/>
            <a:ext cx="3099900" cy="24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6" name="Google Shape;11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/>
          <p:nvPr/>
        </p:nvSpPr>
        <p:spPr>
          <a:xfrm>
            <a:off x="498834" y="1618375"/>
            <a:ext cx="146400" cy="82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868680" y="1709928"/>
            <a:ext cx="3099900" cy="17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400"/>
              <a:buFont typeface="Quattrocento Sans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6"/>
          <p:cNvSpPr>
            <a:spLocks noGrp="1"/>
          </p:cNvSpPr>
          <p:nvPr>
            <p:ph type="pic" idx="2"/>
          </p:nvPr>
        </p:nvSpPr>
        <p:spPr>
          <a:xfrm>
            <a:off x="4965192" y="1161288"/>
            <a:ext cx="6729900" cy="46452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16"/>
          <p:cNvSpPr txBox="1">
            <a:spLocks noGrp="1"/>
          </p:cNvSpPr>
          <p:nvPr>
            <p:ph type="body" idx="1"/>
          </p:nvPr>
        </p:nvSpPr>
        <p:spPr>
          <a:xfrm>
            <a:off x="868680" y="3438144"/>
            <a:ext cx="30999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png"/><Relationship Id="rId18" Type="http://schemas.openxmlformats.org/officeDocument/2006/relationships/image" Target="../media/image2.gif"/><Relationship Id="rId1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7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839755"/>
            <a:ext cx="10515600" cy="8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400"/>
              <a:buFont typeface="Roboto Medium"/>
              <a:buNone/>
              <a:defRPr sz="4400" i="0" u="none" strike="noStrike" cap="none">
                <a:solidFill>
                  <a:srgbClr val="0033CC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•"/>
              <a:defRPr sz="2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810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55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sz="2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 dirty="0"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0455475" y="93557"/>
            <a:ext cx="16573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D03A71-DF26-4778-ACBE-93DEA04DFDA4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79175" y="93557"/>
            <a:ext cx="1275386" cy="7239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-closing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mailto:phuc@lhu.edu.vn" TargetMode="External"/><Relationship Id="rId7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-closing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6"/>
          <p:cNvSpPr txBox="1">
            <a:spLocks noGrp="1"/>
          </p:cNvSpPr>
          <p:nvPr>
            <p:ph type="title"/>
          </p:nvPr>
        </p:nvSpPr>
        <p:spPr>
          <a:xfrm>
            <a:off x="7772400" y="978408"/>
            <a:ext cx="3721608" cy="1106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</a:pPr>
            <a:r>
              <a:rPr lang="en-US"/>
              <a:t>Thank you</a:t>
            </a:r>
            <a:endParaRPr/>
          </a:p>
        </p:txBody>
      </p:sp>
      <p:pic>
        <p:nvPicPr>
          <p:cNvPr id="205" name="Google Shape;205;p26" descr="woman writing on a dry erase board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59" r="59"/>
          <a:stretch/>
        </p:blipFill>
        <p:spPr>
          <a:xfrm>
            <a:off x="895522" y="859155"/>
            <a:ext cx="6016834" cy="4910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6" descr="User"/>
          <p:cNvPicPr preferRelativeResize="0">
            <a:picLocks noGrp="1"/>
          </p:cNvPicPr>
          <p:nvPr>
            <p:ph type="pic" idx="5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7772400" y="253288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6"/>
          <p:cNvSpPr txBox="1">
            <a:spLocks noGrp="1"/>
          </p:cNvSpPr>
          <p:nvPr>
            <p:ph type="body" idx="1"/>
          </p:nvPr>
        </p:nvSpPr>
        <p:spPr>
          <a:xfrm>
            <a:off x="7772400" y="3099816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>ThS. Nguyễn Minh Phúc</a:t>
            </a:r>
            <a:endParaRPr/>
          </a:p>
        </p:txBody>
      </p:sp>
      <p:pic>
        <p:nvPicPr>
          <p:cNvPr id="208" name="Google Shape;208;p26" descr="Envelope"/>
          <p:cNvPicPr preferRelativeResize="0">
            <a:picLocks noGrp="1"/>
          </p:cNvPicPr>
          <p:nvPr>
            <p:ph type="pic" idx="6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7772400" y="363016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6"/>
          <p:cNvSpPr txBox="1">
            <a:spLocks noGrp="1"/>
          </p:cNvSpPr>
          <p:nvPr>
            <p:ph type="body" idx="3"/>
          </p:nvPr>
        </p:nvSpPr>
        <p:spPr>
          <a:xfrm>
            <a:off x="7772400" y="4215384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>
                <a:hlinkClick r:id="rId6"/>
              </a:rPr>
              <a:t>phuc@lhu.edu.vn</a:t>
            </a:r>
            <a:endParaRPr/>
          </a:p>
        </p:txBody>
      </p:sp>
      <p:pic>
        <p:nvPicPr>
          <p:cNvPr id="210" name="Google Shape;210;p26" descr="Monitor"/>
          <p:cNvPicPr preferRelativeResize="0">
            <a:picLocks noGrp="1"/>
          </p:cNvPicPr>
          <p:nvPr>
            <p:ph type="pic" idx="7"/>
          </p:nvPr>
        </p:nvPicPr>
        <p:blipFill rotWithShape="1">
          <a:blip r:embed="rId7">
            <a:alphaModFix/>
          </a:blip>
          <a:srcRect/>
          <a:stretch/>
        </p:blipFill>
        <p:spPr>
          <a:xfrm>
            <a:off x="7772400" y="47548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6"/>
          <p:cNvSpPr txBox="1">
            <a:spLocks noGrp="1"/>
          </p:cNvSpPr>
          <p:nvPr>
            <p:ph type="body" idx="4"/>
          </p:nvPr>
        </p:nvSpPr>
        <p:spPr>
          <a:xfrm>
            <a:off x="7772400" y="5321808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>lhu.edu.vn</a:t>
            </a:r>
            <a:endParaRPr/>
          </a:p>
        </p:txBody>
      </p:sp>
      <p:sp>
        <p:nvSpPr>
          <p:cNvPr id="212" name="Google Shape;212;p26"/>
          <p:cNvSpPr txBox="1">
            <a:spLocks noGrp="1"/>
          </p:cNvSpPr>
          <p:nvPr>
            <p:ph type="dt" idx="10"/>
          </p:nvPr>
        </p:nvSpPr>
        <p:spPr>
          <a:xfrm>
            <a:off x="90525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Học kỳ 6 • 2026</a:t>
            </a:r>
            <a:endParaRPr/>
          </a:p>
        </p:txBody>
      </p:sp>
      <p:sp>
        <p:nvSpPr>
          <p:cNvPr id="213" name="Google Shape;21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Lập trình ứng dụng di động (111114)</a:t>
            </a:r>
            <a:endParaRPr/>
          </a:p>
        </p:txBody>
      </p:sp>
      <p:sp>
        <p:nvSpPr>
          <p:cNvPr id="214" name="Google Shape;214;p26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/>
              <a:t>Bài 08: Tính năng thiết bị: Camera, Ảnh, Vị trí &amp; Bản đồ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/>
              <a:t>Lập trình ứng dụng di động (111114)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87168" y="4892040"/>
            <a:ext cx="7223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i="1">
                <a:solidFill>
                  <a:srgbClr val="6C757D"/>
                </a:solidFill>
              </a:rPr>
              <a:t>Những gì ứng dụng di động làm tốt hơn web 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08: Tính năng thiết bị: Camera, Ảnh, Vị trí &amp; Bản đồ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Xin và xử lý quyền truy cập thiết bị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Chụp/chọn ảnh, nén ảnh, tải ảnh lên NestJS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Lấy vị trí hiện tại, hiển thị bản đồ và tính khoảng cách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Phân biệt Expo Go và development build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Mục tiêu buổi học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08: Tính năng thiết bị: Camera, Ảnh, Vị trí &amp; Bản đồ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Chụp ảnh, biết bạn đang ở đâu, chỉ đường tới quầy gần nhất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Nhưng điện thoại sẽ hỏi: "Cho phép LHU Food truy cập camera?"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Người dùng bấm "Từ chối" thì sao?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Câu hỏi mở đầu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08: Tính năng thiết bị: Camera, Ảnh, Vị trí &amp; Bản đồ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571500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200"/>
              <a:t>Camera, ảnh, vị trí là dữ liệu riêng tư</a:t>
            </a:r>
          </a:p>
          <a:p>
            <a:pPr>
              <a:spcBef>
                <a:spcPts val="400"/>
              </a:spcBef>
              <a:buChar char="❖"/>
            </a:pPr>
            <a:r>
              <a:rPr b="1" sz="2200"/>
              <a:t>Xin đúng lúc</a:t>
            </a:r>
            <a:r>
              <a:rPr sz="2200"/>
              <a:t>: khi người dùng bấm chức năng cần quyền</a:t>
            </a:r>
          </a:p>
          <a:p>
            <a:pPr>
              <a:spcBef>
                <a:spcPts val="400"/>
              </a:spcBef>
              <a:buChar char="❖"/>
            </a:pPr>
            <a:r>
              <a:rPr b="1" sz="2200"/>
              <a:t>Giải thích trước</a:t>
            </a:r>
            <a:r>
              <a:rPr sz="2200"/>
              <a:t> vì sao cần quyền</a:t>
            </a:r>
          </a:p>
          <a:p>
            <a:pPr>
              <a:spcBef>
                <a:spcPts val="400"/>
              </a:spcBef>
              <a:buChar char="❖"/>
            </a:pPr>
            <a:r>
              <a:rPr b="1" sz="2200"/>
              <a:t>Xử lý từ chối</a:t>
            </a:r>
            <a:r>
              <a:rPr sz="2200"/>
              <a:t>: app vẫn chạy, hướng dẫn mở Cài đặt</a:t>
            </a:r>
          </a:p>
          <a:p>
            <a:pPr marL="0" indent="0">
              <a:spcBef>
                <a:spcPts val="800"/>
              </a:spcBef>
              <a:buNone/>
            </a:pPr>
            <a:r>
              <a:rPr b="1" sz="2200">
                <a:solidFill>
                  <a:srgbClr val="0033CC"/>
                </a:solidFill>
              </a:rPr>
              <a:t>Hoạt động</a:t>
            </a:r>
            <a:r>
              <a:rPr sz="2200">
                <a:solidFill>
                  <a:srgbClr val="0033CC"/>
                </a:solidFill>
              </a:rPr>
              <a:t>: Hỏi lớp: ứng dụng nào từng xin quyền khiến bạn khó chịu?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Quyền truy cập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08-xin-quy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603" y="1097280"/>
            <a:ext cx="5119914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08: Tính năng thiết bị: Camera, Ảnh, Vị trí &amp; Bản đồ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8026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Lời giải thích quyền khai báo trong </a:t>
            </a:r>
            <a:r>
              <a:rPr sz="2600">
                <a:latin typeface="Consolas"/>
              </a:rPr>
              <a:t>app.json</a:t>
            </a:r>
            <a:r>
              <a:rPr sz="2600"/>
              <a:t> (plugin của thư viện)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Xin quyền camera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79" y="1991359"/>
            <a:ext cx="11338560" cy="1417320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const { status, canAskAgain } = await ImagePicker.requestCameraPermissionsAsync();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if (status !== 'granted') {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// canAskAgain = false → hướng dẫn Linking.openSettings()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08: Tính năng thiết bị: Camera, Ảnh, Vị trí &amp; Bản đồ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8026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>
                <a:latin typeface="Consolas"/>
              </a:rPr>
              <a:t>quality</a:t>
            </a:r>
            <a:r>
              <a:rPr sz="2600"/>
              <a:t> và cắt vuông giúp ảnh nhỏ, tải lên nhanh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Chụp hoặc chọn ảnh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79" y="1991359"/>
            <a:ext cx="11338560" cy="1544320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const options = { mediaTypes: ['images'], allowsEditing: true, aspect: [1, 1], quality: 0.6 };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const result = fromCamera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? await ImagePicker.launchCameraAsync(options)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: await ImagePicker.launchImageLibraryAsync(options);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if (!result.canceled) await uploadAvatar(result.assets[0].uri);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08: Tính năng thiết bị: Camera, Ảnh, Vị trí &amp; Bản đồ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8026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b="1" sz="2600"/>
              <a:t>Không</a:t>
            </a:r>
            <a:r>
              <a:rPr sz="2600"/>
              <a:t> tự đặt Content-Type: fetch tự thêm boundary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Tải ảnh lên server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79" y="1991359"/>
            <a:ext cx="11338560" cy="1703070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const form = new FormData();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form.append('file', { uri, name: 'avatar.jpg', type: 'image/jpeg' } as any);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await fetch(`${API_URL}/users/me/avatar`, {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method: 'POST', body: form, headers: { Authorization: `Bearer ${token}` },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});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08: Tính năng thiết bị: Camera, Ảnh, Vị trí &amp; Bản đồ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571500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400">
                <a:latin typeface="Consolas"/>
              </a:rPr>
              <a:t>FileInterceptor('file')</a:t>
            </a:r>
            <a:r>
              <a:rPr sz="2400"/>
              <a:t> (Multer): giới hạn 2 MB, chỉ JPEG/PNG</a:t>
            </a:r>
          </a:p>
          <a:p>
            <a:pPr>
              <a:spcBef>
                <a:spcPts val="400"/>
              </a:spcBef>
              <a:buChar char="❖"/>
            </a:pPr>
            <a:r>
              <a:rPr sz="2400"/>
              <a:t>Server tự đặt tên file: mã người dùng + thời điểm</a:t>
            </a:r>
          </a:p>
          <a:p>
            <a:pPr>
              <a:spcBef>
                <a:spcPts val="400"/>
              </a:spcBef>
              <a:buChar char="❖"/>
            </a:pPr>
            <a:r>
              <a:rPr sz="2400"/>
              <a:t>Lưu file vào </a:t>
            </a:r>
            <a:r>
              <a:rPr sz="2400">
                <a:latin typeface="Consolas"/>
              </a:rPr>
              <a:t>uploads/</a:t>
            </a:r>
            <a:r>
              <a:rPr sz="2400"/>
              <a:t>, SQL Server </a:t>
            </a:r>
            <a:r>
              <a:rPr b="1" sz="2400"/>
              <a:t>chỉ lưu đường dẫn</a:t>
            </a:r>
            <a:r>
              <a:rPr sz="2400"/>
              <a:t> qua </a:t>
            </a:r>
            <a:r>
              <a:rPr sz="2400">
                <a:latin typeface="Consolas"/>
              </a:rPr>
              <a:t>sp_User_UpdateAvatar</a:t>
            </a:r>
          </a:p>
          <a:p>
            <a:pPr>
              <a:spcBef>
                <a:spcPts val="400"/>
              </a:spcBef>
              <a:buChar char="❖"/>
            </a:pPr>
            <a:r>
              <a:rPr sz="2400"/>
              <a:t>Phục vụ file tĩnh bằng </a:t>
            </a:r>
            <a:r>
              <a:rPr sz="2400">
                <a:latin typeface="Consolas"/>
              </a:rPr>
              <a:t>useStaticAssets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NestJS nhận file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08-tai-an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603" y="1097280"/>
            <a:ext cx="5119914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08: Tính năng thiết bị: Camera, Ảnh, Vị trí &amp; Bản đồ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133096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Chỉ xin quyền </a:t>
            </a:r>
            <a:r>
              <a:rPr b="1" sz="2600"/>
              <a:t>khi dùng ứng dụng</a:t>
            </a:r>
            <a:r>
              <a:rPr sz="2600"/>
              <a:t> (foreground)</a:t>
            </a:r>
          </a:p>
          <a:p>
            <a:pPr>
              <a:spcBef>
                <a:spcPts val="400"/>
              </a:spcBef>
              <a:buChar char="❖"/>
            </a:pPr>
            <a:r>
              <a:rPr sz="2600">
                <a:latin typeface="Consolas"/>
              </a:rPr>
              <a:t>Balanced</a:t>
            </a:r>
            <a:r>
              <a:rPr sz="2600"/>
              <a:t> đủ cho khuôn viên, tiết kiệm pin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Vị trí hiện tại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79" y="2519680"/>
            <a:ext cx="11338560" cy="1290320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const { status } = await Location.requestForegroundPermissionsAsync();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if (status === 'granted') {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const pos = await Location.getCurrentPositionAsync({ accuracy: Location.Accuracy.Balanced });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08: Tính năng thiết bị: Camera, Ảnh, Vị trí &amp; Bản đồ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133096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Tọa độ quầy lấy từ bảng Counters qua API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Khoảng cách: công thức Haversine → sắp xếp quầy gần nhất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Bản đồ quầy căn tin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79" y="2519680"/>
            <a:ext cx="11338560" cy="1544320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&lt;MapView style={{ flex: 1 }} showsUserLocation initialRegion={region}&gt;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{counters.map((c) =&gt; (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  &lt;Marker key={c.id} coordinate={{ latitude: c.lat, longitude: c.lng }} title={c.name} /&gt;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))}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&lt;/MapView&gt;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08: Tính năng thiết bị: Camera, Ảnh, Vị trí &amp; Bản đồ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571500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b="1" sz="2600"/>
              <a:t>Expo Go</a:t>
            </a:r>
            <a:r>
              <a:rPr sz="2600"/>
              <a:t>: thư viện thuộc Expo SDK (image-picker, location, maps…)</a:t>
            </a:r>
          </a:p>
          <a:p>
            <a:pPr>
              <a:spcBef>
                <a:spcPts val="400"/>
              </a:spcBef>
              <a:buChar char="❖"/>
            </a:pPr>
            <a:r>
              <a:rPr b="1" sz="2600"/>
              <a:t>Development build</a:t>
            </a:r>
            <a:r>
              <a:rPr sz="2600"/>
              <a:t>: thư viện native ngoài SDK, push từ xa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Development build tốn một lượt build EAS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Bản cài đặt dùng Google Maps cần API key trong </a:t>
            </a:r>
            <a:r>
              <a:rPr sz="2600">
                <a:latin typeface="Consolas"/>
              </a:rPr>
              <a:t>app.json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Expo Go hay development build?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08-expo-go-dev-bu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603" y="1097280"/>
            <a:ext cx="5119914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08: Tính năng thiết bị: Camera, Ảnh, Vị trí &amp; Bản đồ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Cột AvatarUrl, sp_User_UpdateAvatar, endpoint upload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Đổi ảnh đại diện: chụp hoặc chọn → cắt vuông → tải lên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Thử từ chối quyền: app không treo, có hướng dẫn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Bảng Counters, màn hình Bản đồ, sắp xếp theo khoảng cách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Thực hành có hướng dẫn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08: Tính năng thiết bị: Camera, Ảnh, Vị trí &amp; Bản đồ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b="1" sz="2600"/>
              <a:t>Cá nhân</a:t>
            </a:r>
            <a:r>
              <a:rPr sz="2600"/>
              <a:t>: Báo cáo sự cố (ảnh + vị trí + mô tả → sp_Incident_Create)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Từ chối quyền vẫn gửi được; ảnh &gt; 2 MB bị từ chối có thông báo rõ</a:t>
            </a:r>
          </a:p>
          <a:p>
            <a:pPr>
              <a:spcBef>
                <a:spcPts val="400"/>
              </a:spcBef>
              <a:buChar char="❖"/>
            </a:pPr>
            <a:r>
              <a:rPr b="1" sz="2600"/>
              <a:t>Nhóm</a:t>
            </a:r>
            <a:r>
              <a:rPr sz="2600"/>
              <a:t>: ít nhất 1 tính năng thiết bị có ý nghĩa với đề tài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README: quyền gì, xin lúc nào, xử lý khi bị từ chối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Thực hành không hướng dẫn &amp; thử thách nhóm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08: Tính năng thiết bị: Camera, Ảnh, Vị trí &amp; Bản đồ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Xin quyền đúng lúc, giải thích, xử lý khi bị từ chối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Ảnh: nén, tải bằng FormData, server lưu file, CSDL lưu đường dẫn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Vị trí khi dùng ứng dụng; bản đồ lấy dữ liệu từ API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Ưu tiên thư viện Expo SDK để dùng Expo Go</a:t>
            </a:r>
          </a:p>
          <a:p>
            <a:pPr marL="0" indent="0">
              <a:spcBef>
                <a:spcPts val="800"/>
              </a:spcBef>
              <a:buNone/>
            </a:pPr>
            <a:r>
              <a:rPr b="1" sz="2600">
                <a:solidFill>
                  <a:srgbClr val="0033CC"/>
                </a:solidFill>
              </a:rPr>
              <a:t>Hoạt động</a:t>
            </a:r>
            <a:r>
              <a:rPr sz="2600">
                <a:solidFill>
                  <a:srgbClr val="0033CC"/>
                </a:solidFill>
              </a:rPr>
              <a:t>: Làm quiz Bài 08 ở cuối trang bài học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Tóm tắt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08: Tính năng thiết bị: Camera, Ảnh, Vị trí &amp; Bản đồ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 marL="0" indent="0">
              <a:spcBef>
                <a:spcPts val="400"/>
              </a:spcBef>
              <a:buNone/>
            </a:pPr>
            <a:r>
              <a:rPr b="1" sz="2600">
                <a:solidFill>
                  <a:srgbClr val="0033CC"/>
                </a:solidFill>
              </a:rPr>
              <a:t>Đọc thêm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Giáo trình nội bộ, Chương 8: Tính năng thiết bị: Camera, Ảnh, Vị trí và Bản đồ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Bài tập hướng dẫn theo dự án LHU Food (cuối Chương 8)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SRS LHU Food: mục 5.7 (M06), 5.8 (F07.2, F07.4), BR-12, BR-13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Tài liệu của buổi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rgbClr val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</Words>
  <Application>Microsoft Office PowerPoint</Application>
  <PresentationFormat>Widescreen</PresentationFormat>
  <Paragraphs>24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Avenir</vt:lpstr>
      <vt:lpstr>Roboto Black</vt:lpstr>
      <vt:lpstr>Quattrocento Sans</vt:lpstr>
      <vt:lpstr>Roboto</vt:lpstr>
      <vt:lpstr>Calibri</vt:lpstr>
      <vt:lpstr>Roboto Medium</vt:lpstr>
      <vt:lpstr>AccentBoxVTI</vt:lpstr>
      <vt:lpstr>LẬP TRÌNH  HƯỚNG ĐỐI TƯỢNG</vt:lpstr>
      <vt:lpstr>Repository Pattern</vt:lpstr>
      <vt:lpstr>Repository Pattern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NGUYEN MINH PHUC</cp:lastModifiedBy>
  <cp:revision>1</cp:revision>
  <dcterms:modified xsi:type="dcterms:W3CDTF">2026-10-31T01:21:49Z</dcterms:modified>
</cp:coreProperties>
</file>