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-closing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3" r:id="rId1"/>
  </p:sldMasterIdLst>
  <p:notesMasterIdLst>
    <p:notesMasterId r:id="rId6"/>
  </p:notesMasterIdLst>
  <p:sldIdLst>
    <p:sldId id="266" r:id="rId4"/>
    <p:sldId id="267" r:id="rId3"/>
    <p:sldId id="268" r:id="rId2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65" r:id="rId5"/>
  </p:sldIdLst>
  <p:sldSz cx="12192000" cy="6858000"/>
  <p:notesSz cx="6858000" cy="9144000"/>
  <p:embeddedFontLst>
    <p:embeddedFont>
      <p:font typeface="Quattrocento Sans" panose="020B0502050000020003" pitchFamily="34" charset="0"/>
      <p:regular r:id="rId7"/>
      <p:bold r:id="rId8"/>
      <p:italic r:id="rId9"/>
      <p:boldItalic r:id="rId10"/>
    </p:embeddedFont>
    <p:embeddedFont>
      <p:font typeface="Roboto" panose="02000000000000000000" pitchFamily="2" charset="0"/>
      <p:regular r:id="rId11"/>
      <p:bold r:id="rId12"/>
      <p:italic r:id="rId13"/>
      <p:boldItalic r:id="rId14"/>
    </p:embeddedFont>
    <p:embeddedFont>
      <p:font typeface="Roboto Black" panose="02000000000000000000" pitchFamily="2" charset="0"/>
      <p:bold r:id="rId15"/>
      <p:boldItalic r:id="rId16"/>
    </p:embeddedFont>
    <p:embeddedFont>
      <p:font typeface="Roboto Medium" panose="020000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360">
          <p15:clr>
            <a:srgbClr val="A4A3A4"/>
          </p15:clr>
        </p15:guide>
        <p15:guide id="2" pos="7392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>
        <p:guide pos="360"/>
        <p:guide pos="7392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-closing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font" Target="fonts/font9.fntdata"/><Relationship Id="rId16" Type="http://schemas.openxmlformats.org/officeDocument/2006/relationships/font" Target="fonts/font10.fntdata"/><Relationship Id="rId17" Type="http://schemas.openxmlformats.org/officeDocument/2006/relationships/font" Target="fonts/font11.fntdata"/><Relationship Id="rId18" Type="http://schemas.openxmlformats.org/officeDocument/2006/relationships/font" Target="fonts/font12.fntdata"/><Relationship Id="rId19" Type="http://schemas.openxmlformats.org/officeDocument/2006/relationships/font" Target="fonts/font13.fntdata"/><Relationship Id="rId20" Type="http://schemas.openxmlformats.org/officeDocument/2006/relationships/font" Target="fonts/font14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5.xml"/><Relationship Id="rId26" Type="http://schemas.openxmlformats.org/officeDocument/2006/relationships/slide" Target="slides/slide6.xml"/><Relationship Id="rId27" Type="http://schemas.openxmlformats.org/officeDocument/2006/relationships/slide" Target="slides/slide7.xml"/><Relationship Id="rId28" Type="http://schemas.openxmlformats.org/officeDocument/2006/relationships/slide" Target="slides/slide8.xml"/><Relationship Id="rId29" Type="http://schemas.openxmlformats.org/officeDocument/2006/relationships/slide" Target="slides/slide9.xml"/><Relationship Id="rId30" Type="http://schemas.openxmlformats.org/officeDocument/2006/relationships/slide" Target="slides/slide10.xml"/><Relationship Id="rId31" Type="http://schemas.openxmlformats.org/officeDocument/2006/relationships/slide" Target="slides/slide11.xml"/><Relationship Id="rId32" Type="http://schemas.openxmlformats.org/officeDocument/2006/relationships/slide" Target="slides/slide12.xml"/><Relationship Id="rId33" Type="http://schemas.openxmlformats.org/officeDocument/2006/relationships/slide" Target="slides/slide13.xml"/><Relationship Id="rId34" Type="http://schemas.openxmlformats.org/officeDocument/2006/relationships/slide" Target="slides/slide14.xml"/><Relationship Id="rId35" Type="http://schemas.openxmlformats.org/officeDocument/2006/relationships/slide" Target="slides/slide15.xml"/><Relationship Id="rId36" Type="http://schemas.openxmlformats.org/officeDocument/2006/relationships/slide" Target="slides/slide16.xml"/><Relationship Id="rId37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-closing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 tiết lý thuyết, 4 tiết thực hành. CLO1, CLO2, CLO3.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 bằng hai cửa sổ SSMS cùng đặt suất cuối.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801368" y="1664208"/>
            <a:ext cx="8586300" cy="21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6600"/>
              <a:buFont typeface="Roboto Black"/>
              <a:buNone/>
              <a:defRPr sz="6600" b="0">
                <a:latin typeface="Roboto Black"/>
                <a:ea typeface="Roboto Black"/>
                <a:cs typeface="Roboto Black"/>
                <a:sym typeface="Roboto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Roboto Black"/>
              <a:buNone/>
              <a:defRPr>
                <a:latin typeface="Roboto Black"/>
                <a:ea typeface="Roboto Black"/>
                <a:cs typeface="Roboto Black"/>
                <a:sym typeface="Roboto Black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2487168" y="4142232"/>
            <a:ext cx="72237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Medium"/>
              <a:buNone/>
              <a:defRPr sz="28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70134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body" idx="1"/>
          </p:nvPr>
        </p:nvSpPr>
        <p:spPr>
          <a:xfrm>
            <a:off x="8613648" y="1938528"/>
            <a:ext cx="2688300" cy="299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609084" y="2965074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 rot="5400000">
            <a:off x="7360671" y="3424440"/>
            <a:ext cx="21030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11409045" y="6333134"/>
            <a:ext cx="731700" cy="525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lvl="2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lvl="3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lvl="4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lvl="5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lvl="6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lvl="7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lvl="8">
              <a:buNone/>
              <a:defRPr sz="13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1780130" y="95350"/>
            <a:ext cx="417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1780125" y="95350"/>
            <a:ext cx="100032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800"/>
              <a:buFont typeface="Quattrocento Sans"/>
              <a:buNone/>
              <a:defRPr sz="3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122350" y="1074775"/>
            <a:ext cx="11976000" cy="45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title" idx="2"/>
          </p:nvPr>
        </p:nvSpPr>
        <p:spPr>
          <a:xfrm>
            <a:off x="2305500" y="498850"/>
            <a:ext cx="81939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2300"/>
              <a:buFont typeface="Quattrocento Sans"/>
              <a:buNone/>
              <a:defRPr sz="2300">
                <a:solidFill>
                  <a:srgbClr val="FF9900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2pPr>
            <a:lvl3pPr lvl="2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3pPr>
            <a:lvl4pPr lvl="3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4pPr>
            <a:lvl5pPr lvl="4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5pPr>
            <a:lvl6pPr lvl="5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6pPr>
            <a:lvl7pPr lvl="6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7pPr>
            <a:lvl8pPr lvl="7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8pPr>
            <a:lvl9pPr lvl="8" rtl="0">
              <a:spcBef>
                <a:spcPts val="0"/>
              </a:spcBef>
              <a:spcAft>
                <a:spcPts val="0"/>
              </a:spcAft>
              <a:buSzPts val="100"/>
              <a:buNone/>
              <a:defRPr sz="300"/>
            </a:lvl9pPr>
          </a:lstStyle>
          <a:p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921650" y="585375"/>
            <a:ext cx="417300" cy="214200"/>
          </a:xfrm>
          <a:prstGeom prst="homePlate">
            <a:avLst>
              <a:gd name="adj" fmla="val 60423"/>
            </a:avLst>
          </a:prstGeom>
          <a:solidFill>
            <a:srgbClr val="0033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4 pictures">
  <p:cSld name="Title and Content with 4 picture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7324344" y="630936"/>
            <a:ext cx="4517100" cy="5496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 w="9525" cap="flat" cmpd="sng">
            <a:solidFill>
              <a:srgbClr val="E8E8E8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38100" dir="2700000" algn="tl" rotWithShape="0">
              <a:srgbClr val="D8D8D8">
                <a:alpha val="29804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5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>
            <a:spLocks noGrp="1"/>
          </p:cNvSpPr>
          <p:nvPr>
            <p:ph type="pic" idx="2"/>
          </p:nvPr>
        </p:nvSpPr>
        <p:spPr>
          <a:xfrm>
            <a:off x="895522" y="859155"/>
            <a:ext cx="6016800" cy="491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" name="Google Shape;35;p5"/>
          <p:cNvSpPr/>
          <p:nvPr/>
        </p:nvSpPr>
        <p:spPr>
          <a:xfrm>
            <a:off x="7260336" y="1179576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7792216" y="2185416"/>
            <a:ext cx="36831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2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>
            <a:spLocks noGrp="1"/>
          </p:cNvSpPr>
          <p:nvPr>
            <p:ph type="pic" idx="5"/>
          </p:nvPr>
        </p:nvSpPr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5"/>
          <p:cNvSpPr>
            <a:spLocks noGrp="1"/>
          </p:cNvSpPr>
          <p:nvPr>
            <p:ph type="pic" idx="6"/>
          </p:nvPr>
        </p:nvSpPr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5"/>
          <p:cNvSpPr>
            <a:spLocks noGrp="1"/>
          </p:cNvSpPr>
          <p:nvPr>
            <p:ph type="pic" idx="7"/>
          </p:nvPr>
        </p:nvSpPr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pictures">
  <p:cSld name="Title and Content with picture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084064" y="889393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5102352" y="2727631"/>
            <a:ext cx="6272700" cy="30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6"/>
          <p:cNvSpPr/>
          <p:nvPr/>
        </p:nvSpPr>
        <p:spPr>
          <a:xfrm rot="5400000">
            <a:off x="5317906" y="363383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5065776" y="2553749"/>
            <a:ext cx="6291000" cy="456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6"/>
          <p:cNvSpPr>
            <a:spLocks noGrp="1"/>
          </p:cNvSpPr>
          <p:nvPr>
            <p:ph type="pic" idx="2"/>
          </p:nvPr>
        </p:nvSpPr>
        <p:spPr>
          <a:xfrm>
            <a:off x="457200" y="895738"/>
            <a:ext cx="4050900" cy="483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2 pictures">
  <p:cSld name="Title and Content with 2 pictures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612648" y="1074888"/>
            <a:ext cx="6272700" cy="153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200"/>
              <a:buFont typeface="Quattrocento Sans"/>
              <a:buNone/>
              <a:defRPr sz="5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612648" y="3009498"/>
            <a:ext cx="62727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5605272" y="6356350"/>
            <a:ext cx="1280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7"/>
          <p:cNvSpPr/>
          <p:nvPr/>
        </p:nvSpPr>
        <p:spPr>
          <a:xfrm rot="5400000">
            <a:off x="850338" y="629660"/>
            <a:ext cx="732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>
            <a:spLocks noGrp="1"/>
          </p:cNvSpPr>
          <p:nvPr>
            <p:ph type="pic" idx="2"/>
          </p:nvPr>
        </p:nvSpPr>
        <p:spPr>
          <a:xfrm>
            <a:off x="7684008" y="3204504"/>
            <a:ext cx="4508100" cy="25056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7"/>
          <p:cNvSpPr>
            <a:spLocks noGrp="1"/>
          </p:cNvSpPr>
          <p:nvPr>
            <p:ph type="pic" idx="3"/>
          </p:nvPr>
        </p:nvSpPr>
        <p:spPr>
          <a:xfrm>
            <a:off x="7680960" y="1074888"/>
            <a:ext cx="4508100" cy="18549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7"/>
          <p:cNvSpPr/>
          <p:nvPr/>
        </p:nvSpPr>
        <p:spPr>
          <a:xfrm>
            <a:off x="612648" y="2801145"/>
            <a:ext cx="6217800" cy="183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title"/>
          </p:nvPr>
        </p:nvSpPr>
        <p:spPr>
          <a:xfrm>
            <a:off x="557784" y="640080"/>
            <a:ext cx="108906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800"/>
              <a:buFont typeface="Quattrocento Sa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498834" y="5118581"/>
            <a:ext cx="146400" cy="54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8"/>
          <p:cNvSpPr txBox="1">
            <a:spLocks noGrp="1"/>
          </p:cNvSpPr>
          <p:nvPr>
            <p:ph type="body" idx="1"/>
          </p:nvPr>
        </p:nvSpPr>
        <p:spPr>
          <a:xfrm>
            <a:off x="841248" y="5102352"/>
            <a:ext cx="9207900" cy="585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9"/>
          <p:cNvSpPr>
            <a:spLocks noGrp="1"/>
          </p:cNvSpPr>
          <p:nvPr>
            <p:ph type="pic" idx="2"/>
          </p:nvPr>
        </p:nvSpPr>
        <p:spPr>
          <a:xfrm>
            <a:off x="542239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9"/>
          <p:cNvSpPr>
            <a:spLocks noGrp="1"/>
          </p:cNvSpPr>
          <p:nvPr>
            <p:ph type="pic" idx="3"/>
          </p:nvPr>
        </p:nvSpPr>
        <p:spPr>
          <a:xfrm>
            <a:off x="57607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7" name="Google Shape;67;p9"/>
          <p:cNvSpPr>
            <a:spLocks noGrp="1"/>
          </p:cNvSpPr>
          <p:nvPr>
            <p:ph type="pic" idx="4"/>
          </p:nvPr>
        </p:nvSpPr>
        <p:spPr>
          <a:xfrm>
            <a:off x="784555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9"/>
          <p:cNvSpPr/>
          <p:nvPr/>
        </p:nvSpPr>
        <p:spPr>
          <a:xfrm>
            <a:off x="1540857" y="876618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9"/>
          <p:cNvSpPr txBox="1">
            <a:spLocks noGrp="1"/>
          </p:cNvSpPr>
          <p:nvPr>
            <p:ph type="title"/>
          </p:nvPr>
        </p:nvSpPr>
        <p:spPr>
          <a:xfrm>
            <a:off x="1732881" y="721106"/>
            <a:ext cx="9100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>
            <a:spLocks noGrp="1"/>
          </p:cNvSpPr>
          <p:nvPr>
            <p:ph type="pic" idx="5"/>
          </p:nvPr>
        </p:nvSpPr>
        <p:spPr>
          <a:xfrm>
            <a:off x="299923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9"/>
          <p:cNvSpPr>
            <a:spLocks noGrp="1"/>
          </p:cNvSpPr>
          <p:nvPr>
            <p:ph type="pic" idx="6"/>
          </p:nvPr>
        </p:nvSpPr>
        <p:spPr>
          <a:xfrm>
            <a:off x="10268712" y="2798064"/>
            <a:ext cx="1463100" cy="1481400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body" idx="1"/>
          </p:nvPr>
        </p:nvSpPr>
        <p:spPr>
          <a:xfrm>
            <a:off x="543153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7"/>
          </p:nvPr>
        </p:nvSpPr>
        <p:spPr>
          <a:xfrm>
            <a:off x="784555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body" idx="8"/>
          </p:nvPr>
        </p:nvSpPr>
        <p:spPr>
          <a:xfrm>
            <a:off x="10268712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9"/>
          <p:cNvSpPr txBox="1">
            <a:spLocks noGrp="1"/>
          </p:cNvSpPr>
          <p:nvPr>
            <p:ph type="body" idx="9"/>
          </p:nvPr>
        </p:nvSpPr>
        <p:spPr>
          <a:xfrm>
            <a:off x="594360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body" idx="13"/>
          </p:nvPr>
        </p:nvSpPr>
        <p:spPr>
          <a:xfrm>
            <a:off x="3008376" y="4489704"/>
            <a:ext cx="14622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marL="914400" lvl="1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/>
          <p:nvPr/>
        </p:nvSpPr>
        <p:spPr>
          <a:xfrm>
            <a:off x="1512865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640881" y="503825"/>
            <a:ext cx="92589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1"/>
          </p:nvPr>
        </p:nvSpPr>
        <p:spPr>
          <a:xfrm>
            <a:off x="466343" y="2270703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2"/>
          </p:nvPr>
        </p:nvSpPr>
        <p:spPr>
          <a:xfrm>
            <a:off x="466344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0"/>
          <p:cNvSpPr txBox="1">
            <a:spLocks noGrp="1"/>
          </p:cNvSpPr>
          <p:nvPr>
            <p:ph type="body" idx="3"/>
          </p:nvPr>
        </p:nvSpPr>
        <p:spPr>
          <a:xfrm>
            <a:off x="6220409" y="2256140"/>
            <a:ext cx="55053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body" idx="4"/>
          </p:nvPr>
        </p:nvSpPr>
        <p:spPr>
          <a:xfrm>
            <a:off x="6220409" y="3103104"/>
            <a:ext cx="55053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5" name="Google Shape;85;p10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column">
  <p:cSld name="Comparison 3 column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1"/>
          <p:cNvSpPr/>
          <p:nvPr/>
        </p:nvSpPr>
        <p:spPr>
          <a:xfrm>
            <a:off x="1493520" y="786384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title"/>
          </p:nvPr>
        </p:nvSpPr>
        <p:spPr>
          <a:xfrm>
            <a:off x="1557528" y="548640"/>
            <a:ext cx="99564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000"/>
              <a:buFont typeface="Quattrocento Sans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1"/>
          </p:nvPr>
        </p:nvSpPr>
        <p:spPr>
          <a:xfrm>
            <a:off x="57607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2"/>
          </p:nvPr>
        </p:nvSpPr>
        <p:spPr>
          <a:xfrm>
            <a:off x="576072" y="3203688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3"/>
          </p:nvPr>
        </p:nvSpPr>
        <p:spPr>
          <a:xfrm>
            <a:off x="450799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4"/>
          </p:nvPr>
        </p:nvSpPr>
        <p:spPr>
          <a:xfrm>
            <a:off x="450799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5"/>
          </p:nvPr>
        </p:nvSpPr>
        <p:spPr>
          <a:xfrm>
            <a:off x="8439912" y="2372650"/>
            <a:ext cx="3291900" cy="8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 cap="none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6"/>
          </p:nvPr>
        </p:nvSpPr>
        <p:spPr>
          <a:xfrm>
            <a:off x="8439912" y="3203687"/>
            <a:ext cx="3291900" cy="2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4pPr>
            <a:lvl5pPr marL="2286000" lvl="4" indent="-3429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3 pictures">
  <p:cSld name="Title and Content with 3 picture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841248" y="978408"/>
            <a:ext cx="4059900" cy="11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  <a:defRPr sz="2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841248" y="2359152"/>
            <a:ext cx="40599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"/>
          <p:cNvSpPr>
            <a:spLocks noGrp="1"/>
          </p:cNvSpPr>
          <p:nvPr>
            <p:ph type="pic" idx="2"/>
          </p:nvPr>
        </p:nvSpPr>
        <p:spPr>
          <a:xfrm>
            <a:off x="8961120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12"/>
          <p:cNvSpPr>
            <a:spLocks noGrp="1"/>
          </p:cNvSpPr>
          <p:nvPr>
            <p:ph type="pic" idx="3"/>
          </p:nvPr>
        </p:nvSpPr>
        <p:spPr>
          <a:xfrm>
            <a:off x="5843016" y="566928"/>
            <a:ext cx="2871300" cy="23409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12"/>
          <p:cNvSpPr/>
          <p:nvPr/>
        </p:nvSpPr>
        <p:spPr>
          <a:xfrm>
            <a:off x="345567" y="1170432"/>
            <a:ext cx="128100" cy="70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2"/>
          <p:cNvSpPr/>
          <p:nvPr/>
        </p:nvSpPr>
        <p:spPr>
          <a:xfrm>
            <a:off x="877459" y="2121408"/>
            <a:ext cx="3958800" cy="900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2"/>
          <p:cNvSpPr>
            <a:spLocks noGrp="1"/>
          </p:cNvSpPr>
          <p:nvPr>
            <p:ph type="pic" idx="4"/>
          </p:nvPr>
        </p:nvSpPr>
        <p:spPr>
          <a:xfrm>
            <a:off x="5843016" y="3108960"/>
            <a:ext cx="5989200" cy="30540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2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/>
          <p:nvPr/>
        </p:nvSpPr>
        <p:spPr>
          <a:xfrm>
            <a:off x="609084" y="2971798"/>
            <a:ext cx="128100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>
            <a:spLocks noGrp="1"/>
          </p:cNvSpPr>
          <p:nvPr>
            <p:ph type="title"/>
          </p:nvPr>
        </p:nvSpPr>
        <p:spPr>
          <a:xfrm>
            <a:off x="1078992" y="1938528"/>
            <a:ext cx="10177200" cy="29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5400"/>
              <a:buFont typeface="Quattrocento Sans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868680" y="1362456"/>
            <a:ext cx="3099900" cy="15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4965192" y="1162033"/>
            <a:ext cx="6729900" cy="46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2pPr>
            <a:lvl3pPr marL="1371600" lvl="2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868680" y="3013788"/>
            <a:ext cx="3099900" cy="24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6"/>
          <p:cNvSpPr/>
          <p:nvPr/>
        </p:nvSpPr>
        <p:spPr>
          <a:xfrm>
            <a:off x="498834" y="1618375"/>
            <a:ext cx="146400" cy="822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venir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>
            <a:spLocks noGrp="1"/>
          </p:cNvSpPr>
          <p:nvPr>
            <p:ph type="title"/>
          </p:nvPr>
        </p:nvSpPr>
        <p:spPr>
          <a:xfrm>
            <a:off x="868680" y="1709928"/>
            <a:ext cx="30999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3400"/>
              <a:buFont typeface="Quattrocento Sans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6"/>
          <p:cNvSpPr>
            <a:spLocks noGrp="1"/>
          </p:cNvSpPr>
          <p:nvPr>
            <p:ph type="pic" idx="2"/>
          </p:nvPr>
        </p:nvSpPr>
        <p:spPr>
          <a:xfrm>
            <a:off x="4965192" y="1161288"/>
            <a:ext cx="6729900" cy="46452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16"/>
          <p:cNvSpPr txBox="1">
            <a:spLocks noGrp="1"/>
          </p:cNvSpPr>
          <p:nvPr>
            <p:ph type="body" idx="1"/>
          </p:nvPr>
        </p:nvSpPr>
        <p:spPr>
          <a:xfrm>
            <a:off x="868680" y="3438144"/>
            <a:ext cx="30999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gif"/><Relationship Id="rId1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839755"/>
            <a:ext cx="10515600" cy="8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4400"/>
              <a:buFont typeface="Roboto Medium"/>
              <a:buNone/>
              <a:defRPr sz="4400" i="0" u="none" strike="noStrike" cap="none">
                <a:solidFill>
                  <a:srgbClr val="0033CC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Char char="•"/>
              <a:defRPr sz="2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810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•"/>
              <a:defRPr sz="24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556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Roboto"/>
              <a:buChar char="•"/>
              <a:defRPr sz="20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1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455475" y="93557"/>
            <a:ext cx="1657350" cy="72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D03A71-DF26-4778-ACBE-93DEA04DFDA4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9175" y="93557"/>
            <a:ext cx="1275386" cy="723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-closing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hyperlink" Target="mailto:phuc@lhu.edu.vn" TargetMode="External"/><Relationship Id="rId7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slide-closing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>
            <a:spLocks noGrp="1"/>
          </p:cNvSpPr>
          <p:nvPr>
            <p:ph type="title"/>
          </p:nvPr>
        </p:nvSpPr>
        <p:spPr>
          <a:xfrm>
            <a:off x="7772400" y="978408"/>
            <a:ext cx="3721608" cy="1106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33CC"/>
              </a:buClr>
              <a:buSzPts val="2800"/>
              <a:buFont typeface="Quattrocento Sans"/>
              <a:buNone/>
            </a:pPr>
            <a:r>
              <a:rPr lang="en-US"/>
              <a:t>Thank you</a:t>
            </a:r>
            <a:endParaRPr/>
          </a:p>
        </p:txBody>
      </p:sp>
      <p:pic>
        <p:nvPicPr>
          <p:cNvPr id="205" name="Google Shape;205;p26" descr="woman writing on a dry erase board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59" r="59"/>
          <a:stretch/>
        </p:blipFill>
        <p:spPr>
          <a:xfrm>
            <a:off x="895522" y="859155"/>
            <a:ext cx="6016834" cy="49103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6" descr="User"/>
          <p:cNvPicPr preferRelativeResize="0">
            <a:picLocks noGrp="1"/>
          </p:cNvPicPr>
          <p:nvPr>
            <p:ph type="pic" idx="5"/>
          </p:nvPr>
        </p:nvPicPr>
        <p:blipFill rotWithShape="1">
          <a:blip r:embed="rId4">
            <a:alphaModFix/>
          </a:blip>
          <a:srcRect/>
          <a:stretch/>
        </p:blipFill>
        <p:spPr>
          <a:xfrm>
            <a:off x="7772400" y="253288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 txBox="1">
            <a:spLocks noGrp="1"/>
          </p:cNvSpPr>
          <p:nvPr>
            <p:ph type="body" idx="1"/>
          </p:nvPr>
        </p:nvSpPr>
        <p:spPr>
          <a:xfrm>
            <a:off x="7772400" y="3099816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ThS. Nguyễn Minh Phúc</a:t>
            </a:r>
            <a:endParaRPr/>
          </a:p>
        </p:txBody>
      </p:sp>
      <p:pic>
        <p:nvPicPr>
          <p:cNvPr id="208" name="Google Shape;208;p26" descr="Envelope"/>
          <p:cNvPicPr preferRelativeResize="0">
            <a:picLocks noGrp="1"/>
          </p:cNvPicPr>
          <p:nvPr>
            <p:ph type="pic" idx="6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7772400" y="3630168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6"/>
          <p:cNvSpPr txBox="1">
            <a:spLocks noGrp="1"/>
          </p:cNvSpPr>
          <p:nvPr>
            <p:ph type="body" idx="3"/>
          </p:nvPr>
        </p:nvSpPr>
        <p:spPr>
          <a:xfrm>
            <a:off x="7772400" y="4215384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>
                <a:hlinkClick r:id="rId6"/>
              </a:rPr>
              <a:t>phuc@lhu.edu.vn</a:t>
            </a:r>
            <a:endParaRPr/>
          </a:p>
        </p:txBody>
      </p:sp>
      <p:pic>
        <p:nvPicPr>
          <p:cNvPr id="210" name="Google Shape;210;p26" descr="Monitor"/>
          <p:cNvPicPr preferRelativeResize="0">
            <a:picLocks noGrp="1"/>
          </p:cNvPicPr>
          <p:nvPr>
            <p:ph type="pic" idx="7"/>
          </p:nvPr>
        </p:nvPicPr>
        <p:blipFill rotWithShape="1">
          <a:blip r:embed="rId7">
            <a:alphaModFix/>
          </a:blip>
          <a:srcRect/>
          <a:stretch/>
        </p:blipFill>
        <p:spPr>
          <a:xfrm>
            <a:off x="7772400" y="47548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6"/>
          <p:cNvSpPr txBox="1">
            <a:spLocks noGrp="1"/>
          </p:cNvSpPr>
          <p:nvPr>
            <p:ph type="body" idx="4"/>
          </p:nvPr>
        </p:nvSpPr>
        <p:spPr>
          <a:xfrm>
            <a:off x="7772400" y="5321808"/>
            <a:ext cx="3721100" cy="44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t>lhu.edu.vn</a:t>
            </a:r>
            <a:endParaRPr/>
          </a:p>
        </p:txBody>
      </p:sp>
      <p:sp>
        <p:nvSpPr>
          <p:cNvPr id="212" name="Google Shape;212;p26"/>
          <p:cNvSpPr txBox="1">
            <a:spLocks noGrp="1"/>
          </p:cNvSpPr>
          <p:nvPr>
            <p:ph type="dt" idx="10"/>
          </p:nvPr>
        </p:nvSpPr>
        <p:spPr>
          <a:xfrm>
            <a:off x="90525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Học kỳ 6 • 2026</a:t>
            </a:r>
            <a:endParaRPr/>
          </a:p>
        </p:txBody>
      </p:sp>
      <p:sp>
        <p:nvSpPr>
          <p:cNvPr id="213" name="Google Shape;21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t>Lập trình ứng dụng di động (111114)</a:t>
            </a:r>
            <a:endParaRPr/>
          </a:p>
        </p:txBody>
      </p:sp>
      <p:sp>
        <p:nvSpPr>
          <p:cNvPr id="214" name="Google Shape;214;p26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/>
              <a:t>Bài 07: CSDL SQL Server nâng cao &amp; đồng bộ dữ liệu qua backend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/>
              <a:t>Lập trình ứng dụng di động (111114)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7168" y="4892040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C757D"/>
                </a:solidFill>
              </a:rPr>
              <a:t>Ràng buộc, chỉ mục, giao dịch, báo cáo và optimistic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Hoàn thiện ràng buộc và chỉ mục cho CSDL SQL Server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Viết stored procedure có giao dịch và xử lý lỗi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Viết thủ tục báo cáo; quản lý script CSDL theo phiên bản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Đồng bộ ứng dụng với server: optimistic update, giữ giỏ hàng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Mục tiêu buổi học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Hai bạn cùng đặt suất cơm gà cuối cùng trong cùng một giây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Ai được phần?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Tạo đơn xong nhưng trừ tồn kho thất bại: đơn đó còn đúng không?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Lớp đoán kết quả với thủ tục sp_Order_Create của bài 05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Câu hỏi mở đầu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Quy tắc đặt được ở CSDL thì đặt ở CSDL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Đặt tên rõ ràng: </a:t>
            </a:r>
            <a:r>
              <a:rPr sz="2600">
                <a:latin typeface="Consolas"/>
              </a:rPr>
              <a:t>CK_...</a:t>
            </a:r>
            <a:r>
              <a:rPr sz="2600"/>
              <a:t>, </a:t>
            </a:r>
            <a:r>
              <a:rPr sz="2600">
                <a:latin typeface="Consolas"/>
              </a:rPr>
              <a:t>DF_...</a:t>
            </a:r>
            <a:r>
              <a:rPr sz="2600"/>
              <a:t>, </a:t>
            </a:r>
            <a:r>
              <a:rPr sz="2600">
                <a:latin typeface="Consolas"/>
              </a:rPr>
              <a:t>IX_...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Ràng buộc trong CSDL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1417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ALTER TABLE Products ADD Stock INT NOT NULL CONSTRAINT DF_Products_Stock DEFAULT 0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CONSTRAINT CK_Products_Stock CHECK (Stock &gt;= 0);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ALTER TABLE Orders ADD CONSTRAINT CK_Orders_Status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CHECK (Status IN (N'pending', N'preparing', N'ready', N'completed', N'cancelled'));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Theo đúng </a:t>
            </a:r>
            <a:r>
              <a:rPr sz="2600">
                <a:latin typeface="Consolas"/>
              </a:rPr>
              <a:t>WHERE</a:t>
            </a:r>
            <a:r>
              <a:rPr sz="2600"/>
              <a:t> và </a:t>
            </a:r>
            <a:r>
              <a:rPr sz="2600">
                <a:latin typeface="Consolas"/>
              </a:rPr>
              <a:t>ORDER BY</a:t>
            </a:r>
            <a:r>
              <a:rPr sz="2600"/>
              <a:t> mà thủ tục hay dùng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Không tạo chỉ mục cho mọi cột: ghi chậm hơn, tốn dung lượng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Chỉ mục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8458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CREATE INDEX IX_Orders_UserId_CreatedAt ON Orders (UserId, CreatedAt DESC);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CREATE INDEX IX_Products_CategoryId ON Products (CategoryId) WHERE IsAvailable = 1;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Gói nhiều lệnh thành một khối</a:t>
            </a:r>
          </a:p>
          <a:p>
            <a:pPr>
              <a:spcBef>
                <a:spcPts val="400"/>
              </a:spcBef>
              <a:buChar char="❖"/>
            </a:pPr>
            <a:r>
              <a:rPr b="1" sz="2400"/>
              <a:t>Tất cả thành công</a:t>
            </a:r>
            <a:r>
              <a:rPr sz="2400"/>
              <a:t>, hoặc </a:t>
            </a:r>
            <a:r>
              <a:rPr b="1" sz="2400"/>
              <a:t>không có gì thay đổi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Đặt hàng = tạo Orders + tạo OrderItems + trừ Stock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Bước trừ tồn kho lỗi → đơn và chi tiết đơn cũng phải bị hủy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Giao dịch là gì?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7-giao-di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14301"/>
            <a:ext cx="5577840" cy="3652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Khuôn mẫu TRY...CATCH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097280"/>
            <a:ext cx="11338560" cy="2814319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SET XACT_ABORT ON;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BEGIN TRY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BEGIN TRAN;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-- kiểm tra tồn kho, INSERT Orders, INSERT OrderItems, UPDATE Stock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COMMIT;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END TRY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BEGIN CATCH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IF @@TRANCOUNT &gt; 0 ROLLBACK;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  THROW;   -- ném lại lỗi gốc (giữ mã 50409)</a:t>
            </a:r>
          </a:p>
          <a:p>
            <a:pPr algn="l"/>
            <a:r>
              <a:rPr sz="1600">
                <a:solidFill>
                  <a:srgbClr val="212529"/>
                </a:solidFill>
                <a:latin typeface="Consolas"/>
              </a:rPr>
              <a:t>END CATCH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Khóa dòng món tới khi giao dịch kết thúc; đơn thứ hai phải chờ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Chặn hai người cùng lấy suất cuối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70307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IF EXISTS (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SELECT 1 FROM @Items i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LEFT JOIN Products p WITH (UPDLOCK, HOLDLOCK) ON p.ProductId = i.ProductId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WHERE p.ProductId IS NULL OR p.IsAvailable = 0 OR p.Stock &lt; i.Quantity)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THROW 50409, N'Có món đã hết hoặc không đủ số lượng', 1;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Endpoint thống kê chỉ cho vai trò </a:t>
            </a:r>
            <a:r>
              <a:rPr sz="2600">
                <a:latin typeface="Consolas"/>
              </a:rPr>
              <a:t>staff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Thủ tục báo cáo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988819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SELECT CAST(o.CreatedAt AS DATE) AS day,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   COUNT(DISTINCT o.OrderId) AS orderCount,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   SUM(oi.Quantity * oi.UnitPrice) AS revenue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FROM Orders o JOIN OrderItems oi ON oi.OrderId = o.OrderId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WHERE o.Status &lt;&gt; N'cancelled'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GROUP BY CAST(o.CreatedAt AS DATE);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133096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Chạy từ 01 đến 99 trên CSDL trống → đúng CSDL của nhóm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11 dùng chính các script này để triển khai lên server Khoa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Script CSDL theo phiên bản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2519680"/>
            <a:ext cx="11338560" cy="1988819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database/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├── 01-tables.sql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├── 02-procedures.sql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├── 03-auth.sql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├── 04-stock-reports.sql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└── 99-seed.sql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571500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400"/>
              <a:t>Đổi giao diện ngay khi bấm, gửi API ở nền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API lỗi → trả giao diện về như cũ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TanStack Query: </a:t>
            </a:r>
            <a:r>
              <a:rPr sz="2400">
                <a:latin typeface="Consolas"/>
              </a:rPr>
              <a:t>onMutate</a:t>
            </a:r>
            <a:r>
              <a:rPr sz="2400"/>
              <a:t> (cập nhật cache), </a:t>
            </a:r>
            <a:r>
              <a:rPr sz="2400">
                <a:latin typeface="Consolas"/>
              </a:rPr>
              <a:t>onError</a:t>
            </a:r>
            <a:r>
              <a:rPr sz="2400"/>
              <a:t> (hoàn tác), </a:t>
            </a:r>
            <a:r>
              <a:rPr sz="2400">
                <a:latin typeface="Consolas"/>
              </a:rPr>
              <a:t>onSettled</a:t>
            </a:r>
            <a:r>
              <a:rPr sz="2400"/>
              <a:t> (tải lại)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400">
                <a:solidFill>
                  <a:srgbClr val="0033CC"/>
                </a:solidFill>
              </a:rPr>
              <a:t>Ví dụ</a:t>
            </a:r>
          </a:p>
          <a:p>
            <a:pPr>
              <a:spcBef>
                <a:spcPts val="400"/>
              </a:spcBef>
              <a:buChar char="❖"/>
            </a:pPr>
            <a:r>
              <a:rPr sz="2400"/>
              <a:t>Nút trái tim "Món yêu thích" đổi màu ngay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Optimistic update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" name="Picture 5" descr="bai-07-optimi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603" y="1097280"/>
            <a:ext cx="5119914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8026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Giỏ hàng chỉ là "ý định mua"; server vẫn kiểm tra giá và tồn kho khi đặt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Giữ giỏ hàng khi tắt app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79" y="1991359"/>
            <a:ext cx="11338560" cy="141732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export const useCart = create&lt;CartState&gt;()(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persist((set, get) =&gt; ({ /* items, add, remove... */ }),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    { name: 'lhufood-cart', storage: createJSONStorage(() =&gt; AsyncStorage) }),</a:t>
            </a:r>
          </a:p>
          <a:p>
            <a:pPr algn="l"/>
            <a:r>
              <a:rPr sz="1800">
                <a:solidFill>
                  <a:srgbClr val="212529"/>
                </a:solidFill>
                <a:latin typeface="Consolas"/>
              </a:rPr>
              <a:t>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Thêm Stock, ràng buộc trạng thái, chỉ mục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Viết lại sp_Order_Create có giao dịch; thử đặt quá tồn kho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Hai cửa sổ SSMS cùng đặt suất cuối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sp_Report_RevenueByDay + màn hình Thống kê cho nhân viên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Giỏ hàng dùng persist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có hướng dẫn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b="1" sz="2600"/>
              <a:t>Cá nhân</a:t>
            </a:r>
            <a:r>
              <a:rPr sz="2600"/>
              <a:t>: Món yêu thích (bảng Favorites n-n, thủ tục, API, optimistic update)</a:t>
            </a:r>
          </a:p>
          <a:p>
            <a:pPr>
              <a:spcBef>
                <a:spcPts val="400"/>
              </a:spcBef>
              <a:buChar char="❖"/>
            </a:pPr>
            <a:r>
              <a:rPr b="1" sz="2600"/>
              <a:t>Nhóm</a:t>
            </a:r>
            <a:r>
              <a:rPr sz="2600"/>
              <a:t>: ràng buộc, chỉ mục, thủ tục có giao dịch, 1 thủ tục báo cáo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Mã backend không còn câu SQL trực tiếp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Nộp ERD phiên bản cuối + thư mục </a:t>
            </a:r>
            <a:r>
              <a:rPr sz="2600">
                <a:latin typeface="Consolas"/>
              </a:rPr>
              <a:t>database/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Thực hành không hướng dẫn &amp; thử thách nhóm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>
              <a:spcBef>
                <a:spcPts val="400"/>
              </a:spcBef>
              <a:buChar char="❖"/>
            </a:pPr>
            <a:r>
              <a:rPr sz="2600"/>
              <a:t>Ràng buộc ở CSDL chặn dữ liệu sai từ mọi nguồn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Giao dịch: TRY...CATCH, ROLLBACK, THROW; khóa dòng khi cần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Script đánh số, chạy lại được từ đầu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Dữ liệu chuẩn ở SQL Server; app chỉ giữ bản sao tạm</a:t>
            </a:r>
          </a:p>
          <a:p>
            <a:pPr marL="0" indent="0">
              <a:spcBef>
                <a:spcPts val="8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Hoạt động</a:t>
            </a:r>
            <a:r>
              <a:rPr sz="2600">
                <a:solidFill>
                  <a:srgbClr val="0033CC"/>
                </a:solidFill>
              </a:rPr>
              <a:t>: Làm quiz Bài 07 ở cuối trang bài học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Tóm tắt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Bài 07: CSDL SQL Server nâng cao &amp; đồng bộ dữ liệu qua backend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0040" y="1097280"/>
            <a:ext cx="11521440" cy="4434840"/>
          </a:xfrm>
        </p:spPr>
        <p:txBody>
          <a:bodyPr/>
          <a:lstStyle/>
          <a:p>
            <a:pPr marL="0" indent="0">
              <a:spcBef>
                <a:spcPts val="400"/>
              </a:spcBef>
              <a:buNone/>
            </a:pPr>
            <a:r>
              <a:rPr b="1" sz="2600">
                <a:solidFill>
                  <a:srgbClr val="0033CC"/>
                </a:solidFill>
              </a:rPr>
              <a:t>Đọc thêm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Giáo trình nội bộ, Chương 7: CSDL SQL Server nâng cao và đồng bộ dữ liệu qua backend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Bài tập hướng dẫn theo dự án LHU Food (cuối Chương 7)</a:t>
            </a:r>
          </a:p>
          <a:p>
            <a:pPr>
              <a:spcBef>
                <a:spcPts val="400"/>
              </a:spcBef>
              <a:buChar char="❖"/>
            </a:pPr>
            <a:r>
              <a:rPr sz="2600"/>
              <a:t>SRS LHU Food: mục 5.5, 5.6, 5.10, 5.11, BR-07…BR-11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2200"/>
              <a:t>Tài liệu của buổi</a:t>
            </a:r>
          </a:p>
        </p:txBody>
      </p:sp>
      <p:sp>
        <p:nvSpPr>
          <p:cNvPr id="5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9298142" y="6365059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3600"/>
            </a:lvl1pPr>
            <a:lvl2pPr marL="0" lvl="1" indent="0" algn="r">
              <a:spcBef>
                <a:spcPts val="0"/>
              </a:spcBef>
              <a:buNone/>
              <a:defRPr sz="3600"/>
            </a:lvl2pPr>
            <a:lvl3pPr marL="0" lvl="2" indent="0" algn="r">
              <a:spcBef>
                <a:spcPts val="0"/>
              </a:spcBef>
              <a:buNone/>
              <a:defRPr sz="3600"/>
            </a:lvl3pPr>
            <a:lvl4pPr marL="0" lvl="3" indent="0" algn="r">
              <a:spcBef>
                <a:spcPts val="0"/>
              </a:spcBef>
              <a:buNone/>
              <a:defRPr sz="3600"/>
            </a:lvl4pPr>
            <a:lvl5pPr marL="0" lvl="4" indent="0" algn="r">
              <a:spcBef>
                <a:spcPts val="0"/>
              </a:spcBef>
              <a:buNone/>
              <a:defRPr sz="3600"/>
            </a:lvl5pPr>
            <a:lvl6pPr marL="0" lvl="5" indent="0" algn="r">
              <a:spcBef>
                <a:spcPts val="0"/>
              </a:spcBef>
              <a:buNone/>
              <a:defRPr sz="3600"/>
            </a:lvl6pPr>
            <a:lvl7pPr marL="0" lvl="6" indent="0" algn="r">
              <a:spcBef>
                <a:spcPts val="0"/>
              </a:spcBef>
              <a:buNone/>
              <a:defRPr sz="3600"/>
            </a:lvl7pPr>
            <a:lvl8pPr marL="0" lvl="7" indent="0" algn="r">
              <a:spcBef>
                <a:spcPts val="0"/>
              </a:spcBef>
              <a:buNone/>
              <a:defRPr sz="3600"/>
            </a:lvl8pPr>
            <a:lvl9pPr marL="0" lvl="8" indent="0" algn="r">
              <a:spcBef>
                <a:spcPts val="0"/>
              </a:spcBef>
              <a:buNone/>
              <a:defRPr sz="36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rgbClr val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</Words>
  <Application>Microsoft Office PowerPoint</Application>
  <PresentationFormat>Widescreen</PresentationFormat>
  <Paragraphs>24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Avenir</vt:lpstr>
      <vt:lpstr>Roboto Black</vt:lpstr>
      <vt:lpstr>Quattrocento Sans</vt:lpstr>
      <vt:lpstr>Roboto</vt:lpstr>
      <vt:lpstr>Calibri</vt:lpstr>
      <vt:lpstr>Roboto Medium</vt:lpstr>
      <vt:lpstr>AccentBoxVTI</vt:lpstr>
      <vt:lpstr>LẬP TRÌNH  HƯỚNG ĐỐI TƯỢNG</vt:lpstr>
      <vt:lpstr>Repository Pattern</vt:lpstr>
      <vt:lpstr>Repository Pattern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PHUC</cp:lastModifiedBy>
  <cp:revision>1</cp:revision>
  <dcterms:modified xsi:type="dcterms:W3CDTF">2026-10-31T01:21:49Z</dcterms:modified>
</cp:coreProperties>
</file>