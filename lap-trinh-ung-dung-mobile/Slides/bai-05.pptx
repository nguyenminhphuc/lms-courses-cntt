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-closing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3" r:id="rId1"/>
  </p:sldMasterIdLst>
  <p:notesMasterIdLst>
    <p:notesMasterId r:id="rId6"/>
  </p:notesMasterIdLst>
  <p:sldIdLst>
    <p:sldId id="266" r:id="rId4"/>
    <p:sldId id="267" r:id="rId3"/>
    <p:sldId id="268" r:id="rId2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83" r:id="rId39"/>
    <p:sldId id="265" r:id="rId5"/>
  </p:sldIdLst>
  <p:sldSz cx="12192000" cy="6858000"/>
  <p:notesSz cx="6858000" cy="9144000"/>
  <p:embeddedFontLst>
    <p:embeddedFont>
      <p:font typeface="Quattrocento Sans" panose="020B0502050000020003" pitchFamily="34" charset="0"/>
      <p:regular r:id="rId7"/>
      <p:bold r:id="rId8"/>
      <p:italic r:id="rId9"/>
      <p:boldItalic r:id="rId10"/>
    </p:embeddedFont>
    <p:embeddedFont>
      <p:font typeface="Roboto" panose="02000000000000000000" pitchFamily="2" charset="0"/>
      <p:regular r:id="rId11"/>
      <p:bold r:id="rId12"/>
      <p:italic r:id="rId13"/>
      <p:boldItalic r:id="rId14"/>
    </p:embeddedFont>
    <p:embeddedFont>
      <p:font typeface="Roboto Black" panose="02000000000000000000" pitchFamily="2" charset="0"/>
      <p:bold r:id="rId15"/>
      <p:boldItalic r:id="rId16"/>
    </p:embeddedFont>
    <p:embeddedFont>
      <p:font typeface="Roboto Medium" panose="02000000000000000000" pitchFamily="2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360">
          <p15:clr>
            <a:srgbClr val="A4A3A4"/>
          </p15:clr>
        </p15:guide>
        <p15:guide id="2" pos="7392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558" y="114"/>
      </p:cViewPr>
      <p:guideLst>
        <p:guide pos="360"/>
        <p:guide pos="7392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-closing.xml"/><Relationship Id="rId6" Type="http://schemas.openxmlformats.org/officeDocument/2006/relationships/notesMaster" Target="notesMasters/notesMaster1.xml"/><Relationship Id="rId7" Type="http://schemas.openxmlformats.org/officeDocument/2006/relationships/font" Target="fonts/font1.fntdata"/><Relationship Id="rId8" Type="http://schemas.openxmlformats.org/officeDocument/2006/relationships/font" Target="fonts/font2.fntdata"/><Relationship Id="rId9" Type="http://schemas.openxmlformats.org/officeDocument/2006/relationships/font" Target="fonts/font3.fntdata"/><Relationship Id="rId10" Type="http://schemas.openxmlformats.org/officeDocument/2006/relationships/font" Target="fonts/font4.fntdata"/><Relationship Id="rId11" Type="http://schemas.openxmlformats.org/officeDocument/2006/relationships/font" Target="fonts/font5.fntdata"/><Relationship Id="rId12" Type="http://schemas.openxmlformats.org/officeDocument/2006/relationships/font" Target="fonts/font6.fntdata"/><Relationship Id="rId13" Type="http://schemas.openxmlformats.org/officeDocument/2006/relationships/font" Target="fonts/font7.fntdata"/><Relationship Id="rId14" Type="http://schemas.openxmlformats.org/officeDocument/2006/relationships/font" Target="fonts/font8.fntdata"/><Relationship Id="rId15" Type="http://schemas.openxmlformats.org/officeDocument/2006/relationships/font" Target="fonts/font9.fntdata"/><Relationship Id="rId16" Type="http://schemas.openxmlformats.org/officeDocument/2006/relationships/font" Target="fonts/font10.fntdata"/><Relationship Id="rId17" Type="http://schemas.openxmlformats.org/officeDocument/2006/relationships/font" Target="fonts/font11.fntdata"/><Relationship Id="rId18" Type="http://schemas.openxmlformats.org/officeDocument/2006/relationships/font" Target="fonts/font12.fntdata"/><Relationship Id="rId19" Type="http://schemas.openxmlformats.org/officeDocument/2006/relationships/font" Target="fonts/font13.fntdata"/><Relationship Id="rId20" Type="http://schemas.openxmlformats.org/officeDocument/2006/relationships/font" Target="fonts/font14.fntdata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5.xml"/><Relationship Id="rId26" Type="http://schemas.openxmlformats.org/officeDocument/2006/relationships/slide" Target="slides/slide6.xml"/><Relationship Id="rId27" Type="http://schemas.openxmlformats.org/officeDocument/2006/relationships/slide" Target="slides/slide7.xml"/><Relationship Id="rId28" Type="http://schemas.openxmlformats.org/officeDocument/2006/relationships/slide" Target="slides/slide8.xml"/><Relationship Id="rId29" Type="http://schemas.openxmlformats.org/officeDocument/2006/relationships/slide" Target="slides/slide9.xml"/><Relationship Id="rId30" Type="http://schemas.openxmlformats.org/officeDocument/2006/relationships/slide" Target="slides/slide10.xml"/><Relationship Id="rId31" Type="http://schemas.openxmlformats.org/officeDocument/2006/relationships/slide" Target="slides/slide11.xml"/><Relationship Id="rId32" Type="http://schemas.openxmlformats.org/officeDocument/2006/relationships/slide" Target="slides/slide12.xml"/><Relationship Id="rId33" Type="http://schemas.openxmlformats.org/officeDocument/2006/relationships/slide" Target="slides/slide13.xml"/><Relationship Id="rId34" Type="http://schemas.openxmlformats.org/officeDocument/2006/relationships/slide" Target="slides/slide14.xml"/><Relationship Id="rId35" Type="http://schemas.openxmlformats.org/officeDocument/2006/relationships/slide" Target="slides/slide15.xml"/><Relationship Id="rId36" Type="http://schemas.openxmlformats.org/officeDocument/2006/relationships/slide" Target="slides/slide16.xml"/><Relationship Id="rId37" Type="http://schemas.openxmlformats.org/officeDocument/2006/relationships/slide" Target="slides/slide17.xml"/><Relationship Id="rId38" Type="http://schemas.openxmlformats.org/officeDocument/2006/relationships/slide" Target="slides/slide18.xml"/><Relationship Id="rId39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-closing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AI rất hay "tiện tay" viết câu SQL thẳng trong service; đây là lỗi bị trừ điểm CLO2.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 tiết lý thuyết, 3 tiết thực hành. CLO1, CLO2, CLO3.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Mã đầy đủ (onModuleInit, onModuleDestroy) ở mục 2.4 của bài học.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Các file Word/Excel nằm ở mục Tài liệu của bài trên LMS và trang học phần (giao-trinh/, srs/, rubric/).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801368" y="1664208"/>
            <a:ext cx="8586300" cy="21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6600"/>
              <a:buFont typeface="Roboto Black"/>
              <a:buNone/>
              <a:defRPr sz="6600" b="0">
                <a:latin typeface="Roboto Black"/>
                <a:ea typeface="Roboto Black"/>
                <a:cs typeface="Roboto Black"/>
                <a:sym typeface="Roboto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2487168" y="4142232"/>
            <a:ext cx="72237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oboto Medium"/>
              <a:buNone/>
              <a:defRPr sz="280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>
            <a:spLocks noGrp="1"/>
          </p:cNvSpPr>
          <p:nvPr>
            <p:ph type="title"/>
          </p:nvPr>
        </p:nvSpPr>
        <p:spPr>
          <a:xfrm>
            <a:off x="1078992" y="1938528"/>
            <a:ext cx="7013400" cy="29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400"/>
              <a:buFont typeface="Quattrocento Sans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body" idx="1"/>
          </p:nvPr>
        </p:nvSpPr>
        <p:spPr>
          <a:xfrm>
            <a:off x="8613648" y="1938528"/>
            <a:ext cx="2688300" cy="2990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609084" y="2965074"/>
            <a:ext cx="128100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 rot="5400000">
            <a:off x="7360671" y="3424440"/>
            <a:ext cx="21030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 txBox="1">
            <a:spLocks noGrp="1"/>
          </p:cNvSpPr>
          <p:nvPr>
            <p:ph type="sldNum" idx="12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lvl="2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lvl="3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lvl="4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lvl="5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lvl="6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lvl="7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lvl="8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/>
          <p:nvPr/>
        </p:nvSpPr>
        <p:spPr>
          <a:xfrm>
            <a:off x="1780130" y="95350"/>
            <a:ext cx="417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1780125" y="95350"/>
            <a:ext cx="100032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800"/>
              <a:buFont typeface="Quattrocento Sans"/>
              <a:buNone/>
              <a:defRPr sz="3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body" idx="1"/>
          </p:nvPr>
        </p:nvSpPr>
        <p:spPr>
          <a:xfrm>
            <a:off x="122350" y="1074775"/>
            <a:ext cx="11976000" cy="454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title" idx="2"/>
          </p:nvPr>
        </p:nvSpPr>
        <p:spPr>
          <a:xfrm>
            <a:off x="2305500" y="498850"/>
            <a:ext cx="81939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2300"/>
              <a:buFont typeface="Quattrocento Sans"/>
              <a:buNone/>
              <a:defRPr sz="2300">
                <a:solidFill>
                  <a:srgbClr val="FF9900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2pPr>
            <a:lvl3pPr lvl="2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3pPr>
            <a:lvl4pPr lvl="3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4pPr>
            <a:lvl5pPr lvl="4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5pPr>
            <a:lvl6pPr lvl="5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6pPr>
            <a:lvl7pPr lvl="6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7pPr>
            <a:lvl8pPr lvl="7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8pPr>
            <a:lvl9pPr lvl="8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9pPr>
          </a:lstStyle>
          <a:p>
            <a:endParaRPr/>
          </a:p>
        </p:txBody>
      </p:sp>
      <p:sp>
        <p:nvSpPr>
          <p:cNvPr id="30" name="Google Shape;30;p4"/>
          <p:cNvSpPr/>
          <p:nvPr/>
        </p:nvSpPr>
        <p:spPr>
          <a:xfrm>
            <a:off x="1921650" y="585375"/>
            <a:ext cx="417300" cy="214200"/>
          </a:xfrm>
          <a:prstGeom prst="homePlate">
            <a:avLst>
              <a:gd name="adj" fmla="val 60423"/>
            </a:avLst>
          </a:prstGeom>
          <a:solidFill>
            <a:srgbClr val="0033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4 pictures">
  <p:cSld name="Title and Content with 4 picture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7324344" y="630936"/>
            <a:ext cx="4517100" cy="5496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 w="9525" cap="flat" cmpd="sng">
            <a:solidFill>
              <a:srgbClr val="E8E8E8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38100" dir="2700000" algn="tl" rotWithShape="0">
              <a:srgbClr val="D8D8D8">
                <a:alpha val="29804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5"/>
          <p:cNvSpPr txBox="1">
            <a:spLocks noGrp="1"/>
          </p:cNvSpPr>
          <p:nvPr>
            <p:ph type="title"/>
          </p:nvPr>
        </p:nvSpPr>
        <p:spPr>
          <a:xfrm>
            <a:off x="7772400" y="978408"/>
            <a:ext cx="37215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5"/>
          <p:cNvSpPr>
            <a:spLocks noGrp="1"/>
          </p:cNvSpPr>
          <p:nvPr>
            <p:ph type="pic" idx="2"/>
          </p:nvPr>
        </p:nvSpPr>
        <p:spPr>
          <a:xfrm>
            <a:off x="895522" y="859155"/>
            <a:ext cx="6016800" cy="4910400"/>
          </a:xfrm>
          <a:prstGeom prst="rect">
            <a:avLst/>
          </a:prstGeom>
          <a:noFill/>
          <a:ln>
            <a:noFill/>
          </a:ln>
        </p:spPr>
      </p:sp>
      <p:sp>
        <p:nvSpPr>
          <p:cNvPr id="35" name="Google Shape;35;p5"/>
          <p:cNvSpPr/>
          <p:nvPr/>
        </p:nvSpPr>
        <p:spPr>
          <a:xfrm>
            <a:off x="7260336" y="1179576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5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7" name="Google Shape;37;p5"/>
          <p:cNvSpPr/>
          <p:nvPr/>
        </p:nvSpPr>
        <p:spPr>
          <a:xfrm>
            <a:off x="7792216" y="2185416"/>
            <a:ext cx="36831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7772400" y="3099816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3"/>
          </p:nvPr>
        </p:nvSpPr>
        <p:spPr>
          <a:xfrm>
            <a:off x="7772400" y="4215384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body" idx="4"/>
          </p:nvPr>
        </p:nvSpPr>
        <p:spPr>
          <a:xfrm>
            <a:off x="7772400" y="5321808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>
            <a:spLocks noGrp="1"/>
          </p:cNvSpPr>
          <p:nvPr>
            <p:ph type="pic" idx="5"/>
          </p:nvPr>
        </p:nvSpPr>
        <p:spPr>
          <a:xfrm>
            <a:off x="7772400" y="2532888"/>
            <a:ext cx="457200" cy="457200"/>
          </a:xfrm>
          <a:prstGeom prst="rect">
            <a:avLst/>
          </a:prstGeom>
          <a:noFill/>
          <a:ln>
            <a:noFill/>
          </a:ln>
        </p:spPr>
      </p:sp>
      <p:sp>
        <p:nvSpPr>
          <p:cNvPr id="42" name="Google Shape;42;p5"/>
          <p:cNvSpPr>
            <a:spLocks noGrp="1"/>
          </p:cNvSpPr>
          <p:nvPr>
            <p:ph type="pic" idx="6"/>
          </p:nvPr>
        </p:nvSpPr>
        <p:spPr>
          <a:xfrm>
            <a:off x="7772400" y="3630168"/>
            <a:ext cx="457200" cy="457200"/>
          </a:xfrm>
          <a:prstGeom prst="rect">
            <a:avLst/>
          </a:prstGeom>
          <a:noFill/>
          <a:ln>
            <a:noFill/>
          </a:ln>
        </p:spPr>
      </p:sp>
      <p:sp>
        <p:nvSpPr>
          <p:cNvPr id="43" name="Google Shape;43;p5"/>
          <p:cNvSpPr>
            <a:spLocks noGrp="1"/>
          </p:cNvSpPr>
          <p:nvPr>
            <p:ph type="pic" idx="7"/>
          </p:nvPr>
        </p:nvSpPr>
        <p:spPr>
          <a:xfrm>
            <a:off x="7772400" y="4754880"/>
            <a:ext cx="457200" cy="457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pictures">
  <p:cSld name="Title and Content with pictures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5084064" y="889393"/>
            <a:ext cx="6272700" cy="15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200"/>
              <a:buFont typeface="Quattrocento Sans"/>
              <a:buNone/>
              <a:defRPr sz="5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5102352" y="2727631"/>
            <a:ext cx="6272700" cy="30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8" name="Google Shape;48;p6"/>
          <p:cNvSpPr/>
          <p:nvPr/>
        </p:nvSpPr>
        <p:spPr>
          <a:xfrm rot="5400000">
            <a:off x="5317906" y="363383"/>
            <a:ext cx="732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6"/>
          <p:cNvSpPr/>
          <p:nvPr/>
        </p:nvSpPr>
        <p:spPr>
          <a:xfrm>
            <a:off x="5065776" y="2553749"/>
            <a:ext cx="6291000" cy="456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6"/>
          <p:cNvSpPr>
            <a:spLocks noGrp="1"/>
          </p:cNvSpPr>
          <p:nvPr>
            <p:ph type="pic" idx="2"/>
          </p:nvPr>
        </p:nvSpPr>
        <p:spPr>
          <a:xfrm>
            <a:off x="457200" y="895738"/>
            <a:ext cx="4050900" cy="48348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2 pictures">
  <p:cSld name="Title and Content with 2 pictures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7"/>
          <p:cNvSpPr txBox="1">
            <a:spLocks noGrp="1"/>
          </p:cNvSpPr>
          <p:nvPr>
            <p:ph type="title"/>
          </p:nvPr>
        </p:nvSpPr>
        <p:spPr>
          <a:xfrm>
            <a:off x="612648" y="1074888"/>
            <a:ext cx="6272700" cy="15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200"/>
              <a:buFont typeface="Quattrocento Sans"/>
              <a:buNone/>
              <a:defRPr sz="5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body" idx="1"/>
          </p:nvPr>
        </p:nvSpPr>
        <p:spPr>
          <a:xfrm>
            <a:off x="612648" y="3009498"/>
            <a:ext cx="6272700" cy="27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sldNum" idx="12"/>
          </p:nvPr>
        </p:nvSpPr>
        <p:spPr>
          <a:xfrm>
            <a:off x="5605272" y="6356350"/>
            <a:ext cx="12801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5" name="Google Shape;55;p7"/>
          <p:cNvSpPr/>
          <p:nvPr/>
        </p:nvSpPr>
        <p:spPr>
          <a:xfrm rot="5400000">
            <a:off x="850338" y="629660"/>
            <a:ext cx="732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7"/>
          <p:cNvSpPr>
            <a:spLocks noGrp="1"/>
          </p:cNvSpPr>
          <p:nvPr>
            <p:ph type="pic" idx="2"/>
          </p:nvPr>
        </p:nvSpPr>
        <p:spPr>
          <a:xfrm>
            <a:off x="7684008" y="3204504"/>
            <a:ext cx="4508100" cy="250560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7"/>
          <p:cNvSpPr>
            <a:spLocks noGrp="1"/>
          </p:cNvSpPr>
          <p:nvPr>
            <p:ph type="pic" idx="3"/>
          </p:nvPr>
        </p:nvSpPr>
        <p:spPr>
          <a:xfrm>
            <a:off x="7680960" y="1074888"/>
            <a:ext cx="4508100" cy="18549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7"/>
          <p:cNvSpPr/>
          <p:nvPr/>
        </p:nvSpPr>
        <p:spPr>
          <a:xfrm>
            <a:off x="612648" y="2801145"/>
            <a:ext cx="6217800" cy="183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>
            <a:spLocks noGrp="1"/>
          </p:cNvSpPr>
          <p:nvPr>
            <p:ph type="title"/>
          </p:nvPr>
        </p:nvSpPr>
        <p:spPr>
          <a:xfrm>
            <a:off x="557784" y="640080"/>
            <a:ext cx="108906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800"/>
              <a:buFont typeface="Quattrocento Sans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498834" y="5118581"/>
            <a:ext cx="1464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8"/>
          <p:cNvSpPr txBox="1">
            <a:spLocks noGrp="1"/>
          </p:cNvSpPr>
          <p:nvPr>
            <p:ph type="body" idx="1"/>
          </p:nvPr>
        </p:nvSpPr>
        <p:spPr>
          <a:xfrm>
            <a:off x="841248" y="5102352"/>
            <a:ext cx="9207900" cy="585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Team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9"/>
          <p:cNvSpPr>
            <a:spLocks noGrp="1"/>
          </p:cNvSpPr>
          <p:nvPr>
            <p:ph type="pic" idx="2"/>
          </p:nvPr>
        </p:nvSpPr>
        <p:spPr>
          <a:xfrm>
            <a:off x="542239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6" name="Google Shape;66;p9"/>
          <p:cNvSpPr>
            <a:spLocks noGrp="1"/>
          </p:cNvSpPr>
          <p:nvPr>
            <p:ph type="pic" idx="3"/>
          </p:nvPr>
        </p:nvSpPr>
        <p:spPr>
          <a:xfrm>
            <a:off x="57607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7" name="Google Shape;67;p9"/>
          <p:cNvSpPr>
            <a:spLocks noGrp="1"/>
          </p:cNvSpPr>
          <p:nvPr>
            <p:ph type="pic" idx="4"/>
          </p:nvPr>
        </p:nvSpPr>
        <p:spPr>
          <a:xfrm>
            <a:off x="784555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9"/>
          <p:cNvSpPr/>
          <p:nvPr/>
        </p:nvSpPr>
        <p:spPr>
          <a:xfrm>
            <a:off x="1540857" y="876618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9"/>
          <p:cNvSpPr txBox="1">
            <a:spLocks noGrp="1"/>
          </p:cNvSpPr>
          <p:nvPr>
            <p:ph type="title"/>
          </p:nvPr>
        </p:nvSpPr>
        <p:spPr>
          <a:xfrm>
            <a:off x="1732881" y="721106"/>
            <a:ext cx="91002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>
            <a:spLocks noGrp="1"/>
          </p:cNvSpPr>
          <p:nvPr>
            <p:ph type="pic" idx="5"/>
          </p:nvPr>
        </p:nvSpPr>
        <p:spPr>
          <a:xfrm>
            <a:off x="299923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9"/>
          <p:cNvSpPr>
            <a:spLocks noGrp="1"/>
          </p:cNvSpPr>
          <p:nvPr>
            <p:ph type="pic" idx="6"/>
          </p:nvPr>
        </p:nvSpPr>
        <p:spPr>
          <a:xfrm>
            <a:off x="1026871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72" name="Google Shape;72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3" name="Google Shape;73;p9"/>
          <p:cNvSpPr txBox="1">
            <a:spLocks noGrp="1"/>
          </p:cNvSpPr>
          <p:nvPr>
            <p:ph type="body" idx="1"/>
          </p:nvPr>
        </p:nvSpPr>
        <p:spPr>
          <a:xfrm>
            <a:off x="5431536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p9"/>
          <p:cNvSpPr txBox="1">
            <a:spLocks noGrp="1"/>
          </p:cNvSpPr>
          <p:nvPr>
            <p:ph type="body" idx="7"/>
          </p:nvPr>
        </p:nvSpPr>
        <p:spPr>
          <a:xfrm>
            <a:off x="7845552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body" idx="8"/>
          </p:nvPr>
        </p:nvSpPr>
        <p:spPr>
          <a:xfrm>
            <a:off x="10268712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9"/>
          <p:cNvSpPr txBox="1">
            <a:spLocks noGrp="1"/>
          </p:cNvSpPr>
          <p:nvPr>
            <p:ph type="body" idx="9"/>
          </p:nvPr>
        </p:nvSpPr>
        <p:spPr>
          <a:xfrm>
            <a:off x="594360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9"/>
          <p:cNvSpPr txBox="1">
            <a:spLocks noGrp="1"/>
          </p:cNvSpPr>
          <p:nvPr>
            <p:ph type="body" idx="13"/>
          </p:nvPr>
        </p:nvSpPr>
        <p:spPr>
          <a:xfrm>
            <a:off x="3008376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0"/>
          <p:cNvSpPr/>
          <p:nvPr/>
        </p:nvSpPr>
        <p:spPr>
          <a:xfrm>
            <a:off x="1512865" y="786384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0"/>
          <p:cNvSpPr txBox="1">
            <a:spLocks noGrp="1"/>
          </p:cNvSpPr>
          <p:nvPr>
            <p:ph type="title"/>
          </p:nvPr>
        </p:nvSpPr>
        <p:spPr>
          <a:xfrm>
            <a:off x="1640881" y="503825"/>
            <a:ext cx="92589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body" idx="1"/>
          </p:nvPr>
        </p:nvSpPr>
        <p:spPr>
          <a:xfrm>
            <a:off x="466343" y="2270703"/>
            <a:ext cx="55053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body" idx="2"/>
          </p:nvPr>
        </p:nvSpPr>
        <p:spPr>
          <a:xfrm>
            <a:off x="466344" y="3103104"/>
            <a:ext cx="55053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0"/>
          <p:cNvSpPr txBox="1">
            <a:spLocks noGrp="1"/>
          </p:cNvSpPr>
          <p:nvPr>
            <p:ph type="body" idx="3"/>
          </p:nvPr>
        </p:nvSpPr>
        <p:spPr>
          <a:xfrm>
            <a:off x="6220409" y="2256140"/>
            <a:ext cx="55053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4" name="Google Shape;84;p10"/>
          <p:cNvSpPr txBox="1">
            <a:spLocks noGrp="1"/>
          </p:cNvSpPr>
          <p:nvPr>
            <p:ph type="body" idx="4"/>
          </p:nvPr>
        </p:nvSpPr>
        <p:spPr>
          <a:xfrm>
            <a:off x="6220409" y="3103104"/>
            <a:ext cx="55053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5" name="Google Shape;85;p10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 3 column">
  <p:cSld name="Comparison 3 column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1"/>
          <p:cNvSpPr/>
          <p:nvPr/>
        </p:nvSpPr>
        <p:spPr>
          <a:xfrm>
            <a:off x="1493520" y="786384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1"/>
          <p:cNvSpPr txBox="1">
            <a:spLocks noGrp="1"/>
          </p:cNvSpPr>
          <p:nvPr>
            <p:ph type="title"/>
          </p:nvPr>
        </p:nvSpPr>
        <p:spPr>
          <a:xfrm>
            <a:off x="1557528" y="548640"/>
            <a:ext cx="99564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1"/>
          <p:cNvSpPr txBox="1">
            <a:spLocks noGrp="1"/>
          </p:cNvSpPr>
          <p:nvPr>
            <p:ph type="body" idx="1"/>
          </p:nvPr>
        </p:nvSpPr>
        <p:spPr>
          <a:xfrm>
            <a:off x="57607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0" name="Google Shape;90;p11"/>
          <p:cNvSpPr txBox="1">
            <a:spLocks noGrp="1"/>
          </p:cNvSpPr>
          <p:nvPr>
            <p:ph type="body" idx="2"/>
          </p:nvPr>
        </p:nvSpPr>
        <p:spPr>
          <a:xfrm>
            <a:off x="576072" y="3203688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11"/>
          <p:cNvSpPr txBox="1">
            <a:spLocks noGrp="1"/>
          </p:cNvSpPr>
          <p:nvPr>
            <p:ph type="body" idx="3"/>
          </p:nvPr>
        </p:nvSpPr>
        <p:spPr>
          <a:xfrm>
            <a:off x="450799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2" name="Google Shape;92;p11"/>
          <p:cNvSpPr txBox="1">
            <a:spLocks noGrp="1"/>
          </p:cNvSpPr>
          <p:nvPr>
            <p:ph type="body" idx="4"/>
          </p:nvPr>
        </p:nvSpPr>
        <p:spPr>
          <a:xfrm>
            <a:off x="4507992" y="3203687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11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4" name="Google Shape;94;p11"/>
          <p:cNvSpPr txBox="1">
            <a:spLocks noGrp="1"/>
          </p:cNvSpPr>
          <p:nvPr>
            <p:ph type="body" idx="5"/>
          </p:nvPr>
        </p:nvSpPr>
        <p:spPr>
          <a:xfrm>
            <a:off x="843991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5" name="Google Shape;95;p11"/>
          <p:cNvSpPr txBox="1">
            <a:spLocks noGrp="1"/>
          </p:cNvSpPr>
          <p:nvPr>
            <p:ph type="body" idx="6"/>
          </p:nvPr>
        </p:nvSpPr>
        <p:spPr>
          <a:xfrm>
            <a:off x="8439912" y="3203687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3 pictures">
  <p:cSld name="Title and Content with 3 pictures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2"/>
          <p:cNvSpPr txBox="1">
            <a:spLocks noGrp="1"/>
          </p:cNvSpPr>
          <p:nvPr>
            <p:ph type="title"/>
          </p:nvPr>
        </p:nvSpPr>
        <p:spPr>
          <a:xfrm>
            <a:off x="841248" y="978408"/>
            <a:ext cx="40599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2"/>
          <p:cNvSpPr txBox="1">
            <a:spLocks noGrp="1"/>
          </p:cNvSpPr>
          <p:nvPr>
            <p:ph type="body" idx="1"/>
          </p:nvPr>
        </p:nvSpPr>
        <p:spPr>
          <a:xfrm>
            <a:off x="841248" y="2359152"/>
            <a:ext cx="40599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9" name="Google Shape;99;p12"/>
          <p:cNvSpPr>
            <a:spLocks noGrp="1"/>
          </p:cNvSpPr>
          <p:nvPr>
            <p:ph type="pic" idx="2"/>
          </p:nvPr>
        </p:nvSpPr>
        <p:spPr>
          <a:xfrm>
            <a:off x="8961120" y="566928"/>
            <a:ext cx="2871300" cy="23409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12"/>
          <p:cNvSpPr>
            <a:spLocks noGrp="1"/>
          </p:cNvSpPr>
          <p:nvPr>
            <p:ph type="pic" idx="3"/>
          </p:nvPr>
        </p:nvSpPr>
        <p:spPr>
          <a:xfrm>
            <a:off x="5843016" y="566928"/>
            <a:ext cx="2871300" cy="23409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12"/>
          <p:cNvSpPr/>
          <p:nvPr/>
        </p:nvSpPr>
        <p:spPr>
          <a:xfrm>
            <a:off x="345567" y="1170432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2"/>
          <p:cNvSpPr/>
          <p:nvPr/>
        </p:nvSpPr>
        <p:spPr>
          <a:xfrm>
            <a:off x="877459" y="2121408"/>
            <a:ext cx="39588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2"/>
          <p:cNvSpPr>
            <a:spLocks noGrp="1"/>
          </p:cNvSpPr>
          <p:nvPr>
            <p:ph type="pic" idx="4"/>
          </p:nvPr>
        </p:nvSpPr>
        <p:spPr>
          <a:xfrm>
            <a:off x="5843016" y="3108960"/>
            <a:ext cx="5989200" cy="3054000"/>
          </a:xfrm>
          <a:prstGeom prst="rect">
            <a:avLst/>
          </a:prstGeom>
          <a:noFill/>
          <a:ln>
            <a:noFill/>
          </a:ln>
        </p:spPr>
      </p:sp>
      <p:sp>
        <p:nvSpPr>
          <p:cNvPr id="104" name="Google Shape;104;p12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3"/>
          <p:cNvSpPr/>
          <p:nvPr/>
        </p:nvSpPr>
        <p:spPr>
          <a:xfrm>
            <a:off x="609084" y="2971798"/>
            <a:ext cx="128100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1078992" y="1938528"/>
            <a:ext cx="10177200" cy="29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400"/>
              <a:buFont typeface="Quattrocento Sans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5"/>
          <p:cNvSpPr/>
          <p:nvPr/>
        </p:nvSpPr>
        <p:spPr>
          <a:xfrm>
            <a:off x="498834" y="1618375"/>
            <a:ext cx="146400" cy="822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5"/>
          <p:cNvSpPr txBox="1">
            <a:spLocks noGrp="1"/>
          </p:cNvSpPr>
          <p:nvPr>
            <p:ph type="title"/>
          </p:nvPr>
        </p:nvSpPr>
        <p:spPr>
          <a:xfrm>
            <a:off x="868680" y="1362456"/>
            <a:ext cx="3099900" cy="15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400"/>
              <a:buFont typeface="Quattrocento Sans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5"/>
          <p:cNvSpPr txBox="1">
            <a:spLocks noGrp="1"/>
          </p:cNvSpPr>
          <p:nvPr>
            <p:ph type="body" idx="1"/>
          </p:nvPr>
        </p:nvSpPr>
        <p:spPr>
          <a:xfrm>
            <a:off x="4965192" y="1162033"/>
            <a:ext cx="6729900" cy="46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2"/>
          </p:nvPr>
        </p:nvSpPr>
        <p:spPr>
          <a:xfrm>
            <a:off x="868680" y="3013788"/>
            <a:ext cx="3099900" cy="24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16" name="Google Shape;116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6"/>
          <p:cNvSpPr/>
          <p:nvPr/>
        </p:nvSpPr>
        <p:spPr>
          <a:xfrm>
            <a:off x="498834" y="1618375"/>
            <a:ext cx="146400" cy="822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 txBox="1">
            <a:spLocks noGrp="1"/>
          </p:cNvSpPr>
          <p:nvPr>
            <p:ph type="title"/>
          </p:nvPr>
        </p:nvSpPr>
        <p:spPr>
          <a:xfrm>
            <a:off x="868680" y="1709928"/>
            <a:ext cx="3099900" cy="17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400"/>
              <a:buFont typeface="Quattrocento Sans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16"/>
          <p:cNvSpPr>
            <a:spLocks noGrp="1"/>
          </p:cNvSpPr>
          <p:nvPr>
            <p:ph type="pic" idx="2"/>
          </p:nvPr>
        </p:nvSpPr>
        <p:spPr>
          <a:xfrm>
            <a:off x="4965192" y="1161288"/>
            <a:ext cx="6729900" cy="4645200"/>
          </a:xfrm>
          <a:prstGeom prst="rect">
            <a:avLst/>
          </a:prstGeom>
          <a:noFill/>
          <a:ln>
            <a:noFill/>
          </a:ln>
        </p:spPr>
      </p:sp>
      <p:sp>
        <p:nvSpPr>
          <p:cNvPr id="121" name="Google Shape;121;p16"/>
          <p:cNvSpPr txBox="1">
            <a:spLocks noGrp="1"/>
          </p:cNvSpPr>
          <p:nvPr>
            <p:ph type="body" idx="1"/>
          </p:nvPr>
        </p:nvSpPr>
        <p:spPr>
          <a:xfrm>
            <a:off x="868680" y="3438144"/>
            <a:ext cx="309990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mage1.png"/><Relationship Id="rId18" Type="http://schemas.openxmlformats.org/officeDocument/2006/relationships/image" Target="../media/image2.gif"/><Relationship Id="rId1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7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839755"/>
            <a:ext cx="10515600" cy="8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400"/>
              <a:buFont typeface="Roboto Medium"/>
              <a:buNone/>
              <a:defRPr sz="4400" i="0" u="none" strike="noStrike" cap="none">
                <a:solidFill>
                  <a:srgbClr val="0033CC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Char char="•"/>
              <a:defRPr sz="2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810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•"/>
              <a:defRPr sz="2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556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Char char="•"/>
              <a:defRPr sz="20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 dirty="0"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4" name="Google Shape;14;p1"/>
          <p:cNvPicPr preferRelativeResize="0"/>
          <p:nvPr/>
        </p:nvPicPr>
        <p:blipFill>
          <a:blip r:embed="rId18">
            <a:alphaModFix/>
          </a:blip>
          <a:stretch>
            <a:fillRect/>
          </a:stretch>
        </p:blipFill>
        <p:spPr>
          <a:xfrm>
            <a:off x="10455475" y="93557"/>
            <a:ext cx="1657350" cy="723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7D03A71-DF26-4778-ACBE-93DEA04DFDA4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79175" y="93557"/>
            <a:ext cx="1275386" cy="723900"/>
          </a:xfrm>
          <a:prstGeom prst="rect">
            <a:avLst/>
          </a:prstGeom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-closing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hyperlink" Target="mailto:phuc@lhu.edu.vn" TargetMode="External"/><Relationship Id="rId7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slide-closing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6"/>
          <p:cNvSpPr txBox="1">
            <a:spLocks noGrp="1"/>
          </p:cNvSpPr>
          <p:nvPr>
            <p:ph type="title"/>
          </p:nvPr>
        </p:nvSpPr>
        <p:spPr>
          <a:xfrm>
            <a:off x="7772400" y="978408"/>
            <a:ext cx="3721608" cy="1106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</a:pPr>
            <a:r>
              <a:rPr lang="en-US"/>
              <a:t>Thank you</a:t>
            </a:r>
            <a:endParaRPr/>
          </a:p>
        </p:txBody>
      </p:sp>
      <p:pic>
        <p:nvPicPr>
          <p:cNvPr id="205" name="Google Shape;205;p26" descr="woman writing on a dry erase board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59" r="59"/>
          <a:stretch/>
        </p:blipFill>
        <p:spPr>
          <a:xfrm>
            <a:off x="895522" y="859155"/>
            <a:ext cx="6016834" cy="4910328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26" descr="User"/>
          <p:cNvPicPr preferRelativeResize="0">
            <a:picLocks noGrp="1"/>
          </p:cNvPicPr>
          <p:nvPr>
            <p:ph type="pic" idx="5"/>
          </p:nvPr>
        </p:nvPicPr>
        <p:blipFill rotWithShape="1">
          <a:blip r:embed="rId4">
            <a:alphaModFix/>
          </a:blip>
          <a:srcRect/>
          <a:stretch/>
        </p:blipFill>
        <p:spPr>
          <a:xfrm>
            <a:off x="7772400" y="2532888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6"/>
          <p:cNvSpPr txBox="1">
            <a:spLocks noGrp="1"/>
          </p:cNvSpPr>
          <p:nvPr>
            <p:ph type="body" idx="1"/>
          </p:nvPr>
        </p:nvSpPr>
        <p:spPr>
          <a:xfrm>
            <a:off x="7772400" y="3099816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>ThS. Nguyễn Minh Phúc</a:t>
            </a:r>
            <a:endParaRPr/>
          </a:p>
        </p:txBody>
      </p:sp>
      <p:pic>
        <p:nvPicPr>
          <p:cNvPr id="208" name="Google Shape;208;p26" descr="Envelope"/>
          <p:cNvPicPr preferRelativeResize="0">
            <a:picLocks noGrp="1"/>
          </p:cNvPicPr>
          <p:nvPr>
            <p:ph type="pic" idx="6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7772400" y="3630168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6"/>
          <p:cNvSpPr txBox="1">
            <a:spLocks noGrp="1"/>
          </p:cNvSpPr>
          <p:nvPr>
            <p:ph type="body" idx="3"/>
          </p:nvPr>
        </p:nvSpPr>
        <p:spPr>
          <a:xfrm>
            <a:off x="7772400" y="4215384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>
                <a:hlinkClick r:id="rId6"/>
              </a:rPr>
              <a:t>phuc@lhu.edu.vn</a:t>
            </a:r>
            <a:endParaRPr/>
          </a:p>
        </p:txBody>
      </p:sp>
      <p:pic>
        <p:nvPicPr>
          <p:cNvPr id="210" name="Google Shape;210;p26" descr="Monitor"/>
          <p:cNvPicPr preferRelativeResize="0">
            <a:picLocks noGrp="1"/>
          </p:cNvPicPr>
          <p:nvPr>
            <p:ph type="pic" idx="7"/>
          </p:nvPr>
        </p:nvPicPr>
        <p:blipFill rotWithShape="1">
          <a:blip r:embed="rId7">
            <a:alphaModFix/>
          </a:blip>
          <a:srcRect/>
          <a:stretch/>
        </p:blipFill>
        <p:spPr>
          <a:xfrm>
            <a:off x="7772400" y="475488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6"/>
          <p:cNvSpPr txBox="1">
            <a:spLocks noGrp="1"/>
          </p:cNvSpPr>
          <p:nvPr>
            <p:ph type="body" idx="4"/>
          </p:nvPr>
        </p:nvSpPr>
        <p:spPr>
          <a:xfrm>
            <a:off x="7772400" y="5321808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>lhu.edu.vn</a:t>
            </a:r>
            <a:endParaRPr/>
          </a:p>
        </p:txBody>
      </p:sp>
      <p:sp>
        <p:nvSpPr>
          <p:cNvPr id="212" name="Google Shape;212;p26"/>
          <p:cNvSpPr txBox="1">
            <a:spLocks noGrp="1"/>
          </p:cNvSpPr>
          <p:nvPr>
            <p:ph type="dt" idx="10"/>
          </p:nvPr>
        </p:nvSpPr>
        <p:spPr>
          <a:xfrm>
            <a:off x="90525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Học kỳ 6 • 2026</a:t>
            </a:r>
            <a:endParaRPr/>
          </a:p>
        </p:txBody>
      </p:sp>
      <p:sp>
        <p:nvSpPr>
          <p:cNvPr id="213" name="Google Shape;21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Lập trình ứng dụng di động (111114)</a:t>
            </a:r>
            <a:endParaRPr/>
          </a:p>
        </p:txBody>
      </p:sp>
      <p:sp>
        <p:nvSpPr>
          <p:cNvPr id="214" name="Google Shape;214;p26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600"/>
              <a:t>Bài 05: Thiết kế CSDL, stored procedure, API NestJS &amp; kết nối ứng dụng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400"/>
              <a:t>Lập trình ứng dụng di động (111114)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87168" y="4892040"/>
            <a:ext cx="7223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6C757D"/>
                </a:solidFill>
              </a:rPr>
              <a:t>Từ màn hình điện thoại tới một dòng trong SQL Server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05: Thiết kế CSDL, stored procedure, API NestJS &amp; kết nối ứng dụng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Hoàn thiện thiết kế CSDL SQL Server và ERD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Viết stored procedure cho các thao tác dữ liệu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Xây API NestJS chỉ gọi stored procedure bằng </a:t>
            </a:r>
            <a:r>
              <a:rPr sz="2600">
                <a:latin typeface="Consolas"/>
              </a:rPr>
              <a:t>mssql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Kết nối ứng dụng với API bằng TanStack Query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Mục tiêu buổi học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05: Thiết kế CSDL, stored procedure, API NestJS &amp; kết nối ứng dụng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App không kết nối thẳng SQL Server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API không viết câu SQL; chỉ gọi thủ tục có tham số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Dữ liệu đi qua những lớp nào?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5-cac-lop-du-lie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469920"/>
            <a:ext cx="5577840" cy="314091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05: Thiết kế CSDL, stored procedure, API NestJS &amp; kết nối ứng dụng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Từ ERD sơ bộ (bài 03): thêm kiểu dữ liệu, khóa, ràng buộc</a:t>
            </a:r>
          </a:p>
          <a:p>
            <a:pPr>
              <a:spcBef>
                <a:spcPts val="400"/>
              </a:spcBef>
              <a:buChar char="❖"/>
            </a:pPr>
            <a:r>
              <a:rPr sz="2600">
                <a:latin typeface="Consolas"/>
              </a:rPr>
              <a:t>NVARCHAR</a:t>
            </a:r>
            <a:r>
              <a:rPr sz="2600"/>
              <a:t> cho chuỗi tiếng Việt, </a:t>
            </a:r>
            <a:r>
              <a:rPr sz="2600">
                <a:latin typeface="Consolas"/>
              </a:rPr>
              <a:t>DECIMAL</a:t>
            </a:r>
            <a:r>
              <a:rPr sz="2600"/>
              <a:t> cho tiền</a:t>
            </a:r>
          </a:p>
          <a:p>
            <a:pPr>
              <a:spcBef>
                <a:spcPts val="400"/>
              </a:spcBef>
              <a:buChar char="❖"/>
            </a:pPr>
            <a:r>
              <a:rPr sz="2600">
                <a:latin typeface="Consolas"/>
              </a:rPr>
              <a:t>CHECK (Price &gt;= 0)</a:t>
            </a:r>
            <a:r>
              <a:rPr sz="2600"/>
              <a:t>, </a:t>
            </a:r>
            <a:r>
              <a:rPr sz="2600">
                <a:latin typeface="Consolas"/>
              </a:rPr>
              <a:t>CHECK (Quantity &gt; 0)</a:t>
            </a:r>
            <a:r>
              <a:rPr sz="2600"/>
              <a:t>, </a:t>
            </a:r>
            <a:r>
              <a:rPr sz="2600">
                <a:latin typeface="Consolas"/>
              </a:rPr>
              <a:t>UNIQUE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OrderItems: khóa chính (OrderId, ProductId), lưu </a:t>
            </a:r>
            <a:r>
              <a:rPr sz="2600">
                <a:latin typeface="Consolas"/>
              </a:rPr>
              <a:t>UnitPrice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Hoạt động</a:t>
            </a:r>
            <a:r>
              <a:rPr sz="2600">
                <a:solidFill>
                  <a:srgbClr val="0033CC"/>
                </a:solidFill>
              </a:rPr>
              <a:t>: Hỏi lớp: vì sao OrderItems phải lưu giá tại thời điểm đặt?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Hoàn thiện thiết kế CSDL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05: Thiết kế CSDL, stored procedure, API NestJS &amp; kết nối ứng dụng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Bảng Products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1097280"/>
            <a:ext cx="11338560" cy="256032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CREATE TABLE Products (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ProductId   INT IDENTITY(1,1) PRIMARY KEY,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CategoryId  INT NOT NULL REFERENCES Categories(CategoryId),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Name        NVARCHAR(150) NOT NULL,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Price       DECIMAL(12,0) NOT NULL CHECK (Price &gt;= 0),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ImageUrl    NVARCHAR(500) NULL,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IsAvailable BIT NOT NULL DEFAULT 1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);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05: Thiết kế CSDL, stored procedure, API NestJS &amp; kết nối ứng dụng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Tách logic dữ liệu khỏi mã backend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API chỉ cần quyền </a:t>
            </a:r>
            <a:r>
              <a:rPr sz="2600">
                <a:latin typeface="Consolas"/>
              </a:rPr>
              <a:t>EXECUTE</a:t>
            </a:r>
            <a:r>
              <a:rPr sz="2600"/>
              <a:t>, không chạm trực tiếp vào bảng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Giá trị đi qua tham số có kiểu → chống SQL injection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Quy ước tên: </a:t>
            </a:r>
            <a:r>
              <a:rPr sz="2600">
                <a:latin typeface="Consolas"/>
              </a:rPr>
              <a:t>sp_&lt;Thực thể&gt;_&lt;Hành động&gt;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Ví dụ</a:t>
            </a:r>
          </a:p>
          <a:p>
            <a:pPr>
              <a:spcBef>
                <a:spcPts val="400"/>
              </a:spcBef>
              <a:buChar char="❖"/>
            </a:pPr>
            <a:r>
              <a:rPr sz="2600">
                <a:latin typeface="Consolas"/>
              </a:rPr>
              <a:t>sp_Product_GetList</a:t>
            </a:r>
            <a:r>
              <a:rPr sz="2600"/>
              <a:t>, </a:t>
            </a:r>
            <a:r>
              <a:rPr sz="2600">
                <a:latin typeface="Consolas"/>
              </a:rPr>
              <a:t>sp_Product_GetById</a:t>
            </a:r>
            <a:r>
              <a:rPr sz="2600"/>
              <a:t>, </a:t>
            </a:r>
            <a:r>
              <a:rPr sz="2600">
                <a:latin typeface="Consolas"/>
              </a:rPr>
              <a:t>sp_Order_Create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Vì sao bắt buộc stored procedure?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05: Thiết kế CSDL, stored procedure, API NestJS &amp; kết nối ứng dụng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sp_Product_GetList có phân trang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1097280"/>
            <a:ext cx="11338560" cy="306832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CREATE OR ALTER PROCEDURE sp_Product_GetList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  @CategoryId INT = NULL, @Page INT = 1, @PageSize INT = 20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AS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BEGIN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  SET NOCOUNT ON;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  SELECT ProductId AS id, CategoryId AS categoryId, Name AS name, Price AS price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  FROM Products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  WHERE IsAvailable = 1 AND (@CategoryId IS NULL OR CategoryId = @CategoryId)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  ORDER BY ProductId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  OFFSET (@Page - 1) * @PageSize ROWS FETCH NEXT @PageSize ROWS ONLY;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END;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05: Thiết kế CSDL, stored procedure, API NestJS &amp; kết nối ứng dụng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185928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Mã lỗi tự đặt từ 50000 trở lên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Backend đọc </a:t>
            </a:r>
            <a:r>
              <a:rPr sz="2600">
                <a:latin typeface="Consolas"/>
              </a:rPr>
              <a:t>err.number</a:t>
            </a:r>
            <a:r>
              <a:rPr sz="2600"/>
              <a:t> → trả HTTP phù hợp (50404 → 404)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Chạy thử trong SSMS: </a:t>
            </a:r>
            <a:r>
              <a:rPr sz="2600">
                <a:latin typeface="Consolas"/>
              </a:rPr>
              <a:t>EXEC sp_Product_GetById @ProductId = 999;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Báo lỗi bằng THROW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3047999"/>
            <a:ext cx="11338560" cy="84582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IF NOT EXISTS (SELECT 1 FROM Products WHERE ProductId = @ProductId)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THROW 50404, N'Không tìm thấy món ăn', 1;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05: Thiết kế CSDL, stored procedure, API NestJS &amp; kết nối ứng dụng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8026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Một connection pool cho cả ứng dụng, cấu hình từ </a:t>
            </a:r>
            <a:r>
              <a:rPr sz="2600">
                <a:latin typeface="Consolas"/>
              </a:rPr>
              <a:t>.env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DatabaseService với mssql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1991359"/>
            <a:ext cx="11338560" cy="256032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async execute&lt;T&gt;(procedure: string, params: Record&lt;string, Param&gt; = {}) {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const request = this.pool.request();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for (const [name, p] of Object.entries(params)) {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  request.input(name, p.type, p.value);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}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const result = await request.execute&lt;T&gt;(procedure);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return result.recordset;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05: Thiết kế CSDL, stored procedure, API NestJS &amp; kết nối ứng dụng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133096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Controller nhận request, DTO + ValidationPipe kiểm tra dữ liệu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Swagger: tài liệu API cho người làm mobile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Service gọi thủ tục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2519680"/>
            <a:ext cx="11338560" cy="227457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findAll(page = 1, categoryId?: number) {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return this.db.execute('sp_Product_GetList', {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  CategoryId: { type: sql.Int, value: categoryId ?? null },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  Page: { type: sql.Int, value: page },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  PageSize: { type: sql.Int, value: 20 },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});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05: Thiết kế CSDL, stored procedure, API NestJS &amp; kết nối ứng dụng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Đưa ERD cho Antigravity sinh thủ tục và service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Review từng thủ tục: đủ tham số, </a:t>
            </a:r>
            <a:r>
              <a:rPr sz="2600">
                <a:latin typeface="Consolas"/>
              </a:rPr>
              <a:t>SET NOCOUNT ON</a:t>
            </a:r>
            <a:r>
              <a:rPr sz="2600"/>
              <a:t>, kiểm tra tồn tại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Tìm chuỗi </a:t>
            </a:r>
            <a:r>
              <a:rPr sz="2600">
                <a:latin typeface="Consolas"/>
              </a:rPr>
              <a:t>SELECT</a:t>
            </a:r>
            <a:r>
              <a:rPr sz="2600"/>
              <a:t>, </a:t>
            </a:r>
            <a:r>
              <a:rPr sz="2600">
                <a:latin typeface="Consolas"/>
              </a:rPr>
              <a:t>INSERT</a:t>
            </a:r>
            <a:r>
              <a:rPr sz="2600"/>
              <a:t> trong mã backend → phải không còn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Vibe coding cho backend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5-vibe-back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05: Thiết kế CSDL, stored procedure, API NestJS &amp; kết nối ứng dụng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>
                <a:latin typeface="Consolas"/>
              </a:rPr>
              <a:t>.env</a:t>
            </a:r>
            <a:r>
              <a:rPr sz="2600"/>
              <a:t>: </a:t>
            </a:r>
            <a:r>
              <a:rPr sz="2600">
                <a:latin typeface="Consolas"/>
              </a:rPr>
              <a:t>EXPO_PUBLIC_API_URL=http://192.168.1.10:3000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Điện thoại thật: IP LAN, </a:t>
            </a:r>
            <a:r>
              <a:rPr b="1" sz="2600"/>
              <a:t>không</a:t>
            </a:r>
            <a:r>
              <a:rPr sz="2600"/>
              <a:t> dùng localhost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Android emulator: </a:t>
            </a:r>
            <a:r>
              <a:rPr sz="2600">
                <a:latin typeface="Consolas"/>
              </a:rPr>
              <a:t>10.0.2.2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Tường lửa Windows có thể chặn cổng API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Không đặt bí mật vào biến </a:t>
            </a:r>
            <a:r>
              <a:rPr sz="2600">
                <a:latin typeface="Consolas"/>
              </a:rPr>
              <a:t>EXPO_PUBLIC_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Địa chỉ API trong ứng dụng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5-dia-chi-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05: Thiết kế CSDL, stored procedure, API NestJS &amp; kết nối ứng dụng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TanStack Query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1097280"/>
            <a:ext cx="11338560" cy="230632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const { data, isLoading, isError, refetch } = useQuery({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  queryKey: ['products'],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  queryFn: () =&gt; api&lt;Product[]&gt;('/products'),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});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const createOrder = useMutation({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  mutationFn: (body: NewOrder) =&gt; api('/orders', { method: 'POST', body: JSON.stringify(body) }),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  onSuccess: () =&gt; queryClient.invalidateQueries({ queryKey: ['orders'] }),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});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05: Thiết kế CSDL, stored procedure, API NestJS &amp; kết nối ứng dụng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>
                <a:latin typeface="Consolas"/>
              </a:rPr>
              <a:t>useInfiniteQuery</a:t>
            </a:r>
            <a:r>
              <a:rPr sz="2600"/>
              <a:t> + </a:t>
            </a:r>
            <a:r>
              <a:rPr sz="2600">
                <a:latin typeface="Consolas"/>
              </a:rPr>
              <a:t>FlatList onEndReached</a:t>
            </a:r>
            <a:r>
              <a:rPr sz="2600"/>
              <a:t> cho lịch sử đơn hàng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Luôn xử lý: </a:t>
            </a:r>
            <a:r>
              <a:rPr b="1" sz="2600"/>
              <a:t>đang tải</a:t>
            </a:r>
            <a:r>
              <a:rPr sz="2600"/>
              <a:t>, </a:t>
            </a:r>
            <a:r>
              <a:rPr b="1" sz="2600"/>
              <a:t>lỗi</a:t>
            </a:r>
            <a:r>
              <a:rPr sz="2600"/>
              <a:t> (có nút thử lại), </a:t>
            </a:r>
            <a:r>
              <a:rPr b="1" sz="2600"/>
              <a:t>rỗng</a:t>
            </a:r>
            <a:r>
              <a:rPr sz="2600"/>
              <a:t>, </a:t>
            </a:r>
            <a:r>
              <a:rPr b="1" sz="2600"/>
              <a:t>có dữ liệu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Hoạt động</a:t>
            </a:r>
            <a:r>
              <a:rPr sz="2600">
                <a:solidFill>
                  <a:srgbClr val="0033CC"/>
                </a:solidFill>
              </a:rPr>
              <a:t>: Lớp chỉ ra trạng thái nào còn thiếu trên màn hình mẫu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Cuộn vô hạn và 4 trạng thái màn hình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5-bon-trang-th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05: Thiết kế CSDL, stored procedure, API NestJS &amp; kết nối ứng dụng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Chạy script tạo bảng và dữ liệu mẫu; vẽ ERD hoàn chỉnh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Viết 4 thủ tục; chạy thử bằng EXEC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DatabaseService, module products và orders, Swagger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App: </a:t>
            </a:r>
            <a:r>
              <a:rPr sz="2600">
                <a:latin typeface="Consolas"/>
              </a:rPr>
              <a:t>lib/api.ts</a:t>
            </a:r>
            <a:r>
              <a:rPr sz="2600"/>
              <a:t>, QueryClientProvider, useQuery, useMutation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Thực hành có hướng dẫn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05: Thiết kế CSDL, stored procedure, API NestJS &amp; kết nối ứng dụng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b="1" sz="2600"/>
              <a:t>Cá nhân</a:t>
            </a:r>
            <a:r>
              <a:rPr sz="2600"/>
              <a:t>: </a:t>
            </a:r>
            <a:r>
              <a:rPr sz="2600">
                <a:latin typeface="Consolas"/>
              </a:rPr>
              <a:t>sp_Order_GetHistory</a:t>
            </a:r>
            <a:r>
              <a:rPr sz="2600"/>
              <a:t> + endpoint + màn hình cuộn vô hạn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Nhóm</a:t>
            </a:r>
            <a:r>
              <a:rPr sz="2600"/>
              <a:t>: ERD hoàn chỉnh, danh mục stored procedure, script tạo thủ tục, API có Swagger, app dùng dữ liệu thật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Thực hành không hướng dẫn &amp; thử thách nhóm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05: Thiết kế CSDL, stored procedure, API NestJS &amp; kết nối ứng dụng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App → API → stored procedure → bảng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Mọi câu SQL nằm trong thủ tục; API chỉ </a:t>
            </a:r>
            <a:r>
              <a:rPr sz="2600">
                <a:latin typeface="Consolas"/>
              </a:rPr>
              <a:t>execute</a:t>
            </a:r>
            <a:r>
              <a:rPr sz="2600"/>
              <a:t> có tham số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localhost trên điện thoại là chính điện thoại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TanStack Query lo tải, lỗi, cache; bạn lo 4 trạng thái màn hình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Hoạt động</a:t>
            </a:r>
            <a:r>
              <a:rPr sz="2600">
                <a:solidFill>
                  <a:srgbClr val="0033CC"/>
                </a:solidFill>
              </a:rPr>
              <a:t>: Làm quiz Bài 05 ở cuối trang bài học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Tóm tắt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05: Thiết kế CSDL, stored procedure, API NestJS &amp; kết nối ứng dụng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 marL="0" indent="0">
              <a:spcBef>
                <a:spcPts val="4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Đọc thêm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Giáo trình nội bộ, Chương 5: Thiết kế CSDL, stored procedure, API NestJS và kết nối ứng dụng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Bài tập hướng dẫn theo dự án LHU Food (cuối Chương 5)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SRS LHU Food: mục 5.3, 5.5, 7 (dữ liệu), 8 (danh mục API)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Tài liệu của buổi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rgbClr val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173</Words>
  <Application>Microsoft Office PowerPoint</Application>
  <PresentationFormat>Widescreen</PresentationFormat>
  <Paragraphs>24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2" baseType="lpstr">
      <vt:lpstr>Arial</vt:lpstr>
      <vt:lpstr>Avenir</vt:lpstr>
      <vt:lpstr>Roboto Black</vt:lpstr>
      <vt:lpstr>Quattrocento Sans</vt:lpstr>
      <vt:lpstr>Roboto</vt:lpstr>
      <vt:lpstr>Calibri</vt:lpstr>
      <vt:lpstr>Roboto Medium</vt:lpstr>
      <vt:lpstr>AccentBoxVTI</vt:lpstr>
      <vt:lpstr>LẬP TRÌNH  HƯỚNG ĐỐI TƯỢNG</vt:lpstr>
      <vt:lpstr>Repository Pattern</vt:lpstr>
      <vt:lpstr>Repository Pattern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NGUYEN MINH PHUC</cp:lastModifiedBy>
  <cp:revision>1</cp:revision>
  <dcterms:modified xsi:type="dcterms:W3CDTF">2026-10-31T01:21:49Z</dcterms:modified>
</cp:coreProperties>
</file>