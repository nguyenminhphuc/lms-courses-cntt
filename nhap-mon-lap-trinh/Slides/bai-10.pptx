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-closing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63" r:id="rId1"/>
  </p:sldMasterIdLst>
  <p:notesMasterIdLst>
    <p:notesMasterId r:id="rId6"/>
  </p:notesMasterIdLst>
  <p:sldIdLst>
    <p:sldId id="266" r:id="rId4"/>
    <p:sldId id="267" r:id="rId3"/>
    <p:sldId id="268" r:id="rId2"/>
    <p:sldId id="269" r:id="rId25"/>
    <p:sldId id="270" r:id="rId26"/>
    <p:sldId id="271" r:id="rId27"/>
    <p:sldId id="272" r:id="rId28"/>
    <p:sldId id="273" r:id="rId29"/>
    <p:sldId id="274" r:id="rId30"/>
    <p:sldId id="275" r:id="rId31"/>
    <p:sldId id="276" r:id="rId32"/>
    <p:sldId id="277" r:id="rId33"/>
    <p:sldId id="278" r:id="rId34"/>
    <p:sldId id="279" r:id="rId35"/>
    <p:sldId id="265" r:id="rId5"/>
  </p:sldIdLst>
  <p:sldSz cx="12192000" cy="6858000"/>
  <p:notesSz cx="6858000" cy="9144000"/>
  <p:embeddedFontLst>
    <p:embeddedFont>
      <p:font typeface="Quattrocento Sans" panose="020B0502050000020003" pitchFamily="34" charset="0"/>
      <p:regular r:id="rId7"/>
      <p:bold r:id="rId8"/>
      <p:italic r:id="rId9"/>
      <p:boldItalic r:id="rId10"/>
    </p:embeddedFont>
    <p:embeddedFont>
      <p:font typeface="Roboto" panose="02000000000000000000" pitchFamily="2" charset="0"/>
      <p:regular r:id="rId11"/>
      <p:bold r:id="rId12"/>
      <p:italic r:id="rId13"/>
      <p:boldItalic r:id="rId14"/>
    </p:embeddedFont>
    <p:embeddedFont>
      <p:font typeface="Roboto Black" panose="02000000000000000000" pitchFamily="2" charset="0"/>
      <p:bold r:id="rId15"/>
      <p:boldItalic r:id="rId16"/>
    </p:embeddedFont>
    <p:embeddedFont>
      <p:font typeface="Roboto Medium" panose="02000000000000000000" pitchFamily="2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360">
          <p15:clr>
            <a:srgbClr val="A4A3A4"/>
          </p15:clr>
        </p15:guide>
        <p15:guide id="2" pos="7392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558" y="114"/>
      </p:cViewPr>
      <p:guideLst>
        <p:guide pos="360"/>
        <p:guide pos="7392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4.xml"/><Relationship Id="rId3" Type="http://schemas.openxmlformats.org/officeDocument/2006/relationships/slide" Target="slides/slide3.xml"/><Relationship Id="rId4" Type="http://schemas.openxmlformats.org/officeDocument/2006/relationships/slide" Target="slides/slide2.xml"/><Relationship Id="rId5" Type="http://schemas.openxmlformats.org/officeDocument/2006/relationships/slide" Target="slides/slide-closing.xml"/><Relationship Id="rId6" Type="http://schemas.openxmlformats.org/officeDocument/2006/relationships/notesMaster" Target="notesMasters/notesMaster1.xml"/><Relationship Id="rId7" Type="http://schemas.openxmlformats.org/officeDocument/2006/relationships/font" Target="fonts/font1.fntdata"/><Relationship Id="rId8" Type="http://schemas.openxmlformats.org/officeDocument/2006/relationships/font" Target="fonts/font2.fntdata"/><Relationship Id="rId9" Type="http://schemas.openxmlformats.org/officeDocument/2006/relationships/font" Target="fonts/font3.fntdata"/><Relationship Id="rId10" Type="http://schemas.openxmlformats.org/officeDocument/2006/relationships/font" Target="fonts/font4.fntdata"/><Relationship Id="rId11" Type="http://schemas.openxmlformats.org/officeDocument/2006/relationships/font" Target="fonts/font5.fntdata"/><Relationship Id="rId12" Type="http://schemas.openxmlformats.org/officeDocument/2006/relationships/font" Target="fonts/font6.fntdata"/><Relationship Id="rId13" Type="http://schemas.openxmlformats.org/officeDocument/2006/relationships/font" Target="fonts/font7.fntdata"/><Relationship Id="rId14" Type="http://schemas.openxmlformats.org/officeDocument/2006/relationships/font" Target="fonts/font8.fntdata"/><Relationship Id="rId15" Type="http://schemas.openxmlformats.org/officeDocument/2006/relationships/font" Target="fonts/font9.fntdata"/><Relationship Id="rId16" Type="http://schemas.openxmlformats.org/officeDocument/2006/relationships/font" Target="fonts/font10.fntdata"/><Relationship Id="rId17" Type="http://schemas.openxmlformats.org/officeDocument/2006/relationships/font" Target="fonts/font11.fntdata"/><Relationship Id="rId18" Type="http://schemas.openxmlformats.org/officeDocument/2006/relationships/font" Target="fonts/font12.fntdata"/><Relationship Id="rId19" Type="http://schemas.openxmlformats.org/officeDocument/2006/relationships/font" Target="fonts/font13.fntdata"/><Relationship Id="rId20" Type="http://schemas.openxmlformats.org/officeDocument/2006/relationships/font" Target="fonts/font14.fntdata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5" Type="http://schemas.openxmlformats.org/officeDocument/2006/relationships/slide" Target="slides/slide5.xml"/><Relationship Id="rId26" Type="http://schemas.openxmlformats.org/officeDocument/2006/relationships/slide" Target="slides/slide6.xml"/><Relationship Id="rId27" Type="http://schemas.openxmlformats.org/officeDocument/2006/relationships/slide" Target="slides/slide7.xml"/><Relationship Id="rId28" Type="http://schemas.openxmlformats.org/officeDocument/2006/relationships/slide" Target="slides/slide8.xml"/><Relationship Id="rId29" Type="http://schemas.openxmlformats.org/officeDocument/2006/relationships/slide" Target="slides/slide9.xml"/><Relationship Id="rId30" Type="http://schemas.openxmlformats.org/officeDocument/2006/relationships/slide" Target="slides/slide10.xml"/><Relationship Id="rId31" Type="http://schemas.openxmlformats.org/officeDocument/2006/relationships/slide" Target="slides/slide11.xml"/><Relationship Id="rId32" Type="http://schemas.openxmlformats.org/officeDocument/2006/relationships/slide" Target="slides/slide12.xml"/><Relationship Id="rId33" Type="http://schemas.openxmlformats.org/officeDocument/2006/relationships/slide" Target="slides/slide13.xml"/><Relationship Id="rId34" Type="http://schemas.openxmlformats.org/officeDocument/2006/relationships/slide" Target="slides/slide14.xml"/><Relationship Id="rId35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-closing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Mỗi nhánh lá là một hàm. Sơ đồ này là căn cứ chia việc ở bước phân công.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1,5 tiết lý thuyết, 3,5 tiết làm việc nhóm. CLO2, CLO3. Nhắc quy định điểm cộng truyền thông.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Hết buổi 10: kế hoạch được duyệt. Hết buổi 11: code trên GitHub, README. Buổi 12: Showcase.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Link nộp kế hoạch: {{LINK_NOP_BAI_10}}.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1801368" y="1664208"/>
            <a:ext cx="8586300" cy="21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6600"/>
              <a:buFont typeface="Roboto Black"/>
              <a:buNone/>
              <a:defRPr sz="6600" b="0">
                <a:latin typeface="Roboto Black"/>
                <a:ea typeface="Roboto Black"/>
                <a:cs typeface="Roboto Black"/>
                <a:sym typeface="Roboto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2487168" y="4142232"/>
            <a:ext cx="72237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Roboto Medium"/>
              <a:buNone/>
              <a:defRPr sz="28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>
            <a:spLocks noGrp="1"/>
          </p:cNvSpPr>
          <p:nvPr>
            <p:ph type="title"/>
          </p:nvPr>
        </p:nvSpPr>
        <p:spPr>
          <a:xfrm>
            <a:off x="1078992" y="1938528"/>
            <a:ext cx="7013400" cy="29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5400"/>
              <a:buFont typeface="Quattrocento Sans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body" idx="1"/>
          </p:nvPr>
        </p:nvSpPr>
        <p:spPr>
          <a:xfrm>
            <a:off x="8613648" y="1938528"/>
            <a:ext cx="2688300" cy="2990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609084" y="2965074"/>
            <a:ext cx="128100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 rot="5400000">
            <a:off x="7360671" y="3424440"/>
            <a:ext cx="2103000" cy="9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lvl="0">
              <a:buNone/>
              <a:defRPr sz="1300"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>
              <a:buNone/>
              <a:defRPr sz="1300"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lvl="2">
              <a:buNone/>
              <a:defRPr sz="1300"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lvl="3">
              <a:buNone/>
              <a:defRPr sz="1300"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lvl="4">
              <a:buNone/>
              <a:defRPr sz="1300"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lvl="5">
              <a:buNone/>
              <a:defRPr sz="1300"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lvl="6">
              <a:buNone/>
              <a:defRPr sz="1300"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lvl="7">
              <a:buNone/>
              <a:defRPr sz="1300"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lvl="8">
              <a:buNone/>
              <a:defRPr sz="1300"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/>
          <p:nvPr/>
        </p:nvSpPr>
        <p:spPr>
          <a:xfrm>
            <a:off x="1780130" y="95350"/>
            <a:ext cx="41700" cy="70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1780125" y="95350"/>
            <a:ext cx="10003200" cy="4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3800"/>
              <a:buFont typeface="Quattrocento Sans"/>
              <a:buNone/>
              <a:defRPr sz="3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122350" y="1074775"/>
            <a:ext cx="11976000" cy="454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title" idx="2"/>
          </p:nvPr>
        </p:nvSpPr>
        <p:spPr>
          <a:xfrm>
            <a:off x="2305500" y="498850"/>
            <a:ext cx="8193900" cy="4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2300"/>
              <a:buFont typeface="Quattrocento Sans"/>
              <a:buNone/>
              <a:defRPr sz="2300">
                <a:solidFill>
                  <a:srgbClr val="FF99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00"/>
              <a:buNone/>
              <a:defRPr sz="300"/>
            </a:lvl2pPr>
            <a:lvl3pPr lvl="2" rtl="0">
              <a:spcBef>
                <a:spcPts val="0"/>
              </a:spcBef>
              <a:spcAft>
                <a:spcPts val="0"/>
              </a:spcAft>
              <a:buSzPts val="100"/>
              <a:buNone/>
              <a:defRPr sz="300"/>
            </a:lvl3pPr>
            <a:lvl4pPr lvl="3" rtl="0">
              <a:spcBef>
                <a:spcPts val="0"/>
              </a:spcBef>
              <a:spcAft>
                <a:spcPts val="0"/>
              </a:spcAft>
              <a:buSzPts val="100"/>
              <a:buNone/>
              <a:defRPr sz="300"/>
            </a:lvl4pPr>
            <a:lvl5pPr lvl="4" rtl="0">
              <a:spcBef>
                <a:spcPts val="0"/>
              </a:spcBef>
              <a:spcAft>
                <a:spcPts val="0"/>
              </a:spcAft>
              <a:buSzPts val="100"/>
              <a:buNone/>
              <a:defRPr sz="300"/>
            </a:lvl5pPr>
            <a:lvl6pPr lvl="5" rtl="0">
              <a:spcBef>
                <a:spcPts val="0"/>
              </a:spcBef>
              <a:spcAft>
                <a:spcPts val="0"/>
              </a:spcAft>
              <a:buSzPts val="100"/>
              <a:buNone/>
              <a:defRPr sz="300"/>
            </a:lvl6pPr>
            <a:lvl7pPr lvl="6" rtl="0">
              <a:spcBef>
                <a:spcPts val="0"/>
              </a:spcBef>
              <a:spcAft>
                <a:spcPts val="0"/>
              </a:spcAft>
              <a:buSzPts val="100"/>
              <a:buNone/>
              <a:defRPr sz="300"/>
            </a:lvl7pPr>
            <a:lvl8pPr lvl="7" rtl="0">
              <a:spcBef>
                <a:spcPts val="0"/>
              </a:spcBef>
              <a:spcAft>
                <a:spcPts val="0"/>
              </a:spcAft>
              <a:buSzPts val="100"/>
              <a:buNone/>
              <a:defRPr sz="300"/>
            </a:lvl8pPr>
            <a:lvl9pPr lvl="8" rtl="0">
              <a:spcBef>
                <a:spcPts val="0"/>
              </a:spcBef>
              <a:spcAft>
                <a:spcPts val="0"/>
              </a:spcAft>
              <a:buSzPts val="100"/>
              <a:buNone/>
              <a:defRPr sz="300"/>
            </a:lvl9pPr>
          </a:lstStyle>
          <a:p>
            <a:endParaRPr/>
          </a:p>
        </p:txBody>
      </p:sp>
      <p:sp>
        <p:nvSpPr>
          <p:cNvPr id="30" name="Google Shape;30;p4"/>
          <p:cNvSpPr/>
          <p:nvPr/>
        </p:nvSpPr>
        <p:spPr>
          <a:xfrm>
            <a:off x="1921650" y="585375"/>
            <a:ext cx="417300" cy="214200"/>
          </a:xfrm>
          <a:prstGeom prst="homePlate">
            <a:avLst>
              <a:gd name="adj" fmla="val 60423"/>
            </a:avLst>
          </a:prstGeom>
          <a:solidFill>
            <a:srgbClr val="0033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with 4 pictures">
  <p:cSld name="Title and Content with 4 picture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7324344" y="630936"/>
            <a:ext cx="4517100" cy="54960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 w="9525" cap="flat" cmpd="sng">
            <a:solidFill>
              <a:srgbClr val="E8E8E8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srgbClr val="D8D8D8">
                <a:alpha val="29804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5"/>
          <p:cNvSpPr txBox="1">
            <a:spLocks noGrp="1"/>
          </p:cNvSpPr>
          <p:nvPr>
            <p:ph type="title"/>
          </p:nvPr>
        </p:nvSpPr>
        <p:spPr>
          <a:xfrm>
            <a:off x="7772400" y="978408"/>
            <a:ext cx="3721500" cy="11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800"/>
              <a:buFont typeface="Quattrocento Sans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>
            <a:spLocks noGrp="1"/>
          </p:cNvSpPr>
          <p:nvPr>
            <p:ph type="pic" idx="2"/>
          </p:nvPr>
        </p:nvSpPr>
        <p:spPr>
          <a:xfrm>
            <a:off x="895522" y="859155"/>
            <a:ext cx="6016800" cy="4910400"/>
          </a:xfrm>
          <a:prstGeom prst="rect">
            <a:avLst/>
          </a:prstGeom>
          <a:noFill/>
          <a:ln>
            <a:noFill/>
          </a:ln>
        </p:spPr>
      </p:sp>
      <p:sp>
        <p:nvSpPr>
          <p:cNvPr id="35" name="Google Shape;35;p5"/>
          <p:cNvSpPr/>
          <p:nvPr/>
        </p:nvSpPr>
        <p:spPr>
          <a:xfrm>
            <a:off x="7260336" y="1179576"/>
            <a:ext cx="128100" cy="70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5"/>
          <p:cNvSpPr txBox="1">
            <a:spLocks noGrp="1"/>
          </p:cNvSpPr>
          <p:nvPr>
            <p:ph type="sldNum" idx="12"/>
          </p:nvPr>
        </p:nvSpPr>
        <p:spPr>
          <a:xfrm>
            <a:off x="8540496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7" name="Google Shape;37;p5"/>
          <p:cNvSpPr/>
          <p:nvPr/>
        </p:nvSpPr>
        <p:spPr>
          <a:xfrm>
            <a:off x="7792216" y="2185416"/>
            <a:ext cx="3683100" cy="9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5"/>
          <p:cNvSpPr txBox="1">
            <a:spLocks noGrp="1"/>
          </p:cNvSpPr>
          <p:nvPr>
            <p:ph type="body" idx="1"/>
          </p:nvPr>
        </p:nvSpPr>
        <p:spPr>
          <a:xfrm>
            <a:off x="7772400" y="3099816"/>
            <a:ext cx="37212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body" idx="3"/>
          </p:nvPr>
        </p:nvSpPr>
        <p:spPr>
          <a:xfrm>
            <a:off x="7772400" y="4215384"/>
            <a:ext cx="37212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body" idx="4"/>
          </p:nvPr>
        </p:nvSpPr>
        <p:spPr>
          <a:xfrm>
            <a:off x="7772400" y="5321808"/>
            <a:ext cx="37212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5"/>
          <p:cNvSpPr>
            <a:spLocks noGrp="1"/>
          </p:cNvSpPr>
          <p:nvPr>
            <p:ph type="pic" idx="5"/>
          </p:nvPr>
        </p:nvSpPr>
        <p:spPr>
          <a:xfrm>
            <a:off x="7772400" y="2532888"/>
            <a:ext cx="457200" cy="457200"/>
          </a:xfrm>
          <a:prstGeom prst="rect">
            <a:avLst/>
          </a:prstGeom>
          <a:noFill/>
          <a:ln>
            <a:noFill/>
          </a:ln>
        </p:spPr>
      </p:sp>
      <p:sp>
        <p:nvSpPr>
          <p:cNvPr id="42" name="Google Shape;42;p5"/>
          <p:cNvSpPr>
            <a:spLocks noGrp="1"/>
          </p:cNvSpPr>
          <p:nvPr>
            <p:ph type="pic" idx="6"/>
          </p:nvPr>
        </p:nvSpPr>
        <p:spPr>
          <a:xfrm>
            <a:off x="7772400" y="3630168"/>
            <a:ext cx="457200" cy="457200"/>
          </a:xfrm>
          <a:prstGeom prst="rect">
            <a:avLst/>
          </a:prstGeom>
          <a:noFill/>
          <a:ln>
            <a:noFill/>
          </a:ln>
        </p:spPr>
      </p:sp>
      <p:sp>
        <p:nvSpPr>
          <p:cNvPr id="43" name="Google Shape;43;p5"/>
          <p:cNvSpPr>
            <a:spLocks noGrp="1"/>
          </p:cNvSpPr>
          <p:nvPr>
            <p:ph type="pic" idx="7"/>
          </p:nvPr>
        </p:nvSpPr>
        <p:spPr>
          <a:xfrm>
            <a:off x="7772400" y="4754880"/>
            <a:ext cx="457200" cy="457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with pictures">
  <p:cSld name="Title and Content with pictures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5084064" y="889393"/>
            <a:ext cx="6272700" cy="153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5200"/>
              <a:buFont typeface="Quattrocento Sans"/>
              <a:buNone/>
              <a:defRPr sz="5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body" idx="1"/>
          </p:nvPr>
        </p:nvSpPr>
        <p:spPr>
          <a:xfrm>
            <a:off x="5102352" y="2727631"/>
            <a:ext cx="6272700" cy="30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sldNum" idx="12"/>
          </p:nvPr>
        </p:nvSpPr>
        <p:spPr>
          <a:xfrm>
            <a:off x="8540496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8" name="Google Shape;48;p6"/>
          <p:cNvSpPr/>
          <p:nvPr/>
        </p:nvSpPr>
        <p:spPr>
          <a:xfrm rot="5400000">
            <a:off x="5317906" y="363383"/>
            <a:ext cx="73200" cy="548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6"/>
          <p:cNvSpPr/>
          <p:nvPr/>
        </p:nvSpPr>
        <p:spPr>
          <a:xfrm>
            <a:off x="5065776" y="2553749"/>
            <a:ext cx="6291000" cy="456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6"/>
          <p:cNvSpPr>
            <a:spLocks noGrp="1"/>
          </p:cNvSpPr>
          <p:nvPr>
            <p:ph type="pic" idx="2"/>
          </p:nvPr>
        </p:nvSpPr>
        <p:spPr>
          <a:xfrm>
            <a:off x="457200" y="895738"/>
            <a:ext cx="4050900" cy="48348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with 2 pictures">
  <p:cSld name="Title and Content with 2 pictures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612648" y="1074888"/>
            <a:ext cx="6272700" cy="153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5200"/>
              <a:buFont typeface="Quattrocento Sans"/>
              <a:buNone/>
              <a:defRPr sz="5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body" idx="1"/>
          </p:nvPr>
        </p:nvSpPr>
        <p:spPr>
          <a:xfrm>
            <a:off x="612648" y="3009498"/>
            <a:ext cx="6272700" cy="27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sldNum" idx="12"/>
          </p:nvPr>
        </p:nvSpPr>
        <p:spPr>
          <a:xfrm>
            <a:off x="5605272" y="6356350"/>
            <a:ext cx="1280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5" name="Google Shape;55;p7"/>
          <p:cNvSpPr/>
          <p:nvPr/>
        </p:nvSpPr>
        <p:spPr>
          <a:xfrm rot="5400000">
            <a:off x="850338" y="629660"/>
            <a:ext cx="73200" cy="548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7"/>
          <p:cNvSpPr>
            <a:spLocks noGrp="1"/>
          </p:cNvSpPr>
          <p:nvPr>
            <p:ph type="pic" idx="2"/>
          </p:nvPr>
        </p:nvSpPr>
        <p:spPr>
          <a:xfrm>
            <a:off x="7684008" y="3204504"/>
            <a:ext cx="4508100" cy="2505600"/>
          </a:xfrm>
          <a:prstGeom prst="rect">
            <a:avLst/>
          </a:prstGeom>
          <a:noFill/>
          <a:ln>
            <a:noFill/>
          </a:ln>
        </p:spPr>
      </p:sp>
      <p:sp>
        <p:nvSpPr>
          <p:cNvPr id="57" name="Google Shape;57;p7"/>
          <p:cNvSpPr>
            <a:spLocks noGrp="1"/>
          </p:cNvSpPr>
          <p:nvPr>
            <p:ph type="pic" idx="3"/>
          </p:nvPr>
        </p:nvSpPr>
        <p:spPr>
          <a:xfrm>
            <a:off x="7680960" y="1074888"/>
            <a:ext cx="4508100" cy="1854900"/>
          </a:xfrm>
          <a:prstGeom prst="rect">
            <a:avLst/>
          </a:prstGeom>
          <a:noFill/>
          <a:ln>
            <a:noFill/>
          </a:ln>
        </p:spPr>
      </p:sp>
      <p:sp>
        <p:nvSpPr>
          <p:cNvPr id="58" name="Google Shape;58;p7"/>
          <p:cNvSpPr/>
          <p:nvPr/>
        </p:nvSpPr>
        <p:spPr>
          <a:xfrm>
            <a:off x="612648" y="2801145"/>
            <a:ext cx="6217800" cy="183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>
            <a:spLocks noGrp="1"/>
          </p:cNvSpPr>
          <p:nvPr>
            <p:ph type="title"/>
          </p:nvPr>
        </p:nvSpPr>
        <p:spPr>
          <a:xfrm>
            <a:off x="557784" y="640080"/>
            <a:ext cx="108906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4800"/>
              <a:buFont typeface="Quattrocento Sans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8"/>
          <p:cNvSpPr/>
          <p:nvPr/>
        </p:nvSpPr>
        <p:spPr>
          <a:xfrm>
            <a:off x="498834" y="5118581"/>
            <a:ext cx="146400" cy="548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8"/>
          <p:cNvSpPr txBox="1">
            <a:spLocks noGrp="1"/>
          </p:cNvSpPr>
          <p:nvPr>
            <p:ph type="body" idx="1"/>
          </p:nvPr>
        </p:nvSpPr>
        <p:spPr>
          <a:xfrm>
            <a:off x="841248" y="5102352"/>
            <a:ext cx="9207900" cy="585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63" name="Google Shape;63;p8"/>
          <p:cNvSpPr txBox="1">
            <a:spLocks noGrp="1"/>
          </p:cNvSpPr>
          <p:nvPr>
            <p:ph type="sldNum" idx="12"/>
          </p:nvPr>
        </p:nvSpPr>
        <p:spPr>
          <a:xfrm>
            <a:off x="8540496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am">
  <p:cSld name="Team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9"/>
          <p:cNvSpPr>
            <a:spLocks noGrp="1"/>
          </p:cNvSpPr>
          <p:nvPr>
            <p:ph type="pic" idx="2"/>
          </p:nvPr>
        </p:nvSpPr>
        <p:spPr>
          <a:xfrm>
            <a:off x="5422392" y="2798064"/>
            <a:ext cx="1463100" cy="1481400"/>
          </a:xfrm>
          <a:prstGeom prst="rect">
            <a:avLst/>
          </a:prstGeom>
          <a:noFill/>
          <a:ln>
            <a:noFill/>
          </a:ln>
        </p:spPr>
      </p:sp>
      <p:sp>
        <p:nvSpPr>
          <p:cNvPr id="66" name="Google Shape;66;p9"/>
          <p:cNvSpPr>
            <a:spLocks noGrp="1"/>
          </p:cNvSpPr>
          <p:nvPr>
            <p:ph type="pic" idx="3"/>
          </p:nvPr>
        </p:nvSpPr>
        <p:spPr>
          <a:xfrm>
            <a:off x="576072" y="2798064"/>
            <a:ext cx="1463100" cy="14814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9"/>
          <p:cNvSpPr>
            <a:spLocks noGrp="1"/>
          </p:cNvSpPr>
          <p:nvPr>
            <p:ph type="pic" idx="4"/>
          </p:nvPr>
        </p:nvSpPr>
        <p:spPr>
          <a:xfrm>
            <a:off x="7845552" y="2798064"/>
            <a:ext cx="1463100" cy="14814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9"/>
          <p:cNvSpPr/>
          <p:nvPr/>
        </p:nvSpPr>
        <p:spPr>
          <a:xfrm>
            <a:off x="1540857" y="876618"/>
            <a:ext cx="128100" cy="70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9"/>
          <p:cNvSpPr txBox="1">
            <a:spLocks noGrp="1"/>
          </p:cNvSpPr>
          <p:nvPr>
            <p:ph type="title"/>
          </p:nvPr>
        </p:nvSpPr>
        <p:spPr>
          <a:xfrm>
            <a:off x="1732881" y="721106"/>
            <a:ext cx="9100200" cy="11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4000"/>
              <a:buFont typeface="Quattrocento Sans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9"/>
          <p:cNvSpPr>
            <a:spLocks noGrp="1"/>
          </p:cNvSpPr>
          <p:nvPr>
            <p:ph type="pic" idx="5"/>
          </p:nvPr>
        </p:nvSpPr>
        <p:spPr>
          <a:xfrm>
            <a:off x="2999232" y="2798064"/>
            <a:ext cx="1463100" cy="1481400"/>
          </a:xfrm>
          <a:prstGeom prst="rect">
            <a:avLst/>
          </a:prstGeom>
          <a:noFill/>
          <a:ln>
            <a:noFill/>
          </a:ln>
        </p:spPr>
      </p:sp>
      <p:sp>
        <p:nvSpPr>
          <p:cNvPr id="71" name="Google Shape;71;p9"/>
          <p:cNvSpPr>
            <a:spLocks noGrp="1"/>
          </p:cNvSpPr>
          <p:nvPr>
            <p:ph type="pic" idx="6"/>
          </p:nvPr>
        </p:nvSpPr>
        <p:spPr>
          <a:xfrm>
            <a:off x="10268712" y="2798064"/>
            <a:ext cx="1463100" cy="1481400"/>
          </a:xfrm>
          <a:prstGeom prst="rect">
            <a:avLst/>
          </a:prstGeom>
          <a:noFill/>
          <a:ln>
            <a:noFill/>
          </a:ln>
        </p:spPr>
      </p:sp>
      <p:sp>
        <p:nvSpPr>
          <p:cNvPr id="72" name="Google Shape;72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3" name="Google Shape;73;p9"/>
          <p:cNvSpPr txBox="1">
            <a:spLocks noGrp="1"/>
          </p:cNvSpPr>
          <p:nvPr>
            <p:ph type="body" idx="1"/>
          </p:nvPr>
        </p:nvSpPr>
        <p:spPr>
          <a:xfrm>
            <a:off x="5431536" y="4489704"/>
            <a:ext cx="1462200" cy="6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marL="1371600" lvl="2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9"/>
          <p:cNvSpPr txBox="1">
            <a:spLocks noGrp="1"/>
          </p:cNvSpPr>
          <p:nvPr>
            <p:ph type="body" idx="7"/>
          </p:nvPr>
        </p:nvSpPr>
        <p:spPr>
          <a:xfrm>
            <a:off x="7845552" y="4489704"/>
            <a:ext cx="1462200" cy="6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marL="1371600" lvl="2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9"/>
          <p:cNvSpPr txBox="1">
            <a:spLocks noGrp="1"/>
          </p:cNvSpPr>
          <p:nvPr>
            <p:ph type="body" idx="8"/>
          </p:nvPr>
        </p:nvSpPr>
        <p:spPr>
          <a:xfrm>
            <a:off x="10268712" y="4489704"/>
            <a:ext cx="1462200" cy="6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marL="1371600" lvl="2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6" name="Google Shape;76;p9"/>
          <p:cNvSpPr txBox="1">
            <a:spLocks noGrp="1"/>
          </p:cNvSpPr>
          <p:nvPr>
            <p:ph type="body" idx="9"/>
          </p:nvPr>
        </p:nvSpPr>
        <p:spPr>
          <a:xfrm>
            <a:off x="594360" y="4489704"/>
            <a:ext cx="1462200" cy="6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marL="1371600" lvl="2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9"/>
          <p:cNvSpPr txBox="1">
            <a:spLocks noGrp="1"/>
          </p:cNvSpPr>
          <p:nvPr>
            <p:ph type="body" idx="13"/>
          </p:nvPr>
        </p:nvSpPr>
        <p:spPr>
          <a:xfrm>
            <a:off x="3008376" y="4489704"/>
            <a:ext cx="1462200" cy="6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marL="1371600" lvl="2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0"/>
          <p:cNvSpPr/>
          <p:nvPr/>
        </p:nvSpPr>
        <p:spPr>
          <a:xfrm>
            <a:off x="1512865" y="786384"/>
            <a:ext cx="128100" cy="70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0"/>
          <p:cNvSpPr txBox="1">
            <a:spLocks noGrp="1"/>
          </p:cNvSpPr>
          <p:nvPr>
            <p:ph type="title"/>
          </p:nvPr>
        </p:nvSpPr>
        <p:spPr>
          <a:xfrm>
            <a:off x="1640881" y="503825"/>
            <a:ext cx="9258900" cy="11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4000"/>
              <a:buFont typeface="Quattrocento Sans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0"/>
          <p:cNvSpPr txBox="1">
            <a:spLocks noGrp="1"/>
          </p:cNvSpPr>
          <p:nvPr>
            <p:ph type="body" idx="1"/>
          </p:nvPr>
        </p:nvSpPr>
        <p:spPr>
          <a:xfrm>
            <a:off x="466343" y="2270703"/>
            <a:ext cx="55053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 cap="none"/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82" name="Google Shape;82;p10"/>
          <p:cNvSpPr txBox="1">
            <a:spLocks noGrp="1"/>
          </p:cNvSpPr>
          <p:nvPr>
            <p:ph type="body" idx="2"/>
          </p:nvPr>
        </p:nvSpPr>
        <p:spPr>
          <a:xfrm>
            <a:off x="466344" y="3103104"/>
            <a:ext cx="5505300" cy="29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marL="2286000" lvl="4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10"/>
          <p:cNvSpPr txBox="1">
            <a:spLocks noGrp="1"/>
          </p:cNvSpPr>
          <p:nvPr>
            <p:ph type="body" idx="3"/>
          </p:nvPr>
        </p:nvSpPr>
        <p:spPr>
          <a:xfrm>
            <a:off x="6220409" y="2256140"/>
            <a:ext cx="55053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 cap="none"/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84" name="Google Shape;84;p10"/>
          <p:cNvSpPr txBox="1">
            <a:spLocks noGrp="1"/>
          </p:cNvSpPr>
          <p:nvPr>
            <p:ph type="body" idx="4"/>
          </p:nvPr>
        </p:nvSpPr>
        <p:spPr>
          <a:xfrm>
            <a:off x="6220409" y="3103104"/>
            <a:ext cx="5505300" cy="29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marL="2286000" lvl="4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5" name="Google Shape;85;p10"/>
          <p:cNvSpPr txBox="1">
            <a:spLocks noGrp="1"/>
          </p:cNvSpPr>
          <p:nvPr>
            <p:ph type="sldNum" idx="12"/>
          </p:nvPr>
        </p:nvSpPr>
        <p:spPr>
          <a:xfrm>
            <a:off x="8540496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 3 column">
  <p:cSld name="Comparison 3 column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1"/>
          <p:cNvSpPr/>
          <p:nvPr/>
        </p:nvSpPr>
        <p:spPr>
          <a:xfrm>
            <a:off x="1493520" y="786384"/>
            <a:ext cx="128100" cy="70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1"/>
          <p:cNvSpPr txBox="1">
            <a:spLocks noGrp="1"/>
          </p:cNvSpPr>
          <p:nvPr>
            <p:ph type="title"/>
          </p:nvPr>
        </p:nvSpPr>
        <p:spPr>
          <a:xfrm>
            <a:off x="1557528" y="548640"/>
            <a:ext cx="9956400" cy="11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4000"/>
              <a:buFont typeface="Quattrocento Sans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1"/>
          <p:cNvSpPr txBox="1">
            <a:spLocks noGrp="1"/>
          </p:cNvSpPr>
          <p:nvPr>
            <p:ph type="body" idx="1"/>
          </p:nvPr>
        </p:nvSpPr>
        <p:spPr>
          <a:xfrm>
            <a:off x="576072" y="2372650"/>
            <a:ext cx="32919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 cap="none"/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90" name="Google Shape;90;p11"/>
          <p:cNvSpPr txBox="1">
            <a:spLocks noGrp="1"/>
          </p:cNvSpPr>
          <p:nvPr>
            <p:ph type="body" idx="2"/>
          </p:nvPr>
        </p:nvSpPr>
        <p:spPr>
          <a:xfrm>
            <a:off x="576072" y="3203688"/>
            <a:ext cx="3291900" cy="29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marL="2286000" lvl="4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1"/>
          <p:cNvSpPr txBox="1">
            <a:spLocks noGrp="1"/>
          </p:cNvSpPr>
          <p:nvPr>
            <p:ph type="body" idx="3"/>
          </p:nvPr>
        </p:nvSpPr>
        <p:spPr>
          <a:xfrm>
            <a:off x="4507992" y="2372650"/>
            <a:ext cx="32919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 cap="none"/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92" name="Google Shape;92;p11"/>
          <p:cNvSpPr txBox="1">
            <a:spLocks noGrp="1"/>
          </p:cNvSpPr>
          <p:nvPr>
            <p:ph type="body" idx="4"/>
          </p:nvPr>
        </p:nvSpPr>
        <p:spPr>
          <a:xfrm>
            <a:off x="4507992" y="3203687"/>
            <a:ext cx="3291900" cy="29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marL="2286000" lvl="4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3" name="Google Shape;93;p11"/>
          <p:cNvSpPr txBox="1">
            <a:spLocks noGrp="1"/>
          </p:cNvSpPr>
          <p:nvPr>
            <p:ph type="sldNum" idx="12"/>
          </p:nvPr>
        </p:nvSpPr>
        <p:spPr>
          <a:xfrm>
            <a:off x="8540496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4" name="Google Shape;94;p11"/>
          <p:cNvSpPr txBox="1">
            <a:spLocks noGrp="1"/>
          </p:cNvSpPr>
          <p:nvPr>
            <p:ph type="body" idx="5"/>
          </p:nvPr>
        </p:nvSpPr>
        <p:spPr>
          <a:xfrm>
            <a:off x="8439912" y="2372650"/>
            <a:ext cx="32919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 cap="none"/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95" name="Google Shape;95;p11"/>
          <p:cNvSpPr txBox="1">
            <a:spLocks noGrp="1"/>
          </p:cNvSpPr>
          <p:nvPr>
            <p:ph type="body" idx="6"/>
          </p:nvPr>
        </p:nvSpPr>
        <p:spPr>
          <a:xfrm>
            <a:off x="8439912" y="3203687"/>
            <a:ext cx="3291900" cy="29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marL="2286000" lvl="4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with 3 pictures">
  <p:cSld name="Title and Content with 3 pictures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2"/>
          <p:cNvSpPr txBox="1">
            <a:spLocks noGrp="1"/>
          </p:cNvSpPr>
          <p:nvPr>
            <p:ph type="title"/>
          </p:nvPr>
        </p:nvSpPr>
        <p:spPr>
          <a:xfrm>
            <a:off x="841248" y="978408"/>
            <a:ext cx="4059900" cy="11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800"/>
              <a:buFont typeface="Quattrocento Sans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2"/>
          <p:cNvSpPr txBox="1">
            <a:spLocks noGrp="1"/>
          </p:cNvSpPr>
          <p:nvPr>
            <p:ph type="body" idx="1"/>
          </p:nvPr>
        </p:nvSpPr>
        <p:spPr>
          <a:xfrm>
            <a:off x="841248" y="2359152"/>
            <a:ext cx="40599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9" name="Google Shape;99;p12"/>
          <p:cNvSpPr>
            <a:spLocks noGrp="1"/>
          </p:cNvSpPr>
          <p:nvPr>
            <p:ph type="pic" idx="2"/>
          </p:nvPr>
        </p:nvSpPr>
        <p:spPr>
          <a:xfrm>
            <a:off x="8961120" y="566928"/>
            <a:ext cx="2871300" cy="2340900"/>
          </a:xfrm>
          <a:prstGeom prst="rect">
            <a:avLst/>
          </a:prstGeom>
          <a:noFill/>
          <a:ln>
            <a:noFill/>
          </a:ln>
        </p:spPr>
      </p:sp>
      <p:sp>
        <p:nvSpPr>
          <p:cNvPr id="100" name="Google Shape;100;p12"/>
          <p:cNvSpPr>
            <a:spLocks noGrp="1"/>
          </p:cNvSpPr>
          <p:nvPr>
            <p:ph type="pic" idx="3"/>
          </p:nvPr>
        </p:nvSpPr>
        <p:spPr>
          <a:xfrm>
            <a:off x="5843016" y="566928"/>
            <a:ext cx="2871300" cy="2340900"/>
          </a:xfrm>
          <a:prstGeom prst="rect">
            <a:avLst/>
          </a:prstGeom>
          <a:noFill/>
          <a:ln>
            <a:noFill/>
          </a:ln>
        </p:spPr>
      </p:sp>
      <p:sp>
        <p:nvSpPr>
          <p:cNvPr id="101" name="Google Shape;101;p12"/>
          <p:cNvSpPr/>
          <p:nvPr/>
        </p:nvSpPr>
        <p:spPr>
          <a:xfrm>
            <a:off x="345567" y="1170432"/>
            <a:ext cx="128100" cy="70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2"/>
          <p:cNvSpPr/>
          <p:nvPr/>
        </p:nvSpPr>
        <p:spPr>
          <a:xfrm>
            <a:off x="877459" y="2121408"/>
            <a:ext cx="3958800" cy="9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2"/>
          <p:cNvSpPr>
            <a:spLocks noGrp="1"/>
          </p:cNvSpPr>
          <p:nvPr>
            <p:ph type="pic" idx="4"/>
          </p:nvPr>
        </p:nvSpPr>
        <p:spPr>
          <a:xfrm>
            <a:off x="5843016" y="3108960"/>
            <a:ext cx="5989200" cy="3054000"/>
          </a:xfrm>
          <a:prstGeom prst="rect">
            <a:avLst/>
          </a:prstGeom>
          <a:noFill/>
          <a:ln>
            <a:noFill/>
          </a:ln>
        </p:spPr>
      </p:sp>
      <p:sp>
        <p:nvSpPr>
          <p:cNvPr id="104" name="Google Shape;104;p12"/>
          <p:cNvSpPr txBox="1">
            <a:spLocks noGrp="1"/>
          </p:cNvSpPr>
          <p:nvPr>
            <p:ph type="sldNum" idx="12"/>
          </p:nvPr>
        </p:nvSpPr>
        <p:spPr>
          <a:xfrm>
            <a:off x="8540496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3"/>
          <p:cNvSpPr/>
          <p:nvPr/>
        </p:nvSpPr>
        <p:spPr>
          <a:xfrm>
            <a:off x="609084" y="2971798"/>
            <a:ext cx="128100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3"/>
          <p:cNvSpPr txBox="1">
            <a:spLocks noGrp="1"/>
          </p:cNvSpPr>
          <p:nvPr>
            <p:ph type="title"/>
          </p:nvPr>
        </p:nvSpPr>
        <p:spPr>
          <a:xfrm>
            <a:off x="1078992" y="1938528"/>
            <a:ext cx="10177200" cy="29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5400"/>
              <a:buFont typeface="Quattrocento Sans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5"/>
          <p:cNvSpPr/>
          <p:nvPr/>
        </p:nvSpPr>
        <p:spPr>
          <a:xfrm>
            <a:off x="498834" y="1618375"/>
            <a:ext cx="146400" cy="822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5"/>
          <p:cNvSpPr txBox="1">
            <a:spLocks noGrp="1"/>
          </p:cNvSpPr>
          <p:nvPr>
            <p:ph type="title"/>
          </p:nvPr>
        </p:nvSpPr>
        <p:spPr>
          <a:xfrm>
            <a:off x="868680" y="1362456"/>
            <a:ext cx="3099900" cy="15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3400"/>
              <a:buFont typeface="Quattrocento Sans"/>
              <a:buNone/>
              <a:defRPr sz="3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15"/>
          <p:cNvSpPr txBox="1">
            <a:spLocks noGrp="1"/>
          </p:cNvSpPr>
          <p:nvPr>
            <p:ph type="body" idx="1"/>
          </p:nvPr>
        </p:nvSpPr>
        <p:spPr>
          <a:xfrm>
            <a:off x="4965192" y="1162033"/>
            <a:ext cx="6729900" cy="464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2pPr>
            <a:lvl3pPr marL="1371600" lvl="2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2"/>
          </p:nvPr>
        </p:nvSpPr>
        <p:spPr>
          <a:xfrm>
            <a:off x="868680" y="3013788"/>
            <a:ext cx="3099900" cy="248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16" name="Google Shape;116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6"/>
          <p:cNvSpPr/>
          <p:nvPr/>
        </p:nvSpPr>
        <p:spPr>
          <a:xfrm>
            <a:off x="498834" y="1618375"/>
            <a:ext cx="146400" cy="822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6"/>
          <p:cNvSpPr txBox="1">
            <a:spLocks noGrp="1"/>
          </p:cNvSpPr>
          <p:nvPr>
            <p:ph type="title"/>
          </p:nvPr>
        </p:nvSpPr>
        <p:spPr>
          <a:xfrm>
            <a:off x="868680" y="1709928"/>
            <a:ext cx="3099900" cy="17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3400"/>
              <a:buFont typeface="Quattrocento Sans"/>
              <a:buNone/>
              <a:defRPr sz="3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16"/>
          <p:cNvSpPr>
            <a:spLocks noGrp="1"/>
          </p:cNvSpPr>
          <p:nvPr>
            <p:ph type="pic" idx="2"/>
          </p:nvPr>
        </p:nvSpPr>
        <p:spPr>
          <a:xfrm>
            <a:off x="4965192" y="1161288"/>
            <a:ext cx="6729900" cy="4645200"/>
          </a:xfrm>
          <a:prstGeom prst="rect">
            <a:avLst/>
          </a:prstGeom>
          <a:noFill/>
          <a:ln>
            <a:noFill/>
          </a:ln>
        </p:spPr>
      </p:sp>
      <p:sp>
        <p:nvSpPr>
          <p:cNvPr id="121" name="Google Shape;121;p16"/>
          <p:cNvSpPr txBox="1">
            <a:spLocks noGrp="1"/>
          </p:cNvSpPr>
          <p:nvPr>
            <p:ph type="body" idx="1"/>
          </p:nvPr>
        </p:nvSpPr>
        <p:spPr>
          <a:xfrm>
            <a:off x="868680" y="3438144"/>
            <a:ext cx="3099900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Relationship Id="rId17" Type="http://schemas.openxmlformats.org/officeDocument/2006/relationships/image" Target="../media/image1.png"/><Relationship Id="rId18" Type="http://schemas.openxmlformats.org/officeDocument/2006/relationships/image" Target="../media/image2.gif"/><Relationship Id="rId1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7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839755"/>
            <a:ext cx="10515600" cy="8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4400"/>
              <a:buFont typeface="Roboto Medium"/>
              <a:buNone/>
              <a:defRPr sz="4400" i="0" u="none" strike="noStrike" cap="none">
                <a:solidFill>
                  <a:srgbClr val="0033CC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Char char="•"/>
              <a:defRPr sz="28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810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•"/>
              <a:defRPr sz="24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556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•"/>
              <a:defRPr sz="20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 dirty="0"/>
          </a:p>
        </p:txBody>
      </p:sp>
      <p:sp>
        <p:nvSpPr>
          <p:cNvPr id="12" name="Google Shape;12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4" name="Google Shape;14;p1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10455475" y="93557"/>
            <a:ext cx="1657350" cy="72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7D03A71-DF26-4778-ACBE-93DEA04DFDA4}"/>
              </a:ext>
            </a:extLst>
          </p:cNvPr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79175" y="93557"/>
            <a:ext cx="1275386" cy="723900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-closing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hyperlink" Target="mailto:phuc@lhu.edu.vn" TargetMode="External"/><Relationship Id="rId7" Type="http://schemas.openxmlformats.org/officeDocument/2006/relationships/image" Target="../media/image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-closing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6"/>
          <p:cNvSpPr txBox="1">
            <a:spLocks noGrp="1"/>
          </p:cNvSpPr>
          <p:nvPr>
            <p:ph type="title"/>
          </p:nvPr>
        </p:nvSpPr>
        <p:spPr>
          <a:xfrm>
            <a:off x="7772400" y="978408"/>
            <a:ext cx="3721608" cy="1106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800"/>
              <a:buFont typeface="Quattrocento Sans"/>
              <a:buNone/>
            </a:pPr>
            <a:r>
              <a:rPr lang="en-US"/>
              <a:t>Thank you</a:t>
            </a:r>
            <a:endParaRPr/>
          </a:p>
        </p:txBody>
      </p:sp>
      <p:pic>
        <p:nvPicPr>
          <p:cNvPr id="205" name="Google Shape;205;p26" descr="woman writing on a dry erase board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59" r="59"/>
          <a:stretch/>
        </p:blipFill>
        <p:spPr>
          <a:xfrm>
            <a:off x="895522" y="859155"/>
            <a:ext cx="6016834" cy="491032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6" descr="User"/>
          <p:cNvPicPr preferRelativeResize="0">
            <a:picLocks noGrp="1"/>
          </p:cNvPicPr>
          <p:nvPr>
            <p:ph type="pic" idx="5"/>
          </p:nvPr>
        </p:nvPicPr>
        <p:blipFill rotWithShape="1">
          <a:blip r:embed="rId4">
            <a:alphaModFix/>
          </a:blip>
          <a:srcRect/>
          <a:stretch/>
        </p:blipFill>
        <p:spPr>
          <a:xfrm>
            <a:off x="7772400" y="253288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6"/>
          <p:cNvSpPr txBox="1">
            <a:spLocks noGrp="1"/>
          </p:cNvSpPr>
          <p:nvPr>
            <p:ph type="body" idx="1"/>
          </p:nvPr>
        </p:nvSpPr>
        <p:spPr>
          <a:xfrm>
            <a:off x="7772400" y="3099816"/>
            <a:ext cx="3721100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>ThS. Nguyễn Minh Phúc</a:t>
            </a:r>
            <a:endParaRPr/>
          </a:p>
        </p:txBody>
      </p:sp>
      <p:pic>
        <p:nvPicPr>
          <p:cNvPr id="208" name="Google Shape;208;p26" descr="Envelope"/>
          <p:cNvPicPr preferRelativeResize="0">
            <a:picLocks noGrp="1"/>
          </p:cNvPicPr>
          <p:nvPr>
            <p:ph type="pic" idx="6"/>
          </p:nvPr>
        </p:nvPicPr>
        <p:blipFill rotWithShape="1">
          <a:blip r:embed="rId5">
            <a:alphaModFix/>
          </a:blip>
          <a:srcRect/>
          <a:stretch/>
        </p:blipFill>
        <p:spPr>
          <a:xfrm>
            <a:off x="7772400" y="363016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6"/>
          <p:cNvSpPr txBox="1">
            <a:spLocks noGrp="1"/>
          </p:cNvSpPr>
          <p:nvPr>
            <p:ph type="body" idx="3"/>
          </p:nvPr>
        </p:nvSpPr>
        <p:spPr>
          <a:xfrm>
            <a:off x="7772400" y="4215384"/>
            <a:ext cx="3721100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>
                <a:hlinkClick r:id="rId6"/>
              </a:rPr>
              <a:t>phuc@lhu.edu.vn</a:t>
            </a:r>
            <a:endParaRPr/>
          </a:p>
        </p:txBody>
      </p:sp>
      <p:pic>
        <p:nvPicPr>
          <p:cNvPr id="210" name="Google Shape;210;p26" descr="Monitor"/>
          <p:cNvPicPr preferRelativeResize="0">
            <a:picLocks noGrp="1"/>
          </p:cNvPicPr>
          <p:nvPr>
            <p:ph type="pic" idx="7"/>
          </p:nvPr>
        </p:nvPicPr>
        <p:blipFill rotWithShape="1">
          <a:blip r:embed="rId7">
            <a:alphaModFix/>
          </a:blip>
          <a:srcRect/>
          <a:stretch/>
        </p:blipFill>
        <p:spPr>
          <a:xfrm>
            <a:off x="7772400" y="475488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6"/>
          <p:cNvSpPr txBox="1">
            <a:spLocks noGrp="1"/>
          </p:cNvSpPr>
          <p:nvPr>
            <p:ph type="body" idx="4"/>
          </p:nvPr>
        </p:nvSpPr>
        <p:spPr>
          <a:xfrm>
            <a:off x="7772400" y="5321808"/>
            <a:ext cx="3721100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>lhu.edu.vn</a:t>
            </a:r>
            <a:endParaRPr/>
          </a:p>
        </p:txBody>
      </p:sp>
      <p:sp>
        <p:nvSpPr>
          <p:cNvPr id="212" name="Google Shape;212;p26"/>
          <p:cNvSpPr txBox="1">
            <a:spLocks noGrp="1"/>
          </p:cNvSpPr>
          <p:nvPr>
            <p:ph type="dt" idx="10"/>
          </p:nvPr>
        </p:nvSpPr>
        <p:spPr>
          <a:xfrm>
            <a:off x="905256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t>Học kỳ 1 • Năm 1 • 2026</a:t>
            </a:r>
            <a:endParaRPr/>
          </a:p>
        </p:txBody>
      </p:sp>
      <p:sp>
        <p:nvSpPr>
          <p:cNvPr id="213" name="Google Shape;21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t>Nhập môn lập trình (111155)</a:t>
            </a:r>
            <a:endParaRPr/>
          </a:p>
        </p:txBody>
      </p:sp>
      <p:sp>
        <p:nvSpPr>
          <p:cNvPr id="214" name="Google Shape;214;p26"/>
          <p:cNvSpPr txBox="1">
            <a:spLocks noGrp="1"/>
          </p:cNvSpPr>
          <p:nvPr>
            <p:ph type="sldNum" idx="12"/>
          </p:nvPr>
        </p:nvSpPr>
        <p:spPr>
          <a:xfrm>
            <a:off x="8540496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/>
              <a:t>Bài 10: Khởi động Mini Project và vẽ lưu đồ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400"/>
              <a:t>Nhập môn lập trình (111155)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87168" y="4892040"/>
            <a:ext cx="7223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i="1">
                <a:solidFill>
                  <a:srgbClr val="6C757D"/>
                </a:solidFill>
              </a:rPr>
              <a:t>Thiết kế kỹ ở buổi đầu, đỡ sửa ở buổi cuối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Bài 10: Khởi động Mini Project và vẽ lưu đồ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11521440" cy="44348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600"/>
              <a:t>Chọn và mô tả đề tài nhóm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Lập bảng IPO cho từng chức năng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Vẽ sơ đồ phân rã và lưu đồ trên Draw.io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Phân công rõ ràng cho từng thành viên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Mục tiêu buổi học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Bài 10: Khởi động Mini Project và vẽ lưu đồ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Lịch trình 3 buổi cuối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" name="Picture 5" descr="bai-10-lich-trin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5066" y="1097280"/>
            <a:ext cx="9251388" cy="3520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20040" y="4617720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6C757D"/>
                </a:solidFill>
              </a:rPr>
              <a:t>Lịch trình Mini Project từ buổi 10 đến buổi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Bài 10: Khởi động Mini Project và vẽ lưu đồ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11521440" cy="44348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600"/>
              <a:t>Nhóm 3–4 sinh viên; chương trình dòng lệnh có menu, ít nhất 4 chức năng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Bắt buộc: rẽ nhánh, vòng lặp, list, hàm (tách ít nhất 2 file), try – except, PEP 8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Nộp: GitHub, README, báo cáo ngắn, Nhật ký Prompt nhóm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Yêu cầu Mini Project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Bài 10: Khởi động Mini Project và vẽ lưu đồ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11521440" cy="44348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600"/>
              <a:t>Quản lý chi tiêu cá nhân · Thư viện mini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Bán vé xem phim · Quiz trắc nghiệm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Quản lý điểm lớp · Quản lý kho cửa hàng tiện lợi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Hoặc tự đề xuất, giảng viên duyệt phạm vi</a:t>
            </a:r>
          </a:p>
          <a:p>
            <a:pPr marL="0" indent="0">
              <a:spcBef>
                <a:spcPts val="800"/>
              </a:spcBef>
              <a:buNone/>
            </a:pPr>
            <a:r>
              <a:rPr b="1" sz="2600">
                <a:solidFill>
                  <a:srgbClr val="0033CC"/>
                </a:solidFill>
              </a:rPr>
              <a:t>Hoạt động</a:t>
            </a:r>
            <a:r>
              <a:rPr sz="2600">
                <a:solidFill>
                  <a:srgbClr val="0033CC"/>
                </a:solidFill>
              </a:rPr>
              <a:t>: Mỗi nhóm trình bày đề tài trong 2 phút.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Đề tài gợi ý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5400"/>
              <a:t>Phần 1: Phân tích đề tài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000"/>
              <a:t>Bài 10: Khởi động Mini Project và vẽ lưu đồ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Phần 1: Phân tích đề tài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11521440" cy="44348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600"/>
              <a:t>Thêm khoản chi: Input số tiền, danh mục → kiểm tra, thêm vào list → thông báo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Thống kê: Input các list đã lưu → tổng theo danh mục, khoản lớn nhất → bảng thống kê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Mỗi chức năng một bảng, viết trước khi code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Bảng IPO cho từng chức năng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Phần 1: Phân tích đề tài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Sơ đồ phân rã mẫu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" name="Picture 5" descr="bai-10-phan-ra-ma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0907" y="1097280"/>
            <a:ext cx="8679705" cy="3520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20040" y="4617720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6C757D"/>
                </a:solidFill>
              </a:rPr>
              <a:t>Sơ đồ phân rã đề tài Quản lý chi tiêu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Phần 1: Phân tích đề tài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11521440" cy="44348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600"/>
              <a:t>Mỗi chức năng chính một lưu đồ, đúng 4 ký hiệu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Vòng lặp có mũi tên quay lại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File .drawio lưu trong thư mục docs/ của dự án; xuất .png cho báo cáo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Lưu đồ phải khớp code: sửa code thì sửa lưu đồ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Lưu đồ trên Draw.io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5400"/>
              <a:t>Phần 2: Làm việc nhóm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000"/>
              <a:t>Bài 10: Khởi động Mini Project và vẽ lưu đồ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Phần 2: Làm việc nhóm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11521440" cy="44348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600"/>
              <a:t>Cột: thành viên, hàm/chức năng, file, hạn, người kiểm tra chéo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Mỗi người tự viết ít nhất một chức năng hoàn chỉnh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Không ai chỉ làm báo cáo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Bảng phân công là minh chứng CLO3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Bảng phân công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Phần 2: Làm việc nhóm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11521440" cy="44348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600"/>
              <a:t>Nêu rõ kiến thức đã học: biến, if, vòng lặp, list, hàm, try-except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"Gợi ý 6 chức năng, kèm độ khó. Không viết code."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Nhóm tự quyết phạm vi; ghi prompt và quyết định vào Nhật ký Prompt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Brainstorm cùng AI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Phần 2: Làm việc nhóm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11521440" cy="44348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600"/>
              <a:t>Chọn đề tài, trình bày 2 phút, giảng viên duyệt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Bảng IPO từng chức năng; sơ đồ phân rã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Lưu đồ cho 2 chức năng phức tạp nhất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Bảng phân công và lịch làm việc tới buổi 11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Hoạt động nhóm (3 tiết)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Phần 2: Làm việc nhóm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11521440" cy="44348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600"/>
              <a:t>Đề tài vừa sức: 4 chức năng chạy chắc hơn 9 chức năng chạy dở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IPO → sơ đồ phân rã → lưu đồ → phân công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Mỗi thành viên có phần code của mình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Chụp ảnh nhóm làm việc cho bài đăng truyền thông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Tóm tắt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ccentBoxVTI">
  <a:themeElements>
    <a:clrScheme name="AccentBoxVTI">
      <a:dk1>
        <a:srgbClr val="000000"/>
      </a:dk1>
      <a:lt1>
        <a:srgbClr val="FFFFFF"/>
      </a:lt1>
      <a:dk2>
        <a:srgbClr val="262626"/>
      </a:dk2>
      <a:lt2>
        <a:srgbClr val="FFFFFF"/>
      </a:lt2>
      <a:accent1>
        <a:srgbClr val="F5A700"/>
      </a:accent1>
      <a:accent2>
        <a:srgbClr val="00A5AB"/>
      </a:accent2>
      <a:accent3>
        <a:srgbClr val="09963B"/>
      </a:accent3>
      <a:accent4>
        <a:srgbClr val="E64823"/>
      </a:accent4>
      <a:accent5>
        <a:srgbClr val="9C6A6A"/>
      </a:accent5>
      <a:accent6>
        <a:srgbClr val="824F8C"/>
      </a:accent6>
      <a:hlink>
        <a:srgbClr val="2998E3"/>
      </a:hlink>
      <a:folHlink>
        <a:srgbClr val="7F723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173</Words>
  <Application>Microsoft Office PowerPoint</Application>
  <PresentationFormat>Widescreen</PresentationFormat>
  <Paragraphs>24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2" baseType="lpstr">
      <vt:lpstr>Arial</vt:lpstr>
      <vt:lpstr>Avenir</vt:lpstr>
      <vt:lpstr>Roboto Black</vt:lpstr>
      <vt:lpstr>Quattrocento Sans</vt:lpstr>
      <vt:lpstr>Roboto</vt:lpstr>
      <vt:lpstr>Calibri</vt:lpstr>
      <vt:lpstr>Roboto Medium</vt:lpstr>
      <vt:lpstr>AccentBoxVTI</vt:lpstr>
      <vt:lpstr>LẬP TRÌNH  HƯỚNG ĐỐI TƯỢNG</vt:lpstr>
      <vt:lpstr>Repository Pattern</vt:lpstr>
      <vt:lpstr>Repository Pattern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NGUYEN MINH PHUC</cp:lastModifiedBy>
  <cp:revision>1</cp:revision>
  <dcterms:modified xsi:type="dcterms:W3CDTF">2026-10-31T01:21:49Z</dcterms:modified>
</cp:coreProperties>
</file>