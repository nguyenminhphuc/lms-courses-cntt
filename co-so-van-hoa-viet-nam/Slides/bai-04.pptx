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tiết; CLO2, CLO3. Nhóm mang ảnh khảo sát và thông tin sản phẩm đã đăng ký.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Dẫn vào ý: phải biết chất liệu văn hóa của mình là gì và kể bằng biểu tượng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nhóm xác định sản phẩm của mình thuộc nhóm chất liệu nào.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Nối sang nguyên tắc ứng dụng ở slide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Theo giáo trình [1]; nhấn mạnh tính biểu trưng cho hook.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Sáu nguyên tắc này là gốc của Checklist văn hóa.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 sinh viên lấy ví dụ từ sản phẩm họ từng xem.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Phân tích theo loại lỗi, không nêu đích danh sản phẩm; giảng viên có thể bổ sung case cụ thể.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Gợi ý nhóm tìm cách đưa nghệ nhân hoặc người hướng dẫn bảo tàng vào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Chốt checklist cuối buổi; đây là căn cứ chấm tiêu chí 3.1 của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Dùng ví dụ chiếc bình gốm trong bài học (mục 2.4).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nhóm ghi ngay hook và giá trị của mình trước workshop.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Cột "cần xin phép" giúp nhóm chuẩn bị giấy tờ trước buổi 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ba câu cho mỗi nhóm: nguồn thông tin? cảnh nào cần xin phép? chỗ nào có nguy cơ thành phông nền?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Kịch bản là tiêu chí 6 của A1 (CLO2 + CLO3), trọng số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Buổi 05: briefing 20 phút rồi quay thực địa; điểm danh tại địa điểm.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Cơ sở Văn hóa Việt Nam (112317)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04: Chất liệu văn hóa trong sáng tạo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Từ biểu tượng đến kịch bản video · Workshop kịch bản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Truyền thông đa phương tiện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Khai thác biểu tượng, tín ngưỡng, phong tục, nghệ thuật để thiết lập ý tưởng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Vận dụng nguyên tắc ứng dụng văn hóa, phân biệt sáng tạo và xuyên tạc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Cả lớp soạn Checklist văn hóa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Xây dựng kịch bản và shot list cho dự án video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Cùng một chiếc bình gốm: video A giữ người xem đến giây cuối, video B quay lướt quanh tủ kính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Khác biệt nằm ở đâu?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Hỏi nhanh 3 nhóm: sản phẩm của nhóm có "câu chuyện" gì?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Bốn nhóm chất liệu văn hóa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Biểu tượng</a:t>
            </a:r>
            <a:r>
              <a:rPr b="0" sz="2000">
                <a:solidFill>
                  <a:srgbClr val="212529"/>
                </a:solidFill>
                <a:latin typeface="Arial"/>
              </a:rPr>
              <a:t>: trống đồng, chim Lạc, rồng, sen, tre, hoa văn gốm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Tín ngưỡng</a:t>
            </a:r>
            <a:r>
              <a:rPr b="0" sz="2000">
                <a:solidFill>
                  <a:srgbClr val="212529"/>
                </a:solidFill>
                <a:latin typeface="Arial"/>
              </a:rPr>
              <a:t>: thờ cúng tổ tiên, Thành hoàng, thờ Mẫu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Phong tục – lễ hội</a:t>
            </a:r>
            <a:r>
              <a:rPr b="0" sz="2000">
                <a:solidFill>
                  <a:srgbClr val="212529"/>
                </a:solidFill>
                <a:latin typeface="Arial"/>
              </a:rPr>
              <a:t>: Tết, cưới hỏi, lễ hội làng, chợ phiên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Nghệ thuật</a:t>
            </a:r>
            <a:r>
              <a:rPr b="0" sz="2000">
                <a:solidFill>
                  <a:srgbClr val="212529"/>
                </a:solidFill>
                <a:latin typeface="Arial"/>
              </a:rPr>
              <a:t>: ngôn từ, thanh sắc, hình khối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Lưu ý khi dùng từng nhóm chất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Biểu tượng: tìm hiểu ý nghĩa, ngữ cảnh trước khi đặt ở trung tâm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Tín ngưỡng: phạm vi thiêng, không làm đạo cụ gây cười, gợi cảm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Phong tục: khác nhau theo vùng, không gán một nơi cho cả nước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Nghệ thuật: bản thu, bản dựng của nghệ nhân có quyền; xin phép, ghi nguồn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Đặc trưng nghệ thuật truyền thống → cách kể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Biểu trưng</a:t>
            </a:r>
            <a:r>
              <a:rPr b="0" sz="2000">
                <a:solidFill>
                  <a:srgbClr val="212529"/>
                </a:solidFill>
                <a:latin typeface="Arial"/>
              </a:rPr>
              <a:t>: gợi hơn tả → chi tiết nhỏ gợi cả câu chuyện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Biểu cảm</a:t>
            </a:r>
            <a:r>
              <a:rPr b="0" sz="2000">
                <a:solidFill>
                  <a:srgbClr val="212529"/>
                </a:solidFill>
                <a:latin typeface="Arial"/>
              </a:rPr>
              <a:t>: thiên cảm xúc → để nhân vật, âm thanh dẫn dắt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Tổng hợp</a:t>
            </a:r>
            <a:r>
              <a:rPr b="0" sz="2000">
                <a:solidFill>
                  <a:srgbClr val="212529"/>
                </a:solidFill>
                <a:latin typeface="Arial"/>
              </a:rPr>
              <a:t>: nhiều loại hình → hình, tiếng nói, âm hiện trường, chữ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Linh hoạt</a:t>
            </a:r>
            <a:r>
              <a:rPr b="0" sz="2000">
                <a:solidFill>
                  <a:srgbClr val="212529"/>
                </a:solidFill>
                <a:latin typeface="Arial"/>
              </a:rPr>
              <a:t>: tùy biến → nhiều phiên bản cho nhiều nền tảng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Sáu nguyên tắc ứng dụng văn hóa trong truyền thông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Hiểu đúng trước khi dùng (đối chiếu ít nhất 2 nguồn)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Đúng ngữ cảnh · Tôn trọng chủ thể văn hóa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Sáng tạo trên nền giá trị, không bóp méo giá trị cốt lõi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Xin phép và ghi nguồn · Minh bạch khi dùng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Ranh giới sáng tạo – xuyên tạc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Sáng tạo: đổi hình thức, giữ hoặc làm rõ giá trị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Xuyên tạc: đổi hoặc đảo ngược giá trị, làm người xem hiểu sai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Hư cấu phải được nói rõ là hư cấu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Biểu tượng thiêng giữ vị trí trang trọng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Thảo luận câu 1: ranh giới giữa sáng tạo và xuyên tạc nằm ở đâu?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Vì sao sản phẩm bị phản ứng?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Đồ thờ, trang phục nghi lễ làm đạo cụ gợi cảm hoặc gây cười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Rập khuôn, nhại giọng vùng miền, dân tộc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Sai thông tin lịch sử, gán nguồn gốc sai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Dùng bản thu dân ca không xin phép; ảnh AI sai hoa văn giới thiệu như thật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Thảo luận câu 2: mỗi loại lỗi vi phạm nguyên tắc nào?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Case tốt có gì chung?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Người trong nghề, người trong cộng đồng là nhân vật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Thông tin đúng, có nguồn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Chi tiết văn hóa ở trung tâm câu chuyện, không phải phông nền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Checklist văn hóa của lớp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Thông tin: đối chiếu 2 nguồn; hư cấu được nói rõ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Tôn trọng: đúng ngữ cảnh; không nhại giọng, rập khuôn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Xin phép: người xuất hiện; nơi quay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Bản quyền: nhạc có giấy phép; ghi nguồn tư liệu, ghi chú ảnh AI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Thông điệp: tích cực; caption không giật tít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25 phút: mỗi nhóm bổ sung hoặc sửa ít nhất một dòng; lớp trưởng tổng hợp vào Google Doc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Cấu trúc kịch bản video ngắn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Hook</a:t>
            </a:r>
            <a:r>
              <a:rPr b="0" sz="2000">
                <a:solidFill>
                  <a:srgbClr val="212529"/>
                </a:solidFill>
                <a:latin typeface="Arial"/>
              </a:rPr>
              <a:t>: vài giây đầu, hình ảnh hoặc câu hỏi gây tò mò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Câu chuyện</a:t>
            </a:r>
            <a:r>
              <a:rPr b="0" sz="2000">
                <a:solidFill>
                  <a:srgbClr val="212529"/>
                </a:solidFill>
                <a:latin typeface="Arial"/>
              </a:rPr>
              <a:t>: nhân vật, hành trình, khó khăn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Giá trị</a:t>
            </a:r>
            <a:r>
              <a:rPr b="0" sz="2000">
                <a:solidFill>
                  <a:srgbClr val="212529"/>
                </a:solidFill>
                <a:latin typeface="Arial"/>
              </a:rPr>
              <a:t>: nói ra hoặc để người xem tự cảm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Kêu gọi</a:t>
            </a:r>
            <a:r>
              <a:rPr b="0" sz="2000">
                <a:solidFill>
                  <a:srgbClr val="212529"/>
                </a:solidFill>
                <a:latin typeface="Arial"/>
              </a:rPr>
              <a:t>: một hành động cụ thể, vừa sức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Ví dụ: kịch bản cho một chiếc bình gốm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Hook: đặc tả bàn tay lấm đất + "Bạn nghĩ mất bao lâu để có chiếc bình này?"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Câu chuyện: nghệ nhân kể công đoạn, lần nung hỏng, bí quyết giữ màu men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Giá trị: ý nghĩa hoa văn; sự nhẫn nại, tinh thần giữ nghề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Kêu gọi: "Lần tới ghé bảo tàng, hãy tìm hoa văn này"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Thảo luận câu 3: sản phẩm của nhóm mang giá trị gì, kể bằng biểu tượng nào?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Shot list và moodboard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Mỗi dòng một cảnh: nội dung, cỡ cảnh, góc/chuyển động, thời lượng, âm thanh, cần xin phép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Moodboard 6–9 ảnh: màu sắc, ánh sáng, cỡ cảnh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AI tạo ảnh: phác thảo bố cục, không khí; không thay hiện vật thật; lưu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Workshop kịch bản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Mỗi nhóm pitch 3 phút: sản phẩm, giá trị, biểu tượng trung tâm, cấu trúc 4 phần, ảnh khảo sát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Góp ý 2 phút theo Checklist văn hóa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Ghi lại góp ý, sửa ngay sau phần pitch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Khoảng 90 phút cho 12 nhóm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Nộp kịch bản và giấy xin phép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Google Doc: thông tin và nguồn; kịch bản 4 phần; shot list; moodboard; danh sách xin phép; prompt AI; mục "Đã sửa theo góp ý"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Giảng viên duyệt trước buổi 05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Hoàn tất giấy xin phép quay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Chuẩn bị buổi 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Sửa kịch bản theo góp ý, chờ duyệt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Chuẩn bị thiết bị: điện thoại sạc đầy, pin dự phòng, micro, giá đỡ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Làm quiz Bài 04; tham gia diễn đàn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Cơ sở Văn hóa Việt Nam (112317) • Bài 04: Chất liệu văn hóa trong sáng tạo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