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 trâu (tự nhiên) khác cái cày (sản phẩm của con người) – dẫn sang tính nhân sinh.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Thời lượng 5 tiết; CLO liên quan: CLO1, CLO3.</a:t>
            </a:r>
          </a:p>
          <a:p>
            <a:r>
              <a:t>Cuối buổi: chia 12 nhóm × 3 SV, bốc thăm đề tài Portfolio, giao clip "Unbox văn hóa".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Không chốt đáp án ngay; quay lại câu hỏi này ở slide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Học phần dùng định nghĩa của giáo trình [1] làm chuẩn vì nó dẫn tới 4 đặc trưng.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Đây là "bộ lọc" để kiểm tra một nội dung số có văn hóa hay không (câu thảo luận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Hỏi nhanh: "văn minh công nghiệp" hay "văn hóa công nghiệp"? Vì sao?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thành tố theo giáo trình [1] và CLO1; học chi tiết ở Bài 02.</a:t>
            </a:r>
          </a:p>
          <a:p>
            <a:r>
              <a:t>Timeline ghi "cấu trúc 3 thành tố": nếu giảng viên dùng khung 3 tọa độ (slide 8), trình bày thêm ở đây.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Không gian nhiệt đới ẩm gió mùa là gốc của loại hình văn hóa nông nghiệp (slide 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Liên hệ: vì sao quảng cáo Tết về sum họp gia đình dễ chạm cảm xúc khán giả Việt (trọng tình).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Nhắc gốm Chu Đậu, Bát Tràng ở giai đoạn Đại Việt để nối với dự án gốm/hiện vật.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Nguồn gốc phở có nhiều giả thuyết; khuyến khích sinh viên ghi "theo một giả thuyết" khi làm nội 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Đây là khung xuyên suốt cho Portfolio, kịch bản và báo cáo cuối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Quay lại câu hỏi ở slide 2: MV áo tứ thân nhảy nhạc điện tử có văn hóa hay chỉ là phông nền? Tùy cách khai thác giá trị.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Không có đáp án duy nhất; chấm lập luận theo mô hình.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Nộp qua LMS; dùng để làm quen thao tác quay – dựng trước dự án lớn.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Nhắc nhóm 1–6 nộp Portfolio trước buổi 02, kèm prompt AI đã dùng.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Trần Thị Diệu Hiền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1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Cơ sở Văn hóa Việt Nam (112317)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01: Văn hóa và tiếp cận truyền thông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Cơ sở Văn hóa Việt Nam (112317)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Hiểu văn hóa trước khi bấm quay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Trình bày định nghĩa, 4 đặc trưng và 4 chức năng của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biệt văn hóa – văn minh – văn hiến – văn vật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tích loại hình văn hóa gốc nông nghiệp và tiến trình văn hóa Việt Nam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Nhận diện chất liệu văn hóa trong sản phẩm truyền thông bằng mô hình Giá trị – Biểu tượng – Sản phẩm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Video gói bánh chưng trên TikTok có phải "nội dung văn hóa"?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MV mặc áo tứ thân nhảy nhạc điện tử thì sao?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Người làm truyền thông cần một cách nhìn rõ ràng trước khi bấm quay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Hoạt động</a:t>
            </a:r>
            <a:r>
              <a:rPr sz="2400">
                <a:solidFill>
                  <a:srgbClr val="0033CC"/>
                </a:solidFill>
              </a:rPr>
              <a:t>: Hỏi nhanh 3 sinh viên, ghi các ý kiến lên bảng để đối chiếu cuối buổi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banh-chu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38" y="1097280"/>
            <a:ext cx="4674443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Bánh chưng ngày Tết · Ảnh: Syced (CC0)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Chiếu 8–10 hình: con trâu trên đồng, cái cày, mâm cỗ Tết, cơn mưa, meme, nón lá…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Lớp giơ thẻ "Có" / "Không" và giải thích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Rút ra: thứ do con người tạo ra và gửi gắm giá trị thì thuộc văn hóa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15 phút, mỗi hình 1 phút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Khởi động "Văn hóa hay không?"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E. B. Tylor (1871)</a:t>
            </a:r>
            <a:r>
              <a:rPr sz="2600"/>
              <a:t>: tổng thể phức hợp tri thức, tín ngưỡng, nghệ thuật, đạo đức, luật pháp, phong tục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Hồ Chí Minh (1943)</a:t>
            </a:r>
            <a:r>
              <a:rPr sz="2600"/>
              <a:t>: toàn bộ sáng tạo và phát minh của loài người vì lẽ sinh tồn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UNESCO (2001)</a:t>
            </a:r>
            <a:r>
              <a:rPr sz="2600"/>
              <a:t>: đặc trưng tinh thần, vật chất, tri thức, cảm xúc; cả lối sống, hệ giá trị, đức tin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Trần Ngọc Thêm</a:t>
            </a:r>
            <a:r>
              <a:rPr sz="2600"/>
              <a:t>: hệ thống hữu cơ các giá trị vật chất và tinh thần, tích lũy qua tương tác với môi trường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Bốn định nghĩa văn hóa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000"/>
              <a:t>Tính hệ thống</a:t>
            </a:r>
            <a:r>
              <a:rPr sz="2000"/>
              <a:t> → chức năng tổ chức xã hội</a:t>
            </a:r>
          </a:p>
          <a:p>
            <a:pPr>
              <a:spcBef>
                <a:spcPts val="400"/>
              </a:spcBef>
              <a:buChar char="❖"/>
            </a:pPr>
            <a:r>
              <a:rPr b="1" sz="2000"/>
              <a:t>Tính giá trị</a:t>
            </a:r>
            <a:r>
              <a:rPr sz="2000"/>
              <a:t> → chức năng điều chỉnh xã hội</a:t>
            </a:r>
          </a:p>
          <a:p>
            <a:pPr>
              <a:spcBef>
                <a:spcPts val="400"/>
              </a:spcBef>
              <a:buChar char="❖"/>
            </a:pPr>
            <a:r>
              <a:rPr b="1" sz="2000"/>
              <a:t>Tính nhân sinh</a:t>
            </a:r>
            <a:r>
              <a:rPr sz="2000"/>
              <a:t> → chức năng giao tiếp</a:t>
            </a:r>
          </a:p>
          <a:p>
            <a:pPr>
              <a:spcBef>
                <a:spcPts val="400"/>
              </a:spcBef>
              <a:buChar char="❖"/>
            </a:pPr>
            <a:r>
              <a:rPr b="1" sz="2000"/>
              <a:t>Tính lịch sử</a:t>
            </a:r>
            <a:r>
              <a:rPr sz="2000"/>
              <a:t> → chức năng giáo dục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0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000"/>
              <a:t>Tục gói bánh chưng: có hệ thống (Tết, gia đình), có giá trị (hiếu kính), do con người tạo, truyền qua nhiều đời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Bốn đặc trưng – bốn chức năng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dac-trung-chuc-n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Văn minh</a:t>
            </a:r>
            <a:r>
              <a:rPr sz="2600"/>
              <a:t>: trình độ phát triển, thiên vật chất – kỹ thuật, tính quốc tế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Văn hiến</a:t>
            </a:r>
            <a:r>
              <a:rPr sz="2600"/>
              <a:t>: thiên giá trị tinh thần, truyền thống lâu đời ("nền văn hiến đã lâu")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Văn vật</a:t>
            </a:r>
            <a:r>
              <a:rPr sz="2600"/>
              <a:t>: thiên giá trị vật chất, di tích, nhân tài ("nghìn năm văn vật")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Văn hóa</a:t>
            </a:r>
            <a:r>
              <a:rPr sz="2600"/>
              <a:t>: bao trùm cả vật chất và tinh thần, có bề dày lịch sử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Văn hóa – văn minh – văn hiến – văn vật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Văn hóa nhận thức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Văn hóa tổ chức cộng đồng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Văn hóa ứng xử với môi trường tự nhiên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Văn hóa ứng xử với môi trường xã hội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Cấu trúc hệ thống văn hóa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he-thong-van-ho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Chủ thể</a:t>
            </a:r>
            <a:r>
              <a:rPr sz="2600"/>
              <a:t>: người Việt cùng các dân tộc anh em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Không gian</a:t>
            </a:r>
            <a:r>
              <a:rPr sz="2600"/>
              <a:t>: vùng nhiệt đới gió mùa, sông nước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Thời gian</a:t>
            </a:r>
            <a:r>
              <a:rPr sz="2600"/>
              <a:t>: tiến trình hàng nghìn năm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Ba tọa độ định vị văn hóa Việt Nam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lua-nuo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097280"/>
            <a:ext cx="469392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Cày ruộng bằng trâu · Ảnh: Thomas Schoch (CC BY-SA 2.5)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Ứng xử với tự nhiên: tôn trọng, hòa hợp ↔ chinh phục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Nhận thức: tổng hợp, biện chứng ↔ phân tích, lý tính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Tổ chức cộng đồng: trọng tình, trọng đức, trọng văn, trọng nữ, tập thể ↔ trọng lý, trọng võ, cá nhân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Ứng xử xã hội: dung hợp, mềm dẻo ↔ độc tôn, cứng rắn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Gốc nông nghiệp và gốc du mục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nong-nghiep-du-m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400"/>
              <a:t>Lớp bản địa</a:t>
            </a:r>
            <a:r>
              <a:rPr sz="2400"/>
              <a:t>: tiền sử; Văn Lang – Âu Lạc (Đông Sơn, trống đồng)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Lớp giao lưu với Trung Hoa và khu vực</a:t>
            </a:r>
            <a:r>
              <a:rPr sz="2400"/>
              <a:t>: chống Bắc thuộc; Đại Việt (Lý – Trần, Lê)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Lớp giao lưu với phương Tây</a:t>
            </a:r>
            <a:r>
              <a:rPr sz="2400"/>
              <a:t>: Đại Nam; văn hóa hiện đại (chữ Quốc ngữ, báo chí, môi trường số)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Tiến trình văn hóa: 3 lớp – 6 giai đoạn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tien-trinh-van-ho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000"/>
              <a:t>Gặp yếu tố mới: chọn lọc và biến đổi, không sao chép nguyên trạng</a:t>
            </a:r>
          </a:p>
          <a:p>
            <a:pPr>
              <a:spcBef>
                <a:spcPts val="400"/>
              </a:spcBef>
              <a:buChar char="❖"/>
            </a:pPr>
            <a:r>
              <a:rPr b="1" sz="2000"/>
              <a:t>Áo dài</a:t>
            </a:r>
            <a:r>
              <a:rPr sz="2000"/>
              <a:t>: từ áo ngũ thân, cải tiến thập niên 1930 theo kỹ thuật may phương Tây; tinh thần kín đáo, thanh lịch là của người Việt</a:t>
            </a:r>
          </a:p>
          <a:p>
            <a:pPr>
              <a:spcBef>
                <a:spcPts val="400"/>
              </a:spcBef>
              <a:buChar char="❖"/>
            </a:pPr>
            <a:r>
              <a:rPr b="1" sz="2000"/>
              <a:t>Phở</a:t>
            </a:r>
            <a:r>
              <a:rPr sz="2000"/>
              <a:t>: hình thành ở Bắc Bộ đầu thế kỷ 20, nhiều giả thuyết về ảnh hưởng Pháp, Hoa; cách ăn rất Việt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000">
                <a:solidFill>
                  <a:srgbClr val="0033CC"/>
                </a:solidFill>
              </a:rPr>
              <a:t>Hoạt động</a:t>
            </a:r>
            <a:r>
              <a:rPr sz="2000">
                <a:solidFill>
                  <a:srgbClr val="0033CC"/>
                </a:solidFill>
              </a:rPr>
              <a:t>: Thảo luận câu 2: vì sao áo dài, phở vừa "ngoại nhập" vừa "rất Việt"?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Quy luật tiếp biến văn hóa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ao-d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230" y="1097280"/>
            <a:ext cx="528066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Áo dài · Ảnh: Anh Khoa (CC BY-SA 2.0)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400"/>
              <a:t>Giá trị</a:t>
            </a:r>
            <a:r>
              <a:rPr sz="2400"/>
              <a:t>: điều gì đáng truyền tải?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Biểu tượng</a:t>
            </a:r>
            <a:r>
              <a:rPr sz="2400"/>
              <a:t>: hình ảnh, âm thanh, chi tiết nào mang giá trị đó?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Sản phẩm</a:t>
            </a:r>
            <a:r>
              <a:rPr sz="2400"/>
              <a:t>: định dạng, kênh, cách kể nào phù hợp khán giả?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Bình gốm men lam: sự nhẫn nại của nghệ nhân → vết tay trên bàn xoay → video dọc 60 giây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Mô hình Giá trị – Biểu tượng – Sản phẩm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gia-tri-bieu-tuong-san-ph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Chỉ dùng biểu tượng làm trang trí, không truyền được giá trị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Khán giả thấy đẹp nhưng không hiểu thêm gì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Nguy cơ đặt biểu tượng sai ngữ cảnh (đồ thờ, trang phục nghi lễ)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"Phông nền" văn hóa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Liệt kê các chi tiết văn hóa Kinh Bắc xuất hiện trong MV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Xếp từng chi tiết vào tầng biểu tượng hay giá trị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Chỉ ra chỗ nào chất liệu chỉ là phông nền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Thảo luận nhóm câu 3, mỗi nhóm báo cáo 1 phút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Case thảo luận: MV "Bắc Bling"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Chọn một đồ vật quen thuộc mang dấu ấn văn hóa Việt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Kể theo ba tầng: biểu tượng → giá trị → câu kết gửi khán giả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mp4 50–70 giây, quay dọc, có phụ đề, kèm prompt AI nếu có dùng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Bài tập nhóm: Clip "Unbox văn hóa" 60 giây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01: Văn hóa và tiếp cận truyền thông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12 nhóm × 3 sinh viên, ghi vào Google Sheet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Nhóm 1–6: thành tố văn hóa (buổi 02); nhóm 7–12: vùng văn hóa (buổi 03)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Đọc giáo trình [1] phần văn hóa học và văn hóa Việt Nam; làm quiz Bài 01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Chia nhóm và chuẩn bị buổi 02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