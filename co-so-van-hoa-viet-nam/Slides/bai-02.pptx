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tiết; CLO1, CLO2, CLO3. Giữa kỳ A2 cho nhóm 1–6.</a:t>
            </a:r>
          </a:p>
          <a:p>
            <a:r>
              <a:t>Tiến trình: nhóm 1–3 trình bày → chốt → nhóm 4–6 trình bày → chốt → thảo luận.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giờ nghiêm: 5 phút trình bày + 2–3 phút hỏi đáp mỗi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nhanh trước khi nhóm 1 lên trình bày.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Chốt sau lượt 1; liên hệ sản phẩm nhóm vừa trình bày.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Hỏi: sinh viên còn biết câu tục ngữ nào thể hiện âm dương chuyển hóa?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ứng dụng màu sắc trong thiết kế: chọn màu có lý do văn 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nội dung số dịp Tết: dùng đúng con giáp, đúng màu, giải thích ý nghĩa.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Hai đặc trưng là hai mặt của cùng một tổ chức làng.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ví dụ chiến dịch quyên góp lan tỏa và hiện tượng "ném đá" tập thể.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Nếu có nhóm trình bày đình làng hoặc lễ hội, dùng sản phẩm của nhóm làm ví dụ.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Chốt sau lượt 2 cùng slide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Đặc trưng chung: dung hợp và linh hoạt.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chuyện tiếp biến có xung đột, bất ngờ và kết thúc tự hào: cấu trúc tốt cho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Thu phiếu chấm chéo cuối hoạt động.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lỗi thường gặp từ lượt hôm nay để nhóm 7–12 tránh.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Buổi 03 có Kahoot ôn tập chương 1–3 và đăng ký sản phẩm quay.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Cơ sở Văn hóa Việt Nam (112317)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02: Hệ thống thành tố văn hóa Việt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Nhận thức – Tổ chức cộng đồng – Ứng xử với tự nhiên và xã hội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Truyền thông đa phương tiện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Giải thích văn hóa nhận thức và văn hóa tổ chức cộng đồng của người Việt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tích ứng xử với môi trường tự nhiên và xã hội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Xếp đúng sản phẩm văn hóa vào thành tố, tiểu hệ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Đề xuất giá trị đáng đưa vào nội dung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Kế hoạch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Lượt 1: nhóm 1–3 (nhận thức, tổ chức cộng đồng), khoảng 25 phút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Giảng viên chốt lần 1, khoảng 12 phút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Lượt 2: nhóm 4–6 (ứng xử với tự nhiên và xã hội), khoảng 25 phút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Giảng viên chốt lần 2, khoảng 12 phút; thảo luận cả lớp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Phát phiếu chấm chéo cho nhóm 7–12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Tiêu chí chấm Portfolio (nhắc lại)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tích đúng thành tố, giá trị (CLO1) · Tư liệu và nguồn (CLO1)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Ý tưởng chuyển hóa, thiết kế slide (CLO2)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Lý do lựa chọn, thái độ với di sản (CLO3)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Cấu trúc – thời gian, thuyết trình, trả lời câu hỏi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Triết lý âm dương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Gốc từ nhu cầu nông nghiệp: trời – đất, nắng – mưa, cha – mẹ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Quy luật 1: không có gì hoàn toàn âm hoặc hoàn toàn dương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Quy luật 2: âm dương chuyển hóa ("sông có khúc, người có lúc")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Bánh chưng vuông – bánh giầy tròn; tư duy cặp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Hệ quả trong lối sống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Tư duy theo cặp đôi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Triết lý quân bình: tránh thái quá trong ăn uống, ứng xử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Tinh thần lạc quan: "trong rủi có may", "khổ tận cam lai"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Tam tài – ngũ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Tam tài</a:t>
            </a:r>
            <a:r>
              <a:rPr b="0" sz="2000">
                <a:solidFill>
                  <a:srgbClr val="212529"/>
                </a:solidFill>
                <a:latin typeface="Arial"/>
              </a:rPr>
              <a:t>: Thiên – Địa – Nhân; "thiên thời, địa lợi, nhân hòa"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Ngũ hành</a:t>
            </a:r>
            <a:r>
              <a:rPr b="0" sz="2000">
                <a:solidFill>
                  <a:srgbClr val="212529"/>
                </a:solidFill>
                <a:latin typeface="Arial"/>
              </a:rPr>
              <a:t>: Thủy – Hỏa – Mộc – Kim – Thổ; tương sinh, tương khắc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Ngũ sắc: đen, đỏ, xanh, trắng, vàng; gắn với phương hướng, mùa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Ví dụ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Mâm ngũ quả, cờ ngũ sắc trong lễ hội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Lịch âm dương, can chi, 12 con giáp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Tháng theo Mặt Trăng, năm điều chỉnh theo Mặt Trời (24 tiết khí, tháng nhuận)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10 thiên can × 12 địa chi → chu kỳ 60 năm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Con giáp Việt có con Mèo thay con Thỏ: một ví dụ tiếp biến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Làng xã và hai đặc trưng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Người trong làng gắn kết theo huyết thống, nơi ở, nghề, sở thích, giới – tuổi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Tính cộng đồng</a:t>
            </a:r>
            <a:r>
              <a:rPr b="0" sz="2000">
                <a:solidFill>
                  <a:srgbClr val="212529"/>
                </a:solidFill>
                <a:latin typeface="Arial"/>
              </a:rPr>
              <a:t>: cây đa, bến nước, sân đình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Tính tự trị</a:t>
            </a:r>
            <a:r>
              <a:rPr b="0" sz="2000">
                <a:solidFill>
                  <a:srgbClr val="212529"/>
                </a:solidFill>
                <a:latin typeface="Arial"/>
              </a:rPr>
              <a:t>: lũy 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Hai mặt của tính cộng đồng và tự trị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Cộng đồng: đoàn kết, tương trợ ↔ dựa dẫm, cào bằng, đố kỵ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Tự trị: tự lập, cần cù ↔ ích kỷ, bè phái, cục bộ địa phương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Thảo luận câu 2: trên mạng xã hội, tính cộng đồng là đùm bọc hay "ném đá"?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Đình làng và lễ hội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Đình: thờ Thành hoàng, trung tâm hành chính và sinh hoạt văn hóa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Lễ hội: phần lễ (nghi thức) và phần hội (trò chơi, diễn xướng)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Phần lớn lễ hội gắn với chu kỳ nông nghiệp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Ứng xử với tự nhiên: tận dụng và ứng phó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Ăn</a:t>
            </a:r>
            <a:r>
              <a:rPr b="0" sz="2000">
                <a:solidFill>
                  <a:srgbClr val="212529"/>
                </a:solidFill>
                <a:latin typeface="Arial"/>
              </a:rPr>
              <a:t>: cơm – rau – cá, nước mắm; ăn chung mâm; cân bằng âm dương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Mặc</a:t>
            </a:r>
            <a:r>
              <a:rPr b="0" sz="2000">
                <a:solidFill>
                  <a:srgbClr val="212529"/>
                </a:solidFill>
                <a:latin typeface="Arial"/>
              </a:rPr>
              <a:t>: tơ, lụa, đay, gai; yếm, áo tứ thân, nón lá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Ở</a:t>
            </a:r>
            <a:r>
              <a:rPr b="0" sz="2000">
                <a:solidFill>
                  <a:srgbClr val="212529"/>
                </a:solidFill>
                <a:latin typeface="Arial"/>
              </a:rPr>
              <a:t>: nhà sàn, mái cong, hướng nam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Đi lại</a:t>
            </a:r>
            <a:r>
              <a:rPr b="0" sz="2000">
                <a:solidFill>
                  <a:srgbClr val="212529"/>
                </a:solidFill>
                <a:latin typeface="Arial"/>
              </a:rPr>
              <a:t>: thuyền, ghe; "trên bến dưới thuyền"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Ứng xử với môi trường xã hội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Phật giáo</a:t>
            </a:r>
            <a:r>
              <a:rPr b="0" sz="2000">
                <a:solidFill>
                  <a:srgbClr val="212529"/>
                </a:solidFill>
                <a:latin typeface="Arial"/>
              </a:rPr>
              <a:t>: kết hợp tín ngưỡng bản địa, "tiền Phật hậu Thần", chùa Tứ pháp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Nho giáo</a:t>
            </a:r>
            <a:r>
              <a:rPr b="0" sz="2000">
                <a:solidFill>
                  <a:srgbClr val="212529"/>
                </a:solidFill>
                <a:latin typeface="Arial"/>
              </a:rPr>
              <a:t>: chính thống thời Đại Việt; "trung" thành trung với nước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Đạo giáo</a:t>
            </a:r>
            <a:r>
              <a:rPr b="0" sz="2000">
                <a:solidFill>
                  <a:srgbClr val="212529"/>
                </a:solidFill>
                <a:latin typeface="Arial"/>
              </a:rPr>
              <a:t>: chủ yếu dạng dân gian, hòa lẫn với tín ngưỡng dân gian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Phương Tây</a:t>
            </a:r>
            <a:r>
              <a:rPr b="0" sz="2000">
                <a:solidFill>
                  <a:srgbClr val="212529"/>
                </a:solidFill>
                <a:latin typeface="Arial"/>
              </a:rPr>
              <a:t>: chữ Quốc ngữ, kiến trúc, báo chí, được Việt hóa dần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Tam giáo đồng nguyên và tính dung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Phật, Nho, Đạo cùng tồn tại, bổ sung cho nhau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Tiếp nhận có chọn lọc, biến đổi cho hợp hoàn cảnh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Câu chuyện "tiếp biến" là chất liệu hấp dẫn cho video ngắn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Thảo luận cả lớp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Sản phẩm của nhóm bạn thuộc thành tố, tiểu hệ nào? Vì sao?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Tính cộng đồng – tự trị trên mạng xã hội: đùm bọc hay "ném đá"?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Giá trị nào đáng đưa vào nội dung số?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Mỗi nhóm 7–12 chọn một câu, trả lời 1 phút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Khung Portfolio cho nhóm 7–12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Sản phẩm là gì → thuộc vùng nào, vì sao → giá trị văn hóa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Đề xuất chuyển hóa (định dạng, kênh, cách kể)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Lý do chọn và thái độ với di sản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Nguồn tham khảo và prompt AI đã dùng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Chuẩn bị buổi 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Nhóm 7–12 nộp Portfolio trước buổi 03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Đọc giáo trình [1] phần các vùng văn hóa Việt Nam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Làm quiz Bài 02; tham gia diễn đàn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02: Hệ thống thành tố văn hóa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