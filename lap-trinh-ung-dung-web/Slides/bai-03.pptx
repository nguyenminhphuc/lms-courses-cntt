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tiết lý thuyết, 4 tiết thực hành. CLO1–CLO4. Cuối buổi là Checkpoint Sprint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Chấm checkpoint theo đủ 4 sản phẩm; ghi nhận xét vào báo cáo sprint của nhóm.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246120"/>
            <a:ext cx="1463040" cy="73152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600">
                <a:solidFill>
                  <a:srgbClr val="FFC627"/>
                </a:solidFill>
                <a:latin typeface="Arial"/>
              </a:rPr>
              <a:t>Lập trình ứng dụng web (111102)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Bài 03: Server Components &amp; lấy dữ liệu từ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FFFFFF"/>
                </a:solidFill>
                <a:latin typeface="Arial"/>
              </a:rPr>
              <a:t>Sprint 1 · Checkpoint Sprint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200">
                <a:solidFill>
                  <a:srgbClr val="FFFFFF"/>
                </a:solidFill>
                <a:latin typeface="Arial"/>
              </a:rPr>
              <a:t>Khoa Công nghệ Thông tin - Trường Đại học Lạc Hồng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Mục tiêu buổi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Phân biệt Server và Client Component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Lấy dữ liệu từ API mẫu với cache phù hợp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Trạng thái tải và lỗi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Test case, báo cáo sprint, kế hoạch Sprint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03: Server Components &amp; lấy dữ liệu từ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Câu hỏi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Thực đơn đang hiện món giả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Hôm nay: món thật từ API, lấy ngay trên server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Chứng minh trang đúng yêu cầu bằng test case, không bằng "em chạy thử thấy được"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03: Server Components &amp; lấy dữ liệu từ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Server và Client Component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Server</a:t>
            </a:r>
            <a:r>
              <a:rPr b="0" sz="2000">
                <a:solidFill>
                  <a:srgbClr val="212529"/>
                </a:solidFill>
                <a:latin typeface="Arial"/>
              </a:rPr>
              <a:t>: async/await, biến bí mật, gọi API; không gửi mã xuống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</a:t>
            </a:r>
            <a:r>
              <a:rPr b="1" sz="2000">
                <a:solidFill>
                  <a:srgbClr val="212529"/>
                </a:solidFill>
                <a:latin typeface="Arial"/>
              </a:rPr>
              <a:t>Client</a:t>
            </a:r>
            <a:r>
              <a:rPr b="0" sz="2000">
                <a:solidFill>
                  <a:srgbClr val="212529"/>
                </a:solidFill>
                <a:latin typeface="Arial"/>
              </a:rPr>
              <a:t>: state, sự kiện, API trình duyệt; gửi mã xuống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Trang = Server Component; tách phần tương tác nhỏ</a:t>
            </a:r>
          </a:p>
          <a:p>
            <a:pPr>
              <a:spcBef>
                <a:spcPts val="8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Hoạt động</a:t>
            </a:r>
            <a:r>
              <a:rPr b="0" sz="2000">
                <a:solidFill>
                  <a:srgbClr val="01295C"/>
                </a:solidFill>
                <a:latin typeface="Arial"/>
              </a:rPr>
              <a:t>: Chỉ ra ranh giới "use client" trên trang chi tiết món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03: Server Components &amp; lấy dữ liệu từ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Biến môi trường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có NEXT_PUBLIC_: chỉ server đọc được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commit .env.local; khởi động lại dev sau khi sửa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08960"/>
            <a:ext cx="11064240" cy="85953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# .env.local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API_URL=http://&lt;địa-chỉ-API-mẫu&gt;:3000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03: Server Components &amp; lấy dữ liệu từ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Hàm gọi API tập trung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1064240" cy="2322576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import 'server-only';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export async function apiGet&lt;T&gt;(path: string, revalidate = 30) {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const res = await fetch(`${process.env.API_URL}${path}`,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                        { next: { revalidate } });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if (!res.ok) throw new Error(`API ${path} trả về ${res.status}`);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return res.json() as Promise&lt;T&gt;;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03: Server Components &amp; lấy dữ liệu từ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Trang thực đơn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Lọc danh mục, tìm kiếm qua URL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Form GET: không cần JavaScript phía client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108960"/>
            <a:ext cx="11064240" cy="1737360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tIns="137160"/>
          <a:lstStyle/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const { category, q } = await searchParams;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const [categories, products] = await Promise.all([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apiGet&lt;Category[]&gt;('/categories', 300),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  apiGet&lt;Product[]&gt;(`/products?${query}`, 30),</a:t>
            </a:r>
          </a:p>
          <a:p>
            <a:pPr algn="l"/>
            <a:r>
              <a:rPr sz="1400">
                <a:solidFill>
                  <a:srgbClr val="212529"/>
                </a:solidFill>
                <a:latin typeface="Consolas"/>
              </a:rPr>
              <a:t>]);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03: Server Components &amp; lấy dữ liệu từ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Cache và làm mới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Từ Next.js 15, fetch không tự cache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revalidate: dùng lại kết quả N giây rồi làm mới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Danh mục 5 phút, món 30 giây: theo mức thay đổi dữ liệu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Món vừa hết hàng: khách thấy sau tối đa 30 giây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03: Server Components &amp; lấy dữ liệu từ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Trạng thái tải và lỗi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loading.tsx: streaming, khung trang hiện ngay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Suspense: khối chậm không chặn khối nhanh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error.tsx (Client Component): thông báo thân thiện + Thử lại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Không hiển thị lỗi kỹ thuật cho người dùng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03: Server Components &amp; lấy dữ liệu từ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Test case từ tiêu chí nghiệm thu (CLO2)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TC-01 US-G01: mở /menu → thấy danh mục, giá "35.000 đ"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TC-02 US-G01: chọn "Đồ uống" → chỉ còn đồ uống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TC-03 US-G02: tìm "com ga" → có "Cơm gà xối mỡ"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TC-04 US-G03: /product/999999 → trang 404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TC-05: API sai → thông báo lỗi + Thử lại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03: Server Components &amp; lấy dữ liệu từ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Báo cáo sprint (CLO3)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Sprint Goal và kết quả, link demo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Story hoàn thành: người phụ trách, PR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Phân tích thành phần: sơ đồ có số hình, chú thích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Kiểm thử: số test case, đạt, lỗi đã sửa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Kế hoạch so với thực tế; kế hoạch sprint sau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03: Server Components &amp; lấy dữ liệu từ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Sprint Review và kế hoạch Sprint 2 (CLO4)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Demo cho giảng viên, nhận góp ý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Cập nhật backlog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Chọn story theo velocity thực tế của Sprint 1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Board cập nhật trước khi rời lớp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03: Server Components &amp; lấy dữ liệu từ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Checkpoint Sprint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Demo khung web với dữ liệu thật từ API mẫu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Sơ đồ chức năng, sitemap, bảng ánh xạ route (CLO1)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Test case + kết quả (CLO2)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Báo cáo sprint 1 đúng định dạng (CLO3)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Kế hoạch Sprint 2 trên board (CLO4)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03: Server Components &amp; lấy dữ liệu từ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Tổng kết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Nội dung chính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Server Component lấy dữ liệu, Client Component lo tương tác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Cache theo mức thay đổi của dữ liệu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Luôn có trạng thái tải, lỗi, rỗng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Buổi sau: Client Components, giỏ hàng, 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03: Server Components &amp; lấy dữ liệu từ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13D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000">
                <a:solidFill>
                  <a:srgbClr val="013D88"/>
                </a:solidFill>
                <a:latin typeface="Arial"/>
              </a:rPr>
              <a:t>Tài liệu của buổi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FFC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b="1" sz="2000">
                <a:solidFill>
                  <a:srgbClr val="01295C"/>
                </a:solidFill>
                <a:latin typeface="Arial"/>
              </a:rPr>
              <a:t>Đọc thêm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SRS LHU Food: mục 4.7 (tiêu chí US-G01, G02, G03), 8 (định dạng API)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Kế hoạch Agile: Definition of Done, Sprint Review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Next.js: Fetching Data, Error Handling, Environment Variables</a:t>
            </a:r>
          </a:p>
          <a:p>
            <a:pPr>
              <a:spcBef>
                <a:spcPts val="300"/>
              </a:spcBef>
            </a:pPr>
            <a:r>
              <a:rPr b="0" sz="2000">
                <a:solidFill>
                  <a:srgbClr val="212529"/>
                </a:solidFill>
                <a:latin typeface="Arial"/>
              </a:rPr>
              <a:t>•  Trang Đánh giá học phần: quy định định dạng báo cáo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Lập trình ứng dụng web (111102) • Bài 03: Server Components &amp; lấy dữ liệu từ 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3550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100">
                <a:solidFill>
                  <a:srgbClr val="6C757D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