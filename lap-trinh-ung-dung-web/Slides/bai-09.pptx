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-closing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3" r:id="rId1"/>
  </p:sldMasterIdLst>
  <p:notesMasterIdLst>
    <p:notesMasterId r:id="rId6"/>
  </p:notesMasterIdLst>
  <p:sldIdLst>
    <p:sldId id="266" r:id="rId4"/>
    <p:sldId id="267" r:id="rId3"/>
    <p:sldId id="268" r:id="rId2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65" r:id="rId5"/>
  </p:sldIdLst>
  <p:sldSz cx="12192000" cy="6858000"/>
  <p:notesSz cx="6858000" cy="9144000"/>
  <p:embeddedFontLst>
    <p:embeddedFont>
      <p:font typeface="Quattrocento Sans" panose="020B0502050000020003" pitchFamily="3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Black" panose="02000000000000000000" pitchFamily="2" charset="0"/>
      <p:bold r:id="rId15"/>
      <p:boldItalic r:id="rId16"/>
    </p:embeddedFont>
    <p:embeddedFont>
      <p:font typeface="Roboto Medium" panose="020000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60">
          <p15:clr>
            <a:srgbClr val="A4A3A4"/>
          </p15:clr>
        </p15:guide>
        <p15:guide id="2" pos="7392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-closing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font" Target="fonts/font9.fntdata"/><Relationship Id="rId16" Type="http://schemas.openxmlformats.org/officeDocument/2006/relationships/font" Target="fonts/font10.fntdata"/><Relationship Id="rId17" Type="http://schemas.openxmlformats.org/officeDocument/2006/relationships/font" Target="fonts/font11.fntdata"/><Relationship Id="rId18" Type="http://schemas.openxmlformats.org/officeDocument/2006/relationships/font" Target="fonts/font12.fntdata"/><Relationship Id="rId19" Type="http://schemas.openxmlformats.org/officeDocument/2006/relationships/font" Target="fonts/font13.fntdata"/><Relationship Id="rId20" Type="http://schemas.openxmlformats.org/officeDocument/2006/relationships/font" Target="fonts/font14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17.xml"/><Relationship Id="rId38" Type="http://schemas.openxmlformats.org/officeDocument/2006/relationships/slide" Target="slides/slide18.xml"/><Relationship Id="rId39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-closing.xml"/>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 tiết lý thuyết, 4 tiết thực hành. CLO1–CLO4. Cuối buổi là Checkpoint Sprint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Chuẩn bị một điện thoại cài ứng dụng của nhóm để demo TC-51; chấm checkpoint theo đủ 4 sản phẩm.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801368" y="1664208"/>
            <a:ext cx="8586300" cy="21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6600"/>
              <a:buFont typeface="Roboto Black"/>
              <a:buNone/>
              <a:defRPr sz="6600" b="0">
                <a:latin typeface="Roboto Black"/>
                <a:ea typeface="Roboto Black"/>
                <a:cs typeface="Roboto Black"/>
                <a:sym typeface="Robot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2487168" y="4142232"/>
            <a:ext cx="72237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Medium"/>
              <a:buNone/>
              <a:defRPr sz="28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70134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8613648" y="1938528"/>
            <a:ext cx="2688300" cy="299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609084" y="2965074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 rot="5400000">
            <a:off x="7360671" y="3424440"/>
            <a:ext cx="21030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lvl="2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lvl="4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/>
          <p:nvPr/>
        </p:nvSpPr>
        <p:spPr>
          <a:xfrm>
            <a:off x="1780130" y="95350"/>
            <a:ext cx="417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800"/>
              <a:buFont typeface="Quattrocento Sans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122350" y="1074775"/>
            <a:ext cx="1197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2300"/>
              <a:buFont typeface="Quattrocento Sans"/>
              <a:buNone/>
              <a:defRPr sz="2300">
                <a:solidFill>
                  <a:srgbClr val="FF99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2pPr>
            <a:lvl3pPr lvl="2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3pPr>
            <a:lvl4pPr lvl="3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4pPr>
            <a:lvl5pPr lvl="4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5pPr>
            <a:lvl6pPr lvl="5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6pPr>
            <a:lvl7pPr lvl="6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7pPr>
            <a:lvl8pPr lvl="7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8pPr>
            <a:lvl9pPr lvl="8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9pPr>
          </a:lstStyle>
          <a:p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921650" y="585375"/>
            <a:ext cx="417300" cy="214200"/>
          </a:xfrm>
          <a:prstGeom prst="homePlate">
            <a:avLst>
              <a:gd name="adj" fmla="val 60423"/>
            </a:avLst>
          </a:prstGeom>
          <a:solidFill>
            <a:srgbClr val="0033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4 pictures">
  <p:cSld name="Title and Content with 4 picture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7324344" y="630936"/>
            <a:ext cx="4517100" cy="549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 w="9525" cap="flat" cmpd="sng">
            <a:solidFill>
              <a:srgbClr val="E8E8E8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D8D8D8">
                <a:alpha val="29804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5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895522" y="859155"/>
            <a:ext cx="6016800" cy="491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5"/>
          <p:cNvSpPr/>
          <p:nvPr/>
        </p:nvSpPr>
        <p:spPr>
          <a:xfrm>
            <a:off x="7260336" y="1179576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7792216" y="2185416"/>
            <a:ext cx="36831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>
            <a:spLocks noGrp="1"/>
          </p:cNvSpPr>
          <p:nvPr>
            <p:ph type="pic" idx="5"/>
          </p:nvPr>
        </p:nvSpPr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5"/>
          <p:cNvSpPr>
            <a:spLocks noGrp="1"/>
          </p:cNvSpPr>
          <p:nvPr>
            <p:ph type="pic" idx="6"/>
          </p:nvPr>
        </p:nvSpPr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5"/>
          <p:cNvSpPr>
            <a:spLocks noGrp="1"/>
          </p:cNvSpPr>
          <p:nvPr>
            <p:ph type="pic" idx="7"/>
          </p:nvPr>
        </p:nvSpPr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pictures">
  <p:cSld name="Title and Content with picture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084064" y="889393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5102352" y="2727631"/>
            <a:ext cx="6272700" cy="30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6"/>
          <p:cNvSpPr/>
          <p:nvPr/>
        </p:nvSpPr>
        <p:spPr>
          <a:xfrm rot="5400000">
            <a:off x="5317906" y="363383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5065776" y="2553749"/>
            <a:ext cx="6291000" cy="4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>
            <a:spLocks noGrp="1"/>
          </p:cNvSpPr>
          <p:nvPr>
            <p:ph type="pic" idx="2"/>
          </p:nvPr>
        </p:nvSpPr>
        <p:spPr>
          <a:xfrm>
            <a:off x="457200" y="895738"/>
            <a:ext cx="4050900" cy="4834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2 pictures">
  <p:cSld name="Title and Content with 2 pictures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612648" y="1074888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612648" y="3009498"/>
            <a:ext cx="62727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5605272" y="6356350"/>
            <a:ext cx="1280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7"/>
          <p:cNvSpPr/>
          <p:nvPr/>
        </p:nvSpPr>
        <p:spPr>
          <a:xfrm rot="5400000">
            <a:off x="850338" y="629660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7"/>
          <p:cNvSpPr>
            <a:spLocks noGrp="1"/>
          </p:cNvSpPr>
          <p:nvPr>
            <p:ph type="pic" idx="2"/>
          </p:nvPr>
        </p:nvSpPr>
        <p:spPr>
          <a:xfrm>
            <a:off x="7684008" y="3204504"/>
            <a:ext cx="4508100" cy="2505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7"/>
          <p:cNvSpPr>
            <a:spLocks noGrp="1"/>
          </p:cNvSpPr>
          <p:nvPr>
            <p:ph type="pic" idx="3"/>
          </p:nvPr>
        </p:nvSpPr>
        <p:spPr>
          <a:xfrm>
            <a:off x="7680960" y="1074888"/>
            <a:ext cx="4508100" cy="18549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7"/>
          <p:cNvSpPr/>
          <p:nvPr/>
        </p:nvSpPr>
        <p:spPr>
          <a:xfrm>
            <a:off x="612648" y="2801145"/>
            <a:ext cx="6217800" cy="183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title"/>
          </p:nvPr>
        </p:nvSpPr>
        <p:spPr>
          <a:xfrm>
            <a:off x="557784" y="640080"/>
            <a:ext cx="108906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800"/>
              <a:buFont typeface="Quattrocento Sa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498834" y="5118581"/>
            <a:ext cx="1464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1"/>
          </p:nvPr>
        </p:nvSpPr>
        <p:spPr>
          <a:xfrm>
            <a:off x="841248" y="5102352"/>
            <a:ext cx="9207900" cy="585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>
            <a:spLocks noGrp="1"/>
          </p:cNvSpPr>
          <p:nvPr>
            <p:ph type="pic" idx="2"/>
          </p:nvPr>
        </p:nvSpPr>
        <p:spPr>
          <a:xfrm>
            <a:off x="542239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9"/>
          <p:cNvSpPr>
            <a:spLocks noGrp="1"/>
          </p:cNvSpPr>
          <p:nvPr>
            <p:ph type="pic" idx="3"/>
          </p:nvPr>
        </p:nvSpPr>
        <p:spPr>
          <a:xfrm>
            <a:off x="57607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9"/>
          <p:cNvSpPr>
            <a:spLocks noGrp="1"/>
          </p:cNvSpPr>
          <p:nvPr>
            <p:ph type="pic" idx="4"/>
          </p:nvPr>
        </p:nvSpPr>
        <p:spPr>
          <a:xfrm>
            <a:off x="784555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9"/>
          <p:cNvSpPr/>
          <p:nvPr/>
        </p:nvSpPr>
        <p:spPr>
          <a:xfrm>
            <a:off x="1540857" y="876618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9"/>
          <p:cNvSpPr txBox="1">
            <a:spLocks noGrp="1"/>
          </p:cNvSpPr>
          <p:nvPr>
            <p:ph type="title"/>
          </p:nvPr>
        </p:nvSpPr>
        <p:spPr>
          <a:xfrm>
            <a:off x="1732881" y="721106"/>
            <a:ext cx="9100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>
            <a:spLocks noGrp="1"/>
          </p:cNvSpPr>
          <p:nvPr>
            <p:ph type="pic" idx="5"/>
          </p:nvPr>
        </p:nvSpPr>
        <p:spPr>
          <a:xfrm>
            <a:off x="299923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9"/>
          <p:cNvSpPr>
            <a:spLocks noGrp="1"/>
          </p:cNvSpPr>
          <p:nvPr>
            <p:ph type="pic" idx="6"/>
          </p:nvPr>
        </p:nvSpPr>
        <p:spPr>
          <a:xfrm>
            <a:off x="1026871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body" idx="1"/>
          </p:nvPr>
        </p:nvSpPr>
        <p:spPr>
          <a:xfrm>
            <a:off x="543153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body" idx="7"/>
          </p:nvPr>
        </p:nvSpPr>
        <p:spPr>
          <a:xfrm>
            <a:off x="784555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body" idx="8"/>
          </p:nvPr>
        </p:nvSpPr>
        <p:spPr>
          <a:xfrm>
            <a:off x="1026871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body" idx="9"/>
          </p:nvPr>
        </p:nvSpPr>
        <p:spPr>
          <a:xfrm>
            <a:off x="594360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body" idx="13"/>
          </p:nvPr>
        </p:nvSpPr>
        <p:spPr>
          <a:xfrm>
            <a:off x="300837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/>
          <p:nvPr/>
        </p:nvSpPr>
        <p:spPr>
          <a:xfrm>
            <a:off x="1512865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640881" y="503825"/>
            <a:ext cx="92589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body" idx="1"/>
          </p:nvPr>
        </p:nvSpPr>
        <p:spPr>
          <a:xfrm>
            <a:off x="466343" y="2270703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body" idx="2"/>
          </p:nvPr>
        </p:nvSpPr>
        <p:spPr>
          <a:xfrm>
            <a:off x="466344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0"/>
          <p:cNvSpPr txBox="1">
            <a:spLocks noGrp="1"/>
          </p:cNvSpPr>
          <p:nvPr>
            <p:ph type="body" idx="3"/>
          </p:nvPr>
        </p:nvSpPr>
        <p:spPr>
          <a:xfrm>
            <a:off x="6220409" y="2256140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body" idx="4"/>
          </p:nvPr>
        </p:nvSpPr>
        <p:spPr>
          <a:xfrm>
            <a:off x="6220409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0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column">
  <p:cSld name="Comparison 3 colum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1"/>
          <p:cNvSpPr/>
          <p:nvPr/>
        </p:nvSpPr>
        <p:spPr>
          <a:xfrm>
            <a:off x="1493520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1557528" y="548640"/>
            <a:ext cx="99564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1"/>
          </p:nvPr>
        </p:nvSpPr>
        <p:spPr>
          <a:xfrm>
            <a:off x="57607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2"/>
          </p:nvPr>
        </p:nvSpPr>
        <p:spPr>
          <a:xfrm>
            <a:off x="576072" y="3203688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body" idx="3"/>
          </p:nvPr>
        </p:nvSpPr>
        <p:spPr>
          <a:xfrm>
            <a:off x="450799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2" name="Google Shape;92;p11"/>
          <p:cNvSpPr txBox="1">
            <a:spLocks noGrp="1"/>
          </p:cNvSpPr>
          <p:nvPr>
            <p:ph type="body" idx="4"/>
          </p:nvPr>
        </p:nvSpPr>
        <p:spPr>
          <a:xfrm>
            <a:off x="450799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11"/>
          <p:cNvSpPr txBox="1">
            <a:spLocks noGrp="1"/>
          </p:cNvSpPr>
          <p:nvPr>
            <p:ph type="body" idx="5"/>
          </p:nvPr>
        </p:nvSpPr>
        <p:spPr>
          <a:xfrm>
            <a:off x="843991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5" name="Google Shape;95;p11"/>
          <p:cNvSpPr txBox="1">
            <a:spLocks noGrp="1"/>
          </p:cNvSpPr>
          <p:nvPr>
            <p:ph type="body" idx="6"/>
          </p:nvPr>
        </p:nvSpPr>
        <p:spPr>
          <a:xfrm>
            <a:off x="843991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3 pictures">
  <p:cSld name="Title and Content with 3 picture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title"/>
          </p:nvPr>
        </p:nvSpPr>
        <p:spPr>
          <a:xfrm>
            <a:off x="841248" y="978408"/>
            <a:ext cx="40599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body" idx="1"/>
          </p:nvPr>
        </p:nvSpPr>
        <p:spPr>
          <a:xfrm>
            <a:off x="841248" y="2359152"/>
            <a:ext cx="40599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2"/>
          <p:cNvSpPr>
            <a:spLocks noGrp="1"/>
          </p:cNvSpPr>
          <p:nvPr>
            <p:ph type="pic" idx="2"/>
          </p:nvPr>
        </p:nvSpPr>
        <p:spPr>
          <a:xfrm>
            <a:off x="8961120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12"/>
          <p:cNvSpPr>
            <a:spLocks noGrp="1"/>
          </p:cNvSpPr>
          <p:nvPr>
            <p:ph type="pic" idx="3"/>
          </p:nvPr>
        </p:nvSpPr>
        <p:spPr>
          <a:xfrm>
            <a:off x="5843016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/>
          <p:nvPr/>
        </p:nvSpPr>
        <p:spPr>
          <a:xfrm>
            <a:off x="345567" y="1170432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877459" y="2121408"/>
            <a:ext cx="39588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2"/>
          <p:cNvSpPr>
            <a:spLocks noGrp="1"/>
          </p:cNvSpPr>
          <p:nvPr>
            <p:ph type="pic" idx="4"/>
          </p:nvPr>
        </p:nvSpPr>
        <p:spPr>
          <a:xfrm>
            <a:off x="5843016" y="3108960"/>
            <a:ext cx="5989200" cy="3054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/>
          <p:nvPr/>
        </p:nvSpPr>
        <p:spPr>
          <a:xfrm>
            <a:off x="609084" y="2971798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101772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868680" y="1362456"/>
            <a:ext cx="3099900" cy="15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4965192" y="1162033"/>
            <a:ext cx="6729900" cy="46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868680" y="3013788"/>
            <a:ext cx="3099900" cy="24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868680" y="1709928"/>
            <a:ext cx="3099900" cy="17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6"/>
          <p:cNvSpPr>
            <a:spLocks noGrp="1"/>
          </p:cNvSpPr>
          <p:nvPr>
            <p:ph type="pic" idx="2"/>
          </p:nvPr>
        </p:nvSpPr>
        <p:spPr>
          <a:xfrm>
            <a:off x="4965192" y="1161288"/>
            <a:ext cx="6729900" cy="46452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16"/>
          <p:cNvSpPr txBox="1">
            <a:spLocks noGrp="1"/>
          </p:cNvSpPr>
          <p:nvPr>
            <p:ph type="body" idx="1"/>
          </p:nvPr>
        </p:nvSpPr>
        <p:spPr>
          <a:xfrm>
            <a:off x="868680" y="3438144"/>
            <a:ext cx="30999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gif"/><Relationship Id="rId1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839755"/>
            <a:ext cx="10515600" cy="8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400"/>
              <a:buFont typeface="Roboto Medium"/>
              <a:buNone/>
              <a:defRPr sz="4400" i="0" u="none" strike="noStrike" cap="none">
                <a:solidFill>
                  <a:srgbClr val="0033CC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Char char="•"/>
              <a:defRPr sz="2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•"/>
              <a:defRPr sz="2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•"/>
              <a:defRPr sz="20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" name="Google Shape;14;p1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455475" y="93557"/>
            <a:ext cx="16573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D03A71-DF26-4778-ACBE-93DEA04DFDA4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9175" y="93557"/>
            <a:ext cx="1275386" cy="7239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-closing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hyperlink" Target="mailto:phuc@lhu.edu.vn" TargetMode="External"/><Relationship Id="rId7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-closing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</a:pPr>
            <a:r>
              <a:rPr lang="en-US"/>
              <a:t>Thank you</a:t>
            </a:r>
            <a:endParaRPr/>
          </a:p>
        </p:txBody>
      </p:sp>
      <p:pic>
        <p:nvPicPr>
          <p:cNvPr id="205" name="Google Shape;205;p26" descr="woman writing on a dry erase board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9" r="59"/>
          <a:stretch/>
        </p:blipFill>
        <p:spPr>
          <a:xfrm>
            <a:off x="895522" y="859155"/>
            <a:ext cx="6016834" cy="4910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6" descr="User"/>
          <p:cNvPicPr preferRelativeResize="0">
            <a:picLocks noGrp="1"/>
          </p:cNvPicPr>
          <p:nvPr>
            <p:ph type="pic" idx="5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6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ThS. Nguyễn Minh Phúc</a:t>
            </a:r>
            <a:endParaRPr/>
          </a:p>
        </p:txBody>
      </p:sp>
      <p:pic>
        <p:nvPicPr>
          <p:cNvPr id="208" name="Google Shape;208;p26" descr="Envelope"/>
          <p:cNvPicPr preferRelativeResize="0">
            <a:picLocks noGrp="1"/>
          </p:cNvPicPr>
          <p:nvPr>
            <p:ph type="pic" idx="6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6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>
                <a:hlinkClick r:id="rId6"/>
              </a:rPr>
              <a:t>phuc@lhu.edu.vn</a:t>
            </a:r>
            <a:endParaRPr/>
          </a:p>
        </p:txBody>
      </p:sp>
      <p:pic>
        <p:nvPicPr>
          <p:cNvPr id="210" name="Google Shape;210;p26" descr="Monitor"/>
          <p:cNvPicPr preferRelativeResize="0">
            <a:picLocks noGrp="1"/>
          </p:cNvPicPr>
          <p:nvPr>
            <p:ph type="pic" idx="7"/>
          </p:nvPr>
        </p:nvPicPr>
        <p:blipFill rotWithShape="1">
          <a:blip r:embed="rId7">
            <a:alphaModFix/>
          </a:blip>
          <a:srcRect/>
          <a:stretch/>
        </p:blipFill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6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lhu.edu.vn</a:t>
            </a:r>
            <a:endParaRPr/>
          </a:p>
        </p:txBody>
      </p:sp>
      <p:sp>
        <p:nvSpPr>
          <p:cNvPr id="212" name="Google Shape;212;p26"/>
          <p:cNvSpPr txBox="1">
            <a:spLocks noGrp="1"/>
          </p:cNvSpPr>
          <p:nvPr>
            <p:ph type="dt" idx="10"/>
          </p:nvPr>
        </p:nvSpPr>
        <p:spPr>
          <a:xfrm>
            <a:off x="90525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Học kỳ 6 • 2026</a:t>
            </a:r>
            <a:endParaRPr/>
          </a:p>
        </p:txBody>
      </p:sp>
      <p:sp>
        <p:nvSpPr>
          <p:cNvPr id="213" name="Google Shape;21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Lập trình ứng dụng web (111102)</a:t>
            </a:r>
            <a:endParaRPr/>
          </a:p>
        </p:txBody>
      </p:sp>
      <p:sp>
        <p:nvSpPr>
          <p:cNvPr id="214" name="Google Shape;214;p2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/>
              <a:t>Bài 09: Màn hình quầy thời gian thực với Socket.IO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Lập trình ứng dụng web (111102)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4892040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6C757D"/>
                </a:solidFill>
              </a:rPr>
              <a:t>Sprint 3 · Checkpoint Sprint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09: Màn hình quầy thời gian thực với Socket.IO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Socket.IO trong Client Component có xác thực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Kết nối lại, token hết hạn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Sơ đồ tuần tự web – mobile – backend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Kiểm thử realtime, báo cáo Sprint 3, kế hoạch Sprint 4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Mục tiêu buổi học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09: Màn hình quầy thời gian thực với Socket.IO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Màn hình quầy tải lại 15 giây một lần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Giờ cao điểm: 15 giây = ba sinh viên đứng chờ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Mục tiêu: dưới 1 giây, có tiếng "ting"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Câu hỏi mở đầu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09: Màn hình quầy thời gian thực với Socket.IO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Socket chỉ để báo tin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Thao tác ghi vẫn qua REST và stored procedure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Lưu trước, gửi sau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Như Chương 9 giáo trình di động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Hai quy tắc giữ nguyên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9-luu-truoc-gui-sa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09: Màn hình quầy thời gian thực với Socket.IO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Socket chỉ tạo trong Client Component, trong useEffect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Token trong cookie httpOnly: JS không đọc được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Xin token qua /api/socket-token, giữ trong bộ nhớ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Bị từ chối (connect_error): không tự kết nối lại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Khác biệt trên web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9-socket-tok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09: Màn hình quầy thời gian thực với Socket.IO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8026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Thêm vào matcher của proxy để token được làm mới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Route Handler cấp token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991359"/>
            <a:ext cx="11338560" cy="1988819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export async function GET() {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const user = await getCurrentUser();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if (!user || !['staff', 'admin'].includes(user.role))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  return Response.json({}, { status: 401 });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return Response.json({ token: await getAccessToken() });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09: Màn hình quầy thời gian thực với Socket.IO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8026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Gọi lại ở mỗi lần kết nối lại → luôn có token mới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Kết nối với auth dạng hàm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991359"/>
            <a:ext cx="11338560" cy="170307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const socket = io(process.env.NEXT_PUBLIC_SOCKET_URL!, {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transports: ['websocket'],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auth: (cb) =&gt; fetch('/api/socket-token')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  .then((r) =&gt; r.json()).then((d) =&gt; cb({ token: d.token })),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09: Màn hình quầy thời gian thực với Socket.IO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connect → router.refresh(): bù đơn đã lỡ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order:new → âm báo + router.refresh()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order:updated → router.refresh(): đồng bộ nhiều nhân viên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connect_error → thử lại sau 3 giây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Lắng nghe sự kiện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9-su-ki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09: Màn hình quầy thời gian thực với Socket.IO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Dữ liệu luôn lấy lại từ API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chèn thẳng dữ liệu sự kiện vào danh sách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Một nguồn sự thật: SQL Server qua API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Thảo luận khi nào có thể dùng dữ liệu trong sự kiện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Socket là chuông báo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09: Màn hình quầy thời gian thực với Socket.IO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Nút "Bật âm báo": trình duyệt chặn tự phát âm thanh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Trạng thái kết nối bằng chữ, aria-live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Strict Mode: kết nối rồi ngắt một lần khi dev là bình thường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Trải nghiệm nhân viên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09: Màn hình quầy thời gian thực với Socket.IO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admin cũng vào room staff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toStaff('order:updated') sau đổi trạng thái, hủy đơn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CORS cho địa chỉ web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Cùng JWT_SECRET cho REST và socket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Backend nhóm cần bổ sung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09: Màn hình quầy thời gian thực với Socket.IO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Sơ đồ tuần tự (CLO1)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9-tuan-tu-real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785" y="1097280"/>
            <a:ext cx="645795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09: Màn hình quầy thời gian thực với Socket.IO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TC-51 khách đặt trên điện thoại → hai cửa sổ quầy hiện đơn ≤ 2 giây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TC-52 nhân viên A đổi trạng thái → cửa sổ B tự cập nhật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TC-53 mất mạng 30 giây → có lại thì hiện đơn đã lỡ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TC-54 token hết hạn → kết nối lại không phải đăng nhập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TC-55, 56 token customer / token sai → không vào room staff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Test realtime (CLO2)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09: Màn hình quầy thời gian thực với Socket.IO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Phân tích module quản trị, ERD quản trị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Danh mục stored procedure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Sơ đồ tuần tự realtime (số hình, chú thích)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Kết quả hồi quy trên backend nhóm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Báo cáo Sprint 3 (CLO3)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09: Màn hình quầy thời gian thực với Socket.IO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Sprint cuối: kiểm thử tự động, triển khai, báo cáo, Demo Day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Velocity ba sprint → phạm vi phát hành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Bỏ story "Could" nếu không đủ năng lực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Dành thời gian sửa lỗi và viết báo cáo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Kế hoạch Sprint 4 (CLO4)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09: Màn hình quầy thời gian thực với Socket.IO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Demo quản trị + quầy realtime, web và mobile cùng backend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Phân tích quản trị, ERD, danh mục thủ tục, sơ đồ tuần tự (CLO1)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Test quản trị, realtime, hồi quy + kết quả (CLO2)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Báo cáo Sprint 3 (CLO3); kế hoạch Sprint 4, báo cáo vai trò cá nhân (CLO4)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Checkpoint Sprint 3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09: Màn hình quầy thời gian thực với Socket.IO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Socket trong Client Component, token xin từ server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Kết nối lại thì làm mới dữ liệu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Kiểm thử realtime cần nhiều phiên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Buổi sau: Sprint 4, kiểm thử tự động, hiệu năng, accessibility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Tổng kết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09: Màn hình quầy thời gian thực với Socket.IO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 marL="0" indent="0">
              <a:spcBef>
                <a:spcPts val="4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Đọc thêm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SRS LHU Food: US-S02, S03, US-SYS01; F08.1, F09.1–F09.2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Giáo trình di động: Chương 9 (Socket.IO trong NestJS)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Socket.IO: use with Next.js, client options (auth); MDN Web Audio API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Tài liệu của buổi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rgbClr val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Widescreen</PresentationFormat>
  <Paragraphs>24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Avenir</vt:lpstr>
      <vt:lpstr>Roboto Black</vt:lpstr>
      <vt:lpstr>Quattrocento Sans</vt:lpstr>
      <vt:lpstr>Roboto</vt:lpstr>
      <vt:lpstr>Calibri</vt:lpstr>
      <vt:lpstr>Roboto Medium</vt:lpstr>
      <vt:lpstr>AccentBoxVTI</vt:lpstr>
      <vt:lpstr>LẬP TRÌNH  HƯỚNG ĐỐI TƯỢNG</vt:lpstr>
      <vt:lpstr>Repository Pattern</vt:lpstr>
      <vt:lpstr>Repository Pattern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 MINH PHUC</cp:lastModifiedBy>
  <cp:revision>1</cp:revision>
  <dcterms:modified xsi:type="dcterms:W3CDTF">2026-10-31T01:21:49Z</dcterms:modified>
</cp:coreProperties>
</file>