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-closing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3" r:id="rId1"/>
  </p:sldMasterIdLst>
  <p:notesMasterIdLst>
    <p:notesMasterId r:id="rId6"/>
  </p:notesMasterIdLst>
  <p:sldIdLst>
    <p:sldId id="266" r:id="rId4"/>
    <p:sldId id="267" r:id="rId3"/>
    <p:sldId id="268" r:id="rId2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65" r:id="rId5"/>
  </p:sldIdLst>
  <p:sldSz cx="12192000" cy="6858000"/>
  <p:notesSz cx="6858000" cy="9144000"/>
  <p:embeddedFontLst>
    <p:embeddedFont>
      <p:font typeface="Quattrocento Sans" panose="020B0502050000020003" pitchFamily="34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  <p:embeddedFont>
      <p:font typeface="Roboto Black" panose="02000000000000000000" pitchFamily="2" charset="0"/>
      <p:bold r:id="rId15"/>
      <p:boldItalic r:id="rId16"/>
    </p:embeddedFont>
    <p:embeddedFont>
      <p:font typeface="Roboto Medium" panose="020000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360">
          <p15:clr>
            <a:srgbClr val="A4A3A4"/>
          </p15:clr>
        </p15:guide>
        <p15:guide id="2" pos="7392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-closing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font" Target="fonts/font9.fntdata"/><Relationship Id="rId16" Type="http://schemas.openxmlformats.org/officeDocument/2006/relationships/font" Target="fonts/font10.fntdata"/><Relationship Id="rId17" Type="http://schemas.openxmlformats.org/officeDocument/2006/relationships/font" Target="fonts/font11.fntdata"/><Relationship Id="rId18" Type="http://schemas.openxmlformats.org/officeDocument/2006/relationships/font" Target="fonts/font12.fntdata"/><Relationship Id="rId19" Type="http://schemas.openxmlformats.org/officeDocument/2006/relationships/font" Target="fonts/font13.fntdata"/><Relationship Id="rId20" Type="http://schemas.openxmlformats.org/officeDocument/2006/relationships/font" Target="fonts/font14.fntdata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Relationship Id="rId34" Type="http://schemas.openxmlformats.org/officeDocument/2006/relationships/slide" Target="slides/slide14.xml"/><Relationship Id="rId35" Type="http://schemas.openxmlformats.org/officeDocument/2006/relationships/slide" Target="slides/slide15.xml"/><Relationship Id="rId36" Type="http://schemas.openxmlformats.org/officeDocument/2006/relationships/slide" Target="slides/slide16.xml"/><Relationship Id="rId37" Type="http://schemas.openxmlformats.org/officeDocument/2006/relationships/slide" Target="slides/slide17.xml"/><Relationship Id="rId38" Type="http://schemas.openxmlformats.org/officeDocument/2006/relationships/slide" Target="slides/slide18.xml"/><Relationship Id="rId39" Type="http://schemas.openxmlformats.org/officeDocument/2006/relationships/slide" Target="slides/slide19.xml"/><Relationship Id="rId40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-closing.xml"/>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 tiết lý thuyết, 3 tiết thực hành. CLO2. Liên hệ học phần Kiểm thử phần mềm.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Chuẩn bị CSDL thử riêng cho E2E để không làm bẩn dữ liệu demo của nhóm.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801368" y="1664208"/>
            <a:ext cx="8586300" cy="21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6600"/>
              <a:buFont typeface="Roboto Black"/>
              <a:buNone/>
              <a:defRPr sz="6600" b="0">
                <a:latin typeface="Roboto Black"/>
                <a:ea typeface="Roboto Black"/>
                <a:cs typeface="Roboto Black"/>
                <a:sym typeface="Robot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2487168" y="4142232"/>
            <a:ext cx="72237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Medium"/>
              <a:buNone/>
              <a:defRPr sz="28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70134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body" idx="1"/>
          </p:nvPr>
        </p:nvSpPr>
        <p:spPr>
          <a:xfrm>
            <a:off x="8613648" y="1938528"/>
            <a:ext cx="2688300" cy="299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609084" y="2965074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 rot="5400000">
            <a:off x="7360671" y="3424440"/>
            <a:ext cx="21030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lvl="2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lvl="3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lvl="4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lvl="5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/>
          <p:nvPr/>
        </p:nvSpPr>
        <p:spPr>
          <a:xfrm>
            <a:off x="1780130" y="95350"/>
            <a:ext cx="417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800"/>
              <a:buFont typeface="Quattrocento Sans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122350" y="1074775"/>
            <a:ext cx="11976000" cy="45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2300"/>
              <a:buFont typeface="Quattrocento Sans"/>
              <a:buNone/>
              <a:defRPr sz="2300">
                <a:solidFill>
                  <a:srgbClr val="FF99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2pPr>
            <a:lvl3pPr lvl="2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3pPr>
            <a:lvl4pPr lvl="3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4pPr>
            <a:lvl5pPr lvl="4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5pPr>
            <a:lvl6pPr lvl="5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6pPr>
            <a:lvl7pPr lvl="6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7pPr>
            <a:lvl8pPr lvl="7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8pPr>
            <a:lvl9pPr lvl="8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9pPr>
          </a:lstStyle>
          <a:p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1921650" y="585375"/>
            <a:ext cx="417300" cy="214200"/>
          </a:xfrm>
          <a:prstGeom prst="homePlate">
            <a:avLst>
              <a:gd name="adj" fmla="val 60423"/>
            </a:avLst>
          </a:prstGeom>
          <a:solidFill>
            <a:srgbClr val="0033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4 pictures">
  <p:cSld name="Title and Content with 4 picture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7324344" y="630936"/>
            <a:ext cx="4517100" cy="549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 w="9525" cap="flat" cmpd="sng">
            <a:solidFill>
              <a:srgbClr val="E8E8E8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D8D8D8">
                <a:alpha val="29804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5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>
            <a:spLocks noGrp="1"/>
          </p:cNvSpPr>
          <p:nvPr>
            <p:ph type="pic" idx="2"/>
          </p:nvPr>
        </p:nvSpPr>
        <p:spPr>
          <a:xfrm>
            <a:off x="895522" y="859155"/>
            <a:ext cx="6016800" cy="4910400"/>
          </a:xfrm>
          <a:prstGeom prst="rect">
            <a:avLst/>
          </a:prstGeom>
          <a:noFill/>
          <a:ln>
            <a:noFill/>
          </a:ln>
        </p:spPr>
      </p:sp>
      <p:sp>
        <p:nvSpPr>
          <p:cNvPr id="35" name="Google Shape;35;p5"/>
          <p:cNvSpPr/>
          <p:nvPr/>
        </p:nvSpPr>
        <p:spPr>
          <a:xfrm>
            <a:off x="7260336" y="1179576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7792216" y="2185416"/>
            <a:ext cx="36831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>
            <a:spLocks noGrp="1"/>
          </p:cNvSpPr>
          <p:nvPr>
            <p:ph type="pic" idx="5"/>
          </p:nvPr>
        </p:nvSpPr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2" name="Google Shape;42;p5"/>
          <p:cNvSpPr>
            <a:spLocks noGrp="1"/>
          </p:cNvSpPr>
          <p:nvPr>
            <p:ph type="pic" idx="6"/>
          </p:nvPr>
        </p:nvSpPr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5"/>
          <p:cNvSpPr>
            <a:spLocks noGrp="1"/>
          </p:cNvSpPr>
          <p:nvPr>
            <p:ph type="pic" idx="7"/>
          </p:nvPr>
        </p:nvSpPr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pictures">
  <p:cSld name="Title and Content with picture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084064" y="889393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5102352" y="2727631"/>
            <a:ext cx="6272700" cy="30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6"/>
          <p:cNvSpPr/>
          <p:nvPr/>
        </p:nvSpPr>
        <p:spPr>
          <a:xfrm rot="5400000">
            <a:off x="5317906" y="363383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5065776" y="2553749"/>
            <a:ext cx="6291000" cy="456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>
            <a:spLocks noGrp="1"/>
          </p:cNvSpPr>
          <p:nvPr>
            <p:ph type="pic" idx="2"/>
          </p:nvPr>
        </p:nvSpPr>
        <p:spPr>
          <a:xfrm>
            <a:off x="457200" y="895738"/>
            <a:ext cx="4050900" cy="4834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2 pictures">
  <p:cSld name="Title and Content with 2 pictures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612648" y="1074888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612648" y="3009498"/>
            <a:ext cx="6272700" cy="27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5605272" y="6356350"/>
            <a:ext cx="12801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7"/>
          <p:cNvSpPr/>
          <p:nvPr/>
        </p:nvSpPr>
        <p:spPr>
          <a:xfrm rot="5400000">
            <a:off x="850338" y="629660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7"/>
          <p:cNvSpPr>
            <a:spLocks noGrp="1"/>
          </p:cNvSpPr>
          <p:nvPr>
            <p:ph type="pic" idx="2"/>
          </p:nvPr>
        </p:nvSpPr>
        <p:spPr>
          <a:xfrm>
            <a:off x="7684008" y="3204504"/>
            <a:ext cx="4508100" cy="25056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7"/>
          <p:cNvSpPr>
            <a:spLocks noGrp="1"/>
          </p:cNvSpPr>
          <p:nvPr>
            <p:ph type="pic" idx="3"/>
          </p:nvPr>
        </p:nvSpPr>
        <p:spPr>
          <a:xfrm>
            <a:off x="7680960" y="1074888"/>
            <a:ext cx="4508100" cy="18549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7"/>
          <p:cNvSpPr/>
          <p:nvPr/>
        </p:nvSpPr>
        <p:spPr>
          <a:xfrm>
            <a:off x="612648" y="2801145"/>
            <a:ext cx="6217800" cy="183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title"/>
          </p:nvPr>
        </p:nvSpPr>
        <p:spPr>
          <a:xfrm>
            <a:off x="557784" y="640080"/>
            <a:ext cx="108906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800"/>
              <a:buFont typeface="Quattrocento Sa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498834" y="5118581"/>
            <a:ext cx="1464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1"/>
          </p:nvPr>
        </p:nvSpPr>
        <p:spPr>
          <a:xfrm>
            <a:off x="841248" y="5102352"/>
            <a:ext cx="9207900" cy="585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>
            <a:spLocks noGrp="1"/>
          </p:cNvSpPr>
          <p:nvPr>
            <p:ph type="pic" idx="2"/>
          </p:nvPr>
        </p:nvSpPr>
        <p:spPr>
          <a:xfrm>
            <a:off x="542239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9"/>
          <p:cNvSpPr>
            <a:spLocks noGrp="1"/>
          </p:cNvSpPr>
          <p:nvPr>
            <p:ph type="pic" idx="3"/>
          </p:nvPr>
        </p:nvSpPr>
        <p:spPr>
          <a:xfrm>
            <a:off x="57607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9"/>
          <p:cNvSpPr>
            <a:spLocks noGrp="1"/>
          </p:cNvSpPr>
          <p:nvPr>
            <p:ph type="pic" idx="4"/>
          </p:nvPr>
        </p:nvSpPr>
        <p:spPr>
          <a:xfrm>
            <a:off x="784555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9"/>
          <p:cNvSpPr/>
          <p:nvPr/>
        </p:nvSpPr>
        <p:spPr>
          <a:xfrm>
            <a:off x="1540857" y="876618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9"/>
          <p:cNvSpPr txBox="1">
            <a:spLocks noGrp="1"/>
          </p:cNvSpPr>
          <p:nvPr>
            <p:ph type="title"/>
          </p:nvPr>
        </p:nvSpPr>
        <p:spPr>
          <a:xfrm>
            <a:off x="1732881" y="721106"/>
            <a:ext cx="91002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>
            <a:spLocks noGrp="1"/>
          </p:cNvSpPr>
          <p:nvPr>
            <p:ph type="pic" idx="5"/>
          </p:nvPr>
        </p:nvSpPr>
        <p:spPr>
          <a:xfrm>
            <a:off x="299923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9"/>
          <p:cNvSpPr>
            <a:spLocks noGrp="1"/>
          </p:cNvSpPr>
          <p:nvPr>
            <p:ph type="pic" idx="6"/>
          </p:nvPr>
        </p:nvSpPr>
        <p:spPr>
          <a:xfrm>
            <a:off x="1026871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body" idx="1"/>
          </p:nvPr>
        </p:nvSpPr>
        <p:spPr>
          <a:xfrm>
            <a:off x="543153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body" idx="7"/>
          </p:nvPr>
        </p:nvSpPr>
        <p:spPr>
          <a:xfrm>
            <a:off x="784555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body" idx="8"/>
          </p:nvPr>
        </p:nvSpPr>
        <p:spPr>
          <a:xfrm>
            <a:off x="1026871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9"/>
          <p:cNvSpPr txBox="1">
            <a:spLocks noGrp="1"/>
          </p:cNvSpPr>
          <p:nvPr>
            <p:ph type="body" idx="9"/>
          </p:nvPr>
        </p:nvSpPr>
        <p:spPr>
          <a:xfrm>
            <a:off x="594360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body" idx="13"/>
          </p:nvPr>
        </p:nvSpPr>
        <p:spPr>
          <a:xfrm>
            <a:off x="300837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/>
          <p:nvPr/>
        </p:nvSpPr>
        <p:spPr>
          <a:xfrm>
            <a:off x="1512865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1640881" y="503825"/>
            <a:ext cx="92589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body" idx="1"/>
          </p:nvPr>
        </p:nvSpPr>
        <p:spPr>
          <a:xfrm>
            <a:off x="466343" y="2270703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body" idx="2"/>
          </p:nvPr>
        </p:nvSpPr>
        <p:spPr>
          <a:xfrm>
            <a:off x="466344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0"/>
          <p:cNvSpPr txBox="1">
            <a:spLocks noGrp="1"/>
          </p:cNvSpPr>
          <p:nvPr>
            <p:ph type="body" idx="3"/>
          </p:nvPr>
        </p:nvSpPr>
        <p:spPr>
          <a:xfrm>
            <a:off x="6220409" y="2256140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body" idx="4"/>
          </p:nvPr>
        </p:nvSpPr>
        <p:spPr>
          <a:xfrm>
            <a:off x="6220409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10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3 column">
  <p:cSld name="Comparison 3 colum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1"/>
          <p:cNvSpPr/>
          <p:nvPr/>
        </p:nvSpPr>
        <p:spPr>
          <a:xfrm>
            <a:off x="1493520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1"/>
          <p:cNvSpPr txBox="1">
            <a:spLocks noGrp="1"/>
          </p:cNvSpPr>
          <p:nvPr>
            <p:ph type="title"/>
          </p:nvPr>
        </p:nvSpPr>
        <p:spPr>
          <a:xfrm>
            <a:off x="1557528" y="548640"/>
            <a:ext cx="99564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1"/>
          <p:cNvSpPr txBox="1">
            <a:spLocks noGrp="1"/>
          </p:cNvSpPr>
          <p:nvPr>
            <p:ph type="body" idx="1"/>
          </p:nvPr>
        </p:nvSpPr>
        <p:spPr>
          <a:xfrm>
            <a:off x="57607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body" idx="2"/>
          </p:nvPr>
        </p:nvSpPr>
        <p:spPr>
          <a:xfrm>
            <a:off x="576072" y="3203688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1"/>
          <p:cNvSpPr txBox="1">
            <a:spLocks noGrp="1"/>
          </p:cNvSpPr>
          <p:nvPr>
            <p:ph type="body" idx="3"/>
          </p:nvPr>
        </p:nvSpPr>
        <p:spPr>
          <a:xfrm>
            <a:off x="450799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2" name="Google Shape;92;p11"/>
          <p:cNvSpPr txBox="1">
            <a:spLocks noGrp="1"/>
          </p:cNvSpPr>
          <p:nvPr>
            <p:ph type="body" idx="4"/>
          </p:nvPr>
        </p:nvSpPr>
        <p:spPr>
          <a:xfrm>
            <a:off x="450799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11"/>
          <p:cNvSpPr txBox="1">
            <a:spLocks noGrp="1"/>
          </p:cNvSpPr>
          <p:nvPr>
            <p:ph type="body" idx="5"/>
          </p:nvPr>
        </p:nvSpPr>
        <p:spPr>
          <a:xfrm>
            <a:off x="843991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5" name="Google Shape;95;p11"/>
          <p:cNvSpPr txBox="1">
            <a:spLocks noGrp="1"/>
          </p:cNvSpPr>
          <p:nvPr>
            <p:ph type="body" idx="6"/>
          </p:nvPr>
        </p:nvSpPr>
        <p:spPr>
          <a:xfrm>
            <a:off x="843991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3 pictures">
  <p:cSld name="Title and Content with 3 picture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title"/>
          </p:nvPr>
        </p:nvSpPr>
        <p:spPr>
          <a:xfrm>
            <a:off x="841248" y="978408"/>
            <a:ext cx="40599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body" idx="1"/>
          </p:nvPr>
        </p:nvSpPr>
        <p:spPr>
          <a:xfrm>
            <a:off x="841248" y="2359152"/>
            <a:ext cx="40599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2"/>
          <p:cNvSpPr>
            <a:spLocks noGrp="1"/>
          </p:cNvSpPr>
          <p:nvPr>
            <p:ph type="pic" idx="2"/>
          </p:nvPr>
        </p:nvSpPr>
        <p:spPr>
          <a:xfrm>
            <a:off x="8961120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12"/>
          <p:cNvSpPr>
            <a:spLocks noGrp="1"/>
          </p:cNvSpPr>
          <p:nvPr>
            <p:ph type="pic" idx="3"/>
          </p:nvPr>
        </p:nvSpPr>
        <p:spPr>
          <a:xfrm>
            <a:off x="5843016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12"/>
          <p:cNvSpPr/>
          <p:nvPr/>
        </p:nvSpPr>
        <p:spPr>
          <a:xfrm>
            <a:off x="345567" y="1170432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877459" y="2121408"/>
            <a:ext cx="39588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2"/>
          <p:cNvSpPr>
            <a:spLocks noGrp="1"/>
          </p:cNvSpPr>
          <p:nvPr>
            <p:ph type="pic" idx="4"/>
          </p:nvPr>
        </p:nvSpPr>
        <p:spPr>
          <a:xfrm>
            <a:off x="5843016" y="3108960"/>
            <a:ext cx="5989200" cy="30540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12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/>
          <p:nvPr/>
        </p:nvSpPr>
        <p:spPr>
          <a:xfrm>
            <a:off x="609084" y="2971798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101772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title"/>
          </p:nvPr>
        </p:nvSpPr>
        <p:spPr>
          <a:xfrm>
            <a:off x="868680" y="1362456"/>
            <a:ext cx="3099900" cy="15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4965192" y="1162033"/>
            <a:ext cx="6729900" cy="46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2"/>
          </p:nvPr>
        </p:nvSpPr>
        <p:spPr>
          <a:xfrm>
            <a:off x="868680" y="3013788"/>
            <a:ext cx="3099900" cy="24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6" name="Google Shape;116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/>
          </p:nvPr>
        </p:nvSpPr>
        <p:spPr>
          <a:xfrm>
            <a:off x="868680" y="1709928"/>
            <a:ext cx="3099900" cy="17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6"/>
          <p:cNvSpPr>
            <a:spLocks noGrp="1"/>
          </p:cNvSpPr>
          <p:nvPr>
            <p:ph type="pic" idx="2"/>
          </p:nvPr>
        </p:nvSpPr>
        <p:spPr>
          <a:xfrm>
            <a:off x="4965192" y="1161288"/>
            <a:ext cx="6729900" cy="464520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16"/>
          <p:cNvSpPr txBox="1">
            <a:spLocks noGrp="1"/>
          </p:cNvSpPr>
          <p:nvPr>
            <p:ph type="body" idx="1"/>
          </p:nvPr>
        </p:nvSpPr>
        <p:spPr>
          <a:xfrm>
            <a:off x="868680" y="3438144"/>
            <a:ext cx="30999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gif"/><Relationship Id="rId1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7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839755"/>
            <a:ext cx="10515600" cy="8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400"/>
              <a:buFont typeface="Roboto Medium"/>
              <a:buNone/>
              <a:defRPr sz="4400" i="0" u="none" strike="noStrike" cap="none">
                <a:solidFill>
                  <a:srgbClr val="0033CC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Char char="•"/>
              <a:defRPr sz="2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•"/>
              <a:defRPr sz="2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•"/>
              <a:defRPr sz="20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" name="Google Shape;14;p1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10455475" y="93557"/>
            <a:ext cx="165735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D03A71-DF26-4778-ACBE-93DEA04DFDA4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9175" y="93557"/>
            <a:ext cx="1275386" cy="72390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-closing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hyperlink" Target="mailto:phuc@lhu.edu.vn" TargetMode="External"/><Relationship Id="rId7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-closing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</a:pPr>
            <a:r>
              <a:rPr lang="en-US"/>
              <a:t>Thank you</a:t>
            </a:r>
            <a:endParaRPr/>
          </a:p>
        </p:txBody>
      </p:sp>
      <p:pic>
        <p:nvPicPr>
          <p:cNvPr id="205" name="Google Shape;205;p26" descr="woman writing on a dry erase board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9" r="59"/>
          <a:stretch/>
        </p:blipFill>
        <p:spPr>
          <a:xfrm>
            <a:off x="895522" y="859155"/>
            <a:ext cx="6016834" cy="49103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6" descr="User"/>
          <p:cNvPicPr preferRelativeResize="0">
            <a:picLocks noGrp="1"/>
          </p:cNvPicPr>
          <p:nvPr>
            <p:ph type="pic" idx="5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6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ThS. Nguyễn Minh Phúc</a:t>
            </a:r>
            <a:endParaRPr/>
          </a:p>
        </p:txBody>
      </p:sp>
      <p:pic>
        <p:nvPicPr>
          <p:cNvPr id="208" name="Google Shape;208;p26" descr="Envelope"/>
          <p:cNvPicPr preferRelativeResize="0">
            <a:picLocks noGrp="1"/>
          </p:cNvPicPr>
          <p:nvPr>
            <p:ph type="pic" idx="6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6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>
                <a:hlinkClick r:id="rId6"/>
              </a:rPr>
              <a:t>phuc@lhu.edu.vn</a:t>
            </a:r>
            <a:endParaRPr/>
          </a:p>
        </p:txBody>
      </p:sp>
      <p:pic>
        <p:nvPicPr>
          <p:cNvPr id="210" name="Google Shape;210;p26" descr="Monitor"/>
          <p:cNvPicPr preferRelativeResize="0">
            <a:picLocks noGrp="1"/>
          </p:cNvPicPr>
          <p:nvPr>
            <p:ph type="pic" idx="7"/>
          </p:nvPr>
        </p:nvPicPr>
        <p:blipFill rotWithShape="1">
          <a:blip r:embed="rId7">
            <a:alphaModFix/>
          </a:blip>
          <a:srcRect/>
          <a:stretch/>
        </p:blipFill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6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lhu.edu.vn</a:t>
            </a:r>
            <a:endParaRPr/>
          </a:p>
        </p:txBody>
      </p:sp>
      <p:sp>
        <p:nvSpPr>
          <p:cNvPr id="212" name="Google Shape;212;p26"/>
          <p:cNvSpPr txBox="1">
            <a:spLocks noGrp="1"/>
          </p:cNvSpPr>
          <p:nvPr>
            <p:ph type="dt" idx="10"/>
          </p:nvPr>
        </p:nvSpPr>
        <p:spPr>
          <a:xfrm>
            <a:off x="90525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Học kỳ 6 • 2026</a:t>
            </a:r>
            <a:endParaRPr/>
          </a:p>
        </p:txBody>
      </p:sp>
      <p:sp>
        <p:nvSpPr>
          <p:cNvPr id="213" name="Google Shape;21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Lập trình ứng dụng web (111102)</a:t>
            </a:r>
            <a:endParaRPr/>
          </a:p>
        </p:txBody>
      </p:sp>
      <p:sp>
        <p:nvSpPr>
          <p:cNvPr id="214" name="Google Shape;214;p2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/>
              <a:t>Bài 10: Kiểm thử ứng dụng web, hiệu năng &amp; accessibility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Lập trình ứng dụng web (111102)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4892040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6C757D"/>
                </a:solidFill>
              </a:rPr>
              <a:t>Sprint 4 · Chất lượng &amp; Phát hành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 ứng dụng web, hiệu năng &amp; accessibility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Kế hoạch kiểm thử và ma trận truy vết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Kiểm thử đơn vị, component, đầu-cuối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Kiểm chứng test do AI sinh bằng đột biến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Đo và cải thiện hiệu năng, SEO, accessibility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Mục tiêu buổi học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 ứng dụng web, hiệu năng &amp; accessibility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Gần 50 test case chạy tay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Sửa một dòng → không ai chạy lại hết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AI viết test trong một phút: test đó kiểm tra được gì?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Câu hỏi mở đầu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 ứng dụng web, hiệu năng &amp; accessibility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200"/>
              <a:t>Đơn vị (Vitest): hàm, schema, store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Component (Testing Library): Client Component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Server Action: API giả, xử lý 400/409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Đầu-cuối (Playwright): luồng nghiệp vụ, Server Component async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Thủ công: âm báo, điện thoại, mất mạng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Chọn mức kiểm thử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10-muc-kiem-th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 ứng dụng web, hiệu năng &amp; accessibility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Story → tiêu chí nghiệm thu → test → mức → kết quả → lỗi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Mỗi tiêu chí có ít nhất một test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Phần trung tâm của báo cáo kiểm thử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Nhóm lập ma trận cho 5 story quan trọng nhất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Ma trận truy vết (CLO2)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10-truy-v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 ứng dụng web, hiệu năng &amp; accessibility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133096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vitest.config.mts: tsconfigPaths, react, environment jsdom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"test": "vitest run"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Cài Vitest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2519680"/>
            <a:ext cx="11338560" cy="84582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npm install -D vitest @vitejs/plugin-react jsdom vite-tsconfig-paths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@testing-library/react @testing-library/dom @testing-library/user-event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 ứng dụng web, hiệu năng &amp; accessibility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8026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Tên test theo tiêu chí nghiệm thu, bằng tiếng Việt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Test đơn vị giỏ hàng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991359"/>
            <a:ext cx="11338560" cy="170307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it('thêm cùng một món hai lần thì một dòng, số lượng 2', () =&gt; {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useCart.getState().add(com);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useCart.getState().add(com);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expect(useCart.getState().items[0].quantity).toBe(2);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 ứng dụng web, hiệu năng &amp; accessibility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render(&lt;AddToCartButton product={...stock: 0} /&gt;)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getByRole('button', { name: 'Hết món' })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Nút bị vô hiệu, bấm không thêm vào giỏ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Không tìm được nút = lỗi accessibility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Test component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 ứng dụng web, hiệu năng &amp; accessibility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vi.mock('server-only'), vi.mock('@/lib/session')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vi.stubGlobal('fetch', ...) trả 409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Mong đợi: "Có món đã hết hoặc không đủ số lượng"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Giỏ rỗng: bị từ chối, không gọi API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Test Server Action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 ứng dụng web, hiệu năng &amp; accessibility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npm init playwright@latest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webServer: build + start, baseURL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Hai browser context: khách và nhân viên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Báo cáo HTML: minh chứng cho báo cáo kiểm thử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Playwright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 ứng dụng web, hiệu năng &amp; accessibility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Khách: menu → thêm vào giỏ → checkout (ghi chú riêng) → đặt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Nhân viên: thấy đơn có ghi chú đó, không tải lại trang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Bấm "Bắt đầu làm" → "Đang chuẩn bị"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Tài khoản thử trong .env.test, CSDL thử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Kịch bản đặt món đầu-cuối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 ứng dụng web, hiệu năng &amp; accessibility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AI hay viết test "luôn đạt"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Đột biến: cố ý làm hỏng mã, chạy lại test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Bị bắt: test có giá trị; lọt: viết thêm test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Ghi bảng đột biến vào báo cáo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Test do AI sinh có giá trị không?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10-dot-bi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 ứng dụng web, hiệu năng &amp; accessibility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LCP ≤ 2,5 s: next/image, Server Component, cache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INP ≤ 200 ms: ít JavaScript ở client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CLS ≤ 0,1: ảnh có kích thước, khung chờ đúng cỡ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Đo trên bản production, lấy trung vị 3 lần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Core Web Vitals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10-web-vit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469920"/>
            <a:ext cx="5577840" cy="314091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 ứng dụng web, hiệu năng &amp; accessibility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generateMetadata: tiêu đề theo tên món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app/sitemap.ts: chỉ trang công khai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Không đưa /admin vào sitemap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SEO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 ứng dụng web, hiệu năng &amp; accessibility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Ô nhập có label; lỗi gắn aria-describedby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Dùng được hoàn toàn bằng bàn phím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Tương phản ≥ 4,5:1; trạng thái không chỉ bằng màu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@axe-core/playwright + thử tay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Accessibility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 ứng dụng web, hiệu năng &amp; accessibility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Kế hoạch: phạm vi, mức, công cụ, môi trường, dữ liệu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Ma trận truy vết; kết quả; bảng đột biến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Lỗi và khắc phục (thẻ board, PR)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Lighthouse trước/sau → Chương 5 báo cáo đồ án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Báo cáo kiểm thử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 ứng dụng web, hiệu năng &amp; accessibility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600"/>
              <a:t>Có hướng dẫn</a:t>
            </a:r>
            <a:r>
              <a:rPr sz="2600"/>
              <a:t>: Vitest (giỏ, schema, nút, action), Playwright, 3 đột biến, Lighthouse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Không hướng dẫn</a:t>
            </a:r>
            <a:r>
              <a:rPr sz="2600"/>
              <a:t>: 5 test có giá trị + 3 đột biến cho module tự chọn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Nhóm</a:t>
            </a:r>
            <a:r>
              <a:rPr sz="2600"/>
              <a:t>: bộ test luồng chính, báo cáo kiểm thử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Thực hành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 ứng dụng web, hiệu năng &amp; accessibility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Đúng mức kiểm thử cho đúng việc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Mỗi test truy vết tới một tiêu chí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Đột biến để biết test có giá trị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Buổi sau: triển khai server Khoa, hoàn thiện báo cáo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Tổng kết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10: Kiểm thử ứng dụng web, hiệu năng &amp; accessibility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 marL="0" indent="0">
              <a:spcBef>
                <a:spcPts val="4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Đọc thêm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SRS LHU Food: tiêu chí nghiệm thu; mục 9 (phi chức năng)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Next.js: Setting up Vitest; Playwright: Getting started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Testing Library: Queries; web.dev: Web Vitals; W3C WCAG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Tài liệu của buổi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rgbClr val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</Words>
  <Application>Microsoft Office PowerPoint</Application>
  <PresentationFormat>Widescreen</PresentationFormat>
  <Paragraphs>24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Avenir</vt:lpstr>
      <vt:lpstr>Roboto Black</vt:lpstr>
      <vt:lpstr>Quattrocento Sans</vt:lpstr>
      <vt:lpstr>Roboto</vt:lpstr>
      <vt:lpstr>Calibri</vt:lpstr>
      <vt:lpstr>Roboto Medium</vt:lpstr>
      <vt:lpstr>AccentBoxVTI</vt:lpstr>
      <vt:lpstr>LẬP TRÌNH  HƯỚNG ĐỐI TƯỢNG</vt:lpstr>
      <vt:lpstr>Repository Pattern</vt:lpstr>
      <vt:lpstr>Repository Pattern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NGUYEN MINH PHUC</cp:lastModifiedBy>
  <cp:revision>1</cp:revision>
  <dcterms:modified xsi:type="dcterms:W3CDTF">2026-10-31T01:21:49Z</dcterms:modified>
</cp:coreProperties>
</file>