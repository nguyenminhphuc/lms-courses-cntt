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-closing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3" r:id="rId1"/>
  </p:sldMasterIdLst>
  <p:notesMasterIdLst>
    <p:notesMasterId r:id="rId6"/>
  </p:notesMasterIdLst>
  <p:sldIdLst>
    <p:sldId id="266" r:id="rId4"/>
    <p:sldId id="267" r:id="rId3"/>
    <p:sldId id="268" r:id="rId2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65" r:id="rId5"/>
  </p:sldIdLst>
  <p:sldSz cx="12192000" cy="6858000"/>
  <p:notesSz cx="6858000" cy="9144000"/>
  <p:embeddedFontLst>
    <p:embeddedFont>
      <p:font typeface="Quattrocento Sans" panose="020B0502050000020003" pitchFamily="3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Black" panose="02000000000000000000" pitchFamily="2" charset="0"/>
      <p:bold r:id="rId15"/>
      <p:boldItalic r:id="rId16"/>
    </p:embeddedFont>
    <p:embeddedFont>
      <p:font typeface="Roboto Medium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60">
          <p15:clr>
            <a:srgbClr val="A4A3A4"/>
          </p15:clr>
        </p15:guide>
        <p15:guide id="2" pos="739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-closing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font" Target="fonts/font11.fntdata"/><Relationship Id="rId18" Type="http://schemas.openxmlformats.org/officeDocument/2006/relationships/font" Target="fonts/font12.fntdata"/><Relationship Id="rId19" Type="http://schemas.openxmlformats.org/officeDocument/2006/relationships/font" Target="fonts/font13.fntdata"/><Relationship Id="rId20" Type="http://schemas.openxmlformats.org/officeDocument/2006/relationships/font" Target="fonts/font14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-closing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 tiết lý thuyết, 4 tiết thực hành. CLO1–CLO4. Cuối buổi là Checkpoint Sprint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Chấm checkpoint theo đủ 4 sản phẩm; nhắc nhóm chuẩn bị backend riêng cho Sprint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801368" y="1664208"/>
            <a:ext cx="8586300" cy="21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6600"/>
              <a:buFont typeface="Roboto Black"/>
              <a:buNone/>
              <a:defRPr sz="6600" b="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87168" y="4142232"/>
            <a:ext cx="7223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70134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8613648" y="1938528"/>
            <a:ext cx="2688300" cy="2990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09084" y="2965074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 rot="5400000">
            <a:off x="7360671" y="3424440"/>
            <a:ext cx="21030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buNone/>
              <a:defRPr sz="1300"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1780130" y="95350"/>
            <a:ext cx="417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1780125" y="95350"/>
            <a:ext cx="100032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800"/>
              <a:buFont typeface="Quattrocento Sans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22350" y="1074775"/>
            <a:ext cx="11976000" cy="45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2305500" y="498850"/>
            <a:ext cx="81939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300"/>
              <a:buFont typeface="Quattrocento Sans"/>
              <a:buNone/>
              <a:defRPr sz="2300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2pPr>
            <a:lvl3pPr lvl="2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3pPr>
            <a:lvl4pPr lvl="3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4pPr>
            <a:lvl5pPr lvl="4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5pPr>
            <a:lvl6pPr lvl="5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6pPr>
            <a:lvl7pPr lvl="6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7pPr>
            <a:lvl8pPr lvl="7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8pPr>
            <a:lvl9pPr lvl="8" rtl="0">
              <a:spcBef>
                <a:spcPts val="0"/>
              </a:spcBef>
              <a:spcAft>
                <a:spcPts val="0"/>
              </a:spcAft>
              <a:buSzPts val="100"/>
              <a:buNone/>
              <a:defRPr sz="300"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921650" y="585375"/>
            <a:ext cx="417300" cy="214200"/>
          </a:xfrm>
          <a:prstGeom prst="homePlate">
            <a:avLst>
              <a:gd name="adj" fmla="val 60423"/>
            </a:avLst>
          </a:prstGeom>
          <a:solidFill>
            <a:srgbClr val="0033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4 pictures">
  <p:cSld name="Title and Content with 4 picture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7324344" y="630936"/>
            <a:ext cx="4517100" cy="549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 w="9525" cap="flat" cmpd="sng">
            <a:solidFill>
              <a:srgbClr val="E8E8E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5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895522" y="859155"/>
            <a:ext cx="60168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7260336" y="1179576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792216" y="2185416"/>
            <a:ext cx="36831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2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5"/>
          </p:nvPr>
        </p:nvSpPr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5"/>
          <p:cNvSpPr>
            <a:spLocks noGrp="1"/>
          </p:cNvSpPr>
          <p:nvPr>
            <p:ph type="pic" idx="6"/>
          </p:nvPr>
        </p:nvSpPr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>
            <a:spLocks noGrp="1"/>
          </p:cNvSpPr>
          <p:nvPr>
            <p:ph type="pic" idx="7"/>
          </p:nvPr>
        </p:nvSpPr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pictures">
  <p:cSld name="Title and Content with pictur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084064" y="889393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5102352" y="2727631"/>
            <a:ext cx="6272700" cy="30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/>
          <p:nvPr/>
        </p:nvSpPr>
        <p:spPr>
          <a:xfrm rot="5400000">
            <a:off x="5317906" y="363383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65776" y="2553749"/>
            <a:ext cx="6291000" cy="45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>
            <a:spLocks noGrp="1"/>
          </p:cNvSpPr>
          <p:nvPr>
            <p:ph type="pic" idx="2"/>
          </p:nvPr>
        </p:nvSpPr>
        <p:spPr>
          <a:xfrm>
            <a:off x="457200" y="895738"/>
            <a:ext cx="4050900" cy="483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2 pictures">
  <p:cSld name="Title and Content with 2 picture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12648" y="1074888"/>
            <a:ext cx="6272700" cy="15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200"/>
              <a:buFont typeface="Quattrocento Sans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12648" y="3009498"/>
            <a:ext cx="62727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5605272" y="6356350"/>
            <a:ext cx="128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850338" y="629660"/>
            <a:ext cx="732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7684008" y="3204504"/>
            <a:ext cx="45081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7"/>
          <p:cNvSpPr>
            <a:spLocks noGrp="1"/>
          </p:cNvSpPr>
          <p:nvPr>
            <p:ph type="pic" idx="3"/>
          </p:nvPr>
        </p:nvSpPr>
        <p:spPr>
          <a:xfrm>
            <a:off x="7680960" y="1074888"/>
            <a:ext cx="4508100" cy="18549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612648" y="2801145"/>
            <a:ext cx="6217800" cy="183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800"/>
              <a:buFont typeface="Quattrocento Sa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498834" y="5118581"/>
            <a:ext cx="146400" cy="54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9207900" cy="585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>
            <a:spLocks noGrp="1"/>
          </p:cNvSpPr>
          <p:nvPr>
            <p:ph type="pic" idx="2"/>
          </p:nvPr>
        </p:nvSpPr>
        <p:spPr>
          <a:xfrm>
            <a:off x="542239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9"/>
          <p:cNvSpPr>
            <a:spLocks noGrp="1"/>
          </p:cNvSpPr>
          <p:nvPr>
            <p:ph type="pic" idx="3"/>
          </p:nvPr>
        </p:nvSpPr>
        <p:spPr>
          <a:xfrm>
            <a:off x="57607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9"/>
          <p:cNvSpPr>
            <a:spLocks noGrp="1"/>
          </p:cNvSpPr>
          <p:nvPr>
            <p:ph type="pic" idx="4"/>
          </p:nvPr>
        </p:nvSpPr>
        <p:spPr>
          <a:xfrm>
            <a:off x="784555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/>
          <p:nvPr/>
        </p:nvSpPr>
        <p:spPr>
          <a:xfrm>
            <a:off x="1540857" y="876618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1732881" y="721106"/>
            <a:ext cx="9100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>
            <a:spLocks noGrp="1"/>
          </p:cNvSpPr>
          <p:nvPr>
            <p:ph type="pic" idx="5"/>
          </p:nvPr>
        </p:nvSpPr>
        <p:spPr>
          <a:xfrm>
            <a:off x="299923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9"/>
          <p:cNvSpPr>
            <a:spLocks noGrp="1"/>
          </p:cNvSpPr>
          <p:nvPr>
            <p:ph type="pic" idx="6"/>
          </p:nvPr>
        </p:nvSpPr>
        <p:spPr>
          <a:xfrm>
            <a:off x="10268712" y="2798064"/>
            <a:ext cx="1463100" cy="14814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543153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7"/>
          </p:nvPr>
        </p:nvSpPr>
        <p:spPr>
          <a:xfrm>
            <a:off x="784555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8"/>
          </p:nvPr>
        </p:nvSpPr>
        <p:spPr>
          <a:xfrm>
            <a:off x="10268712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9"/>
          </p:nvPr>
        </p:nvSpPr>
        <p:spPr>
          <a:xfrm>
            <a:off x="594360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body" idx="13"/>
          </p:nvPr>
        </p:nvSpPr>
        <p:spPr>
          <a:xfrm>
            <a:off x="3008376" y="4489704"/>
            <a:ext cx="14622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1512865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640881" y="503825"/>
            <a:ext cx="92589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466343" y="2270703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2"/>
          </p:nvPr>
        </p:nvSpPr>
        <p:spPr>
          <a:xfrm>
            <a:off x="466344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3"/>
          </p:nvPr>
        </p:nvSpPr>
        <p:spPr>
          <a:xfrm>
            <a:off x="6220409" y="2256140"/>
            <a:ext cx="55053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body" idx="4"/>
          </p:nvPr>
        </p:nvSpPr>
        <p:spPr>
          <a:xfrm>
            <a:off x="6220409" y="3103104"/>
            <a:ext cx="55053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3 column">
  <p:cSld name="Comparison 3 colum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/>
          <p:nvPr/>
        </p:nvSpPr>
        <p:spPr>
          <a:xfrm>
            <a:off x="1493520" y="786384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1557528" y="548640"/>
            <a:ext cx="99564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000"/>
              <a:buFont typeface="Quattrocento San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57607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2"/>
          </p:nvPr>
        </p:nvSpPr>
        <p:spPr>
          <a:xfrm>
            <a:off x="576072" y="3203688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body" idx="3"/>
          </p:nvPr>
        </p:nvSpPr>
        <p:spPr>
          <a:xfrm>
            <a:off x="450799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4"/>
          </p:nvPr>
        </p:nvSpPr>
        <p:spPr>
          <a:xfrm>
            <a:off x="450799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body" idx="5"/>
          </p:nvPr>
        </p:nvSpPr>
        <p:spPr>
          <a:xfrm>
            <a:off x="8439912" y="2372650"/>
            <a:ext cx="3291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6"/>
          </p:nvPr>
        </p:nvSpPr>
        <p:spPr>
          <a:xfrm>
            <a:off x="8439912" y="3203687"/>
            <a:ext cx="3291900" cy="2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ith 3 pictures">
  <p:cSld name="Title and Content with 3 picture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841248" y="978408"/>
            <a:ext cx="40599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841248" y="2359152"/>
            <a:ext cx="40599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>
            <a:spLocks noGrp="1"/>
          </p:cNvSpPr>
          <p:nvPr>
            <p:ph type="pic" idx="2"/>
          </p:nvPr>
        </p:nvSpPr>
        <p:spPr>
          <a:xfrm>
            <a:off x="8961120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2"/>
          <p:cNvSpPr>
            <a:spLocks noGrp="1"/>
          </p:cNvSpPr>
          <p:nvPr>
            <p:ph type="pic" idx="3"/>
          </p:nvPr>
        </p:nvSpPr>
        <p:spPr>
          <a:xfrm>
            <a:off x="5843016" y="566928"/>
            <a:ext cx="2871300" cy="2340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/>
          <p:nvPr/>
        </p:nvSpPr>
        <p:spPr>
          <a:xfrm>
            <a:off x="345567" y="1170432"/>
            <a:ext cx="128100" cy="70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877459" y="2121408"/>
            <a:ext cx="3958800" cy="9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>
            <a:spLocks noGrp="1"/>
          </p:cNvSpPr>
          <p:nvPr>
            <p:ph type="pic" idx="4"/>
          </p:nvPr>
        </p:nvSpPr>
        <p:spPr>
          <a:xfrm>
            <a:off x="5843016" y="3108960"/>
            <a:ext cx="5989200" cy="3054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/>
          <p:nvPr/>
        </p:nvSpPr>
        <p:spPr>
          <a:xfrm>
            <a:off x="609084" y="2971798"/>
            <a:ext cx="1281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00" cy="29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5400"/>
              <a:buFont typeface="Quattrocento Sans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68680" y="1362456"/>
            <a:ext cx="3099900" cy="15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4965192" y="1162033"/>
            <a:ext cx="6729900" cy="46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2"/>
          </p:nvPr>
        </p:nvSpPr>
        <p:spPr>
          <a:xfrm>
            <a:off x="868680" y="3013788"/>
            <a:ext cx="30999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498834" y="1618375"/>
            <a:ext cx="146400" cy="82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9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3400"/>
              <a:buFont typeface="Quattrocento Sans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6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00" cy="46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image" Target="../media/image2.gif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839755"/>
            <a:ext cx="10515600" cy="8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4400"/>
              <a:buFont typeface="Roboto Medium"/>
              <a:buNone/>
              <a:defRPr sz="4400" i="0" u="none" strike="noStrike" cap="none">
                <a:solidFill>
                  <a:srgbClr val="0033CC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•"/>
              <a:defRPr sz="2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  <a:defRPr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55475" y="93557"/>
            <a:ext cx="16573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D03A71-DF26-4778-ACBE-93DEA04DFDA4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79175" y="93557"/>
            <a:ext cx="1275386" cy="7239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-closing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mailto:phuc@lhu.edu.vn" TargetMode="External"/><Relationship Id="rId7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-closing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800"/>
              <a:buFont typeface="Quattrocento Sans"/>
              <a:buNone/>
            </a:pPr>
            <a:r>
              <a:rPr lang="en-US"/>
              <a:t>Thank you</a:t>
            </a:r>
            <a:endParaRPr/>
          </a:p>
        </p:txBody>
      </p:sp>
      <p:pic>
        <p:nvPicPr>
          <p:cNvPr id="205" name="Google Shape;205;p26" descr="woman writing on a dry erase 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9" r="59"/>
          <a:stretch/>
        </p:blipFill>
        <p:spPr>
          <a:xfrm>
            <a:off x="895522" y="859155"/>
            <a:ext cx="6016834" cy="491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 descr="User"/>
          <p:cNvPicPr preferRelativeResize="0">
            <a:picLocks noGrp="1"/>
          </p:cNvPicPr>
          <p:nvPr>
            <p:ph type="pic" idx="5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772400" y="25328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 txBox="1">
            <a:spLocks noGrp="1"/>
          </p:cNvSpPr>
          <p:nvPr>
            <p:ph type="body" idx="1"/>
          </p:nvPr>
        </p:nvSpPr>
        <p:spPr>
          <a:xfrm>
            <a:off x="7772400" y="3099816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ThS. Nguyễn Minh Phúc</a:t>
            </a:r>
            <a:endParaRPr/>
          </a:p>
        </p:txBody>
      </p:sp>
      <p:pic>
        <p:nvPicPr>
          <p:cNvPr id="208" name="Google Shape;208;p26" descr="Envelope"/>
          <p:cNvPicPr preferRelativeResize="0">
            <a:picLocks noGrp="1"/>
          </p:cNvPicPr>
          <p:nvPr>
            <p:ph type="pic" idx="6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7772400" y="3630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 txBox="1">
            <a:spLocks noGrp="1"/>
          </p:cNvSpPr>
          <p:nvPr>
            <p:ph type="body" idx="3"/>
          </p:nvPr>
        </p:nvSpPr>
        <p:spPr>
          <a:xfrm>
            <a:off x="7772400" y="4215384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>
                <a:hlinkClick r:id="rId6"/>
              </a:rPr>
              <a:t>phuc@lhu.edu.vn</a:t>
            </a:r>
            <a:endParaRPr/>
          </a:p>
        </p:txBody>
      </p:sp>
      <p:pic>
        <p:nvPicPr>
          <p:cNvPr id="210" name="Google Shape;210;p26" descr="Monitor"/>
          <p:cNvPicPr preferRelativeResize="0">
            <a:picLocks noGrp="1"/>
          </p:cNvPicPr>
          <p:nvPr>
            <p:ph type="pic" idx="7"/>
          </p:nvPr>
        </p:nvPicPr>
        <p:blipFill rotWithShape="1">
          <a:blip r:embed="rId7">
            <a:alphaModFix/>
          </a:blip>
          <a:srcRect/>
          <a:stretch/>
        </p:blipFill>
        <p:spPr>
          <a:xfrm>
            <a:off x="7772400" y="47548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>
            <a:spLocks noGrp="1"/>
          </p:cNvSpPr>
          <p:nvPr>
            <p:ph type="body" idx="4"/>
          </p:nvPr>
        </p:nvSpPr>
        <p:spPr>
          <a:xfrm>
            <a:off x="7772400" y="5321808"/>
            <a:ext cx="37211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>lhu.edu.vn</a:t>
            </a:r>
            <a:endParaRPr/>
          </a:p>
        </p:txBody>
      </p:sp>
      <p:sp>
        <p:nvSpPr>
          <p:cNvPr id="212" name="Google Shape;212;p26"/>
          <p:cNvSpPr txBox="1">
            <a:spLocks noGrp="1"/>
          </p:cNvSpPr>
          <p:nvPr>
            <p:ph type="dt" idx="10"/>
          </p:nvPr>
        </p:nvSpPr>
        <p:spPr>
          <a:xfrm>
            <a:off x="90525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Học kỳ 6 • 2026</a:t>
            </a:r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Lập trình ứng dụng web (111102)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/>
              <a:t>Bài 06: Server Actions, bảng dữ liệu &amp; màn hình quầy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Lập trình ứng dụng web (111102)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7168" y="4892040"/>
            <a:ext cx="7223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6C757D"/>
                </a:solidFill>
              </a:rPr>
              <a:t>Sprint 2 · Checkpoint Sprint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06: Server Actions, bảng dữ liệu &amp; màn hình quầy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Ghi dữ liệu bằng Server Actions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Bảng dữ liệu có lọc, sắp xếp, phân trang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Màn hình quầy đúng trình tự nghiệp vụ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Kiểm thử luồng, báo cáo Sprint 2, velocity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Mục tiêu buổi học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06: Server Actions, bảng dữ liệu &amp; màn hình quầy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11 giờ 30, 20 đơn chờ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Hai nhân viên cùng bấm một đơn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Khách hủy khi bếp đã nấu xong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Màn hình quầy xử lý thế nào?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Câu hỏi mở đầu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06: Server Actions, bảng dữ liệu &amp; màn hình quầy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Hàm async có 'use server', gọi từ form hoặc Client Component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Không cần tự viết Route Handler cho mỗi thao tác ghi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Mỗi Server Action là endpoint công khai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Luôn kiểm tra quyền và dữ liệu bên trong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Server Actions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06: Server Actions, bảng dữ liệu &amp; màn hình quầy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advanceStatus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79" y="1097280"/>
            <a:ext cx="11338560" cy="1988819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export async function advanceStatus(orderId, status) {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await requireRole('staff', 'admin');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try { await apiAuth(`/orders/${orderId}/status`, { method: 'PATCH', ... }); }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catch (e) { if (e.status === 409) return { ok: false, message: '...' }; }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  finally { revalidatePath('/admin/orders'); }</a:t>
            </a:r>
          </a:p>
          <a:p>
            <a:pPr algn="l"/>
            <a:r>
              <a:rPr sz="1800">
                <a:solidFill>
                  <a:srgbClr val="212529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06: Server Actions, bảng dữ liệu &amp; màn hình quầy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useActionState → [state, formAction, isPending]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revalidatePath: trang vẽ lại với dữ liệu mới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useOptimistic: hiện ngay kết quả mong đợi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Thất bại: giao diện trở về dữ liệu thật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useActionState và useOptimistic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6-optimi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603" y="1097280"/>
            <a:ext cx="511991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06: Server Actions, bảng dữ liệu &amp; màn hình quầy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includeUnavailable=true: thấy cả món ngừng bán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Lọc, trang trong URL: ?q=com&amp;page=2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Server Component gọi API đúng trang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TanStack Table: hiển thị và sắp xếp cột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Bảng món cho nhân viên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06: Server Actions, bảng dữ liệu &amp; màn hình quầy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API trả mảng, không trả tổng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Còn trang sau khi số phần tử = pageSize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Nút bật/tắt "còn bán": Server Action + revalidatePath (US-S04)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Phân trang không có tổng số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06: Server Actions, bảng dữ liệu &amp; màn hình quầy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Sai trình tự: API trả 409</a:t>
            </a:r>
          </a:p>
          <a:p>
            <a:pPr marL="0" indent="0">
              <a:spcBef>
                <a:spcPts val="8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Hoạt động</a:t>
            </a:r>
            <a:r>
              <a:rPr sz="2600">
                <a:solidFill>
                  <a:srgbClr val="0033CC"/>
                </a:solidFill>
              </a:rPr>
              <a:t>: Vẽ sơ đồ trạng thái cho thực thể chính của đề tài nhóm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Trạng thái đơn (BR-15)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6-trang-thai-d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58483"/>
            <a:ext cx="5577840" cy="27637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06: Server Actions, bảng dữ liệu &amp; màn hình quầy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GET /orders/staff: đơn pending, preparing, ready trong ngày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Ba cột theo trạng thái, lọc ?status= (US-S06)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OrderCard: nút theo trạng thái kế tiếp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Trạng thái bằng chữ, không chỉ bằng màu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Màn hình quầy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6-man-hinh-qu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9920"/>
            <a:ext cx="5577840" cy="31409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06: Server Actions, bảng dữ liệu &amp; màn hình quầy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571500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Hủy kèm lý do ≥ 3 ký tự (US-S07)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Hai người cùng bấm: người sau nhận 409, danh sách làm mới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Tạm làm mới mỗi 15 giây bằng router.refresh()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Bài 09: Socket.IO, đơn mới hiện ngay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Hủy đơn và xung đột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" name="Picture 5" descr="bai-06-xung-d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098922"/>
            <a:ext cx="5577840" cy="38829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06: Server Actions, bảng dữ liệu &amp; màn hình quầy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TC-31 khách đặt → đơn hiện ở "Chờ xác nhận" kèm ghi chú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TC-32 "Bắt đầu làm" → khách thấy "Đang chuẩn bị"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TC-33 khách hủy đơn preparing → 409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TC-34 hai nhân viên cùng bấm → người sau được báo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TC-35 hủy kèm lý do → khách thấy lý do, tồn kho hoàn lại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Test luồng nghiệp vụ (CLO2)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06: Server Actions, bảng dữ liệu &amp; màn hình quầy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Story point thật sự hoàn thành, đạt Definition of Done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So cam kết và hoàn thành của Sprint 1, 2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Sprint 3 chuyển sang backend nhóm: tính thêm việc backend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Cam kết không vượt trung bình velocity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Velocity (CLO4)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06: Server Actions, bảng dữ liệu &amp; màn hình quầy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Cấu trúc 6 mục như Sprint 1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Thêm ma trận phân quyền, kết quả test bảo mật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Sơ đồ trạng thái có số hình, chú thích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Đúng quy định định dạng ở trang Đánh giá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Báo cáo Sprint 2 (CLO3)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06: Server Actions, bảng dữ liệu &amp; màn hình quầy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Demo: khách đặt trên web → nhân viên xử lý → khách thấy trạng thái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Ma trận phân quyền, sơ đồ trạng thái, sơ đồ thành phần (CLO1)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Test case form, phân quyền, luồng + kết quả (CLO2)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Báo cáo Sprint 2 (CLO3); kế hoạch Sprint 3, bản nháp báo cáo vai trò cá nhân (CLO4)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Checkpoint Sprint 2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06: Server Actions, bảng dữ liệu &amp; màn hình quầy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>
              <a:spcBef>
                <a:spcPts val="400"/>
              </a:spcBef>
              <a:buChar char="❖"/>
            </a:pPr>
            <a:r>
              <a:rPr sz="2600"/>
              <a:t>Server Action: kiểm tra quyền, dữ liệu, revalidate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Bảng dữ liệu: bộ lọc trong URL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Màn hình quầy: đúng trình tự, xử lý xung đột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Buổi sau: Sprint 3, module quản trị trên backend nhóm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Tổng kết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Bài 06: Server Actions, bảng dữ liệu &amp; màn hình quầy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7280"/>
            <a:ext cx="11521440" cy="4434840"/>
          </a:xfrm>
        </p:spPr>
        <p:txBody>
          <a:bodyPr/>
          <a:lstStyle/>
          <a:p>
            <a:pPr marL="0" indent="0">
              <a:spcBef>
                <a:spcPts val="400"/>
              </a:spcBef>
              <a:buNone/>
            </a:pPr>
            <a:r>
              <a:rPr b="1" sz="2600">
                <a:solidFill>
                  <a:srgbClr val="0033CC"/>
                </a:solidFill>
              </a:rPr>
              <a:t>Đọc thêm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SRS LHU Food: tiêu chí US-S02, S03, S04, S06, S07, C08; BR-15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Kế hoạch Agile: velocity, release burndown, story Sprint 3</a:t>
            </a:r>
          </a:p>
          <a:p>
            <a:pPr>
              <a:spcBef>
                <a:spcPts val="400"/>
              </a:spcBef>
              <a:buChar char="❖"/>
            </a:pPr>
            <a:r>
              <a:rPr sz="2600"/>
              <a:t>Next.js: Updating Data; React: useOptimistic; TanStack Table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sz="2200"/>
              <a:t>Tài liệu của buổi</a:t>
            </a:r>
          </a:p>
        </p:txBody>
      </p:sp>
      <p:sp>
        <p:nvSpPr>
          <p:cNvPr id="5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9298142" y="636505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3600"/>
            </a:lvl1pPr>
            <a:lvl2pPr marL="0" lvl="1" indent="0" algn="r">
              <a:spcBef>
                <a:spcPts val="0"/>
              </a:spcBef>
              <a:buNone/>
              <a:defRPr sz="3600"/>
            </a:lvl2pPr>
            <a:lvl3pPr marL="0" lvl="2" indent="0" algn="r">
              <a:spcBef>
                <a:spcPts val="0"/>
              </a:spcBef>
              <a:buNone/>
              <a:defRPr sz="3600"/>
            </a:lvl3pPr>
            <a:lvl4pPr marL="0" lvl="3" indent="0" algn="r">
              <a:spcBef>
                <a:spcPts val="0"/>
              </a:spcBef>
              <a:buNone/>
              <a:defRPr sz="3600"/>
            </a:lvl4pPr>
            <a:lvl5pPr marL="0" lvl="4" indent="0" algn="r">
              <a:spcBef>
                <a:spcPts val="0"/>
              </a:spcBef>
              <a:buNone/>
              <a:defRPr sz="3600"/>
            </a:lvl5pPr>
            <a:lvl6pPr marL="0" lvl="5" indent="0" algn="r">
              <a:spcBef>
                <a:spcPts val="0"/>
              </a:spcBef>
              <a:buNone/>
              <a:defRPr sz="3600"/>
            </a:lvl6pPr>
            <a:lvl7pPr marL="0" lvl="6" indent="0" algn="r">
              <a:spcBef>
                <a:spcPts val="0"/>
              </a:spcBef>
              <a:buNone/>
              <a:defRPr sz="3600"/>
            </a:lvl7pPr>
            <a:lvl8pPr marL="0" lvl="7" indent="0" algn="r">
              <a:spcBef>
                <a:spcPts val="0"/>
              </a:spcBef>
              <a:buNone/>
              <a:defRPr sz="3600"/>
            </a:lvl8pPr>
            <a:lvl9pPr marL="0" lvl="8" indent="0" algn="r">
              <a:spcBef>
                <a:spcPts val="0"/>
              </a:spcBef>
              <a:buNone/>
              <a:defRPr sz="3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Avenir</vt:lpstr>
      <vt:lpstr>Roboto Black</vt:lpstr>
      <vt:lpstr>Quattrocento Sans</vt:lpstr>
      <vt:lpstr>Roboto</vt:lpstr>
      <vt:lpstr>Calibri</vt:lpstr>
      <vt:lpstr>Roboto Medium</vt:lpstr>
      <vt:lpstr>AccentBoxVTI</vt:lpstr>
      <vt:lpstr>LẬP TRÌNH  HƯỚNG ĐỐI TƯỢNG</vt:lpstr>
      <vt:lpstr>Repository Pattern</vt:lpstr>
      <vt:lpstr>Repository Pattern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MINH PHUC</cp:lastModifiedBy>
  <cp:revision>1</cp:revision>
  <dcterms:modified xsi:type="dcterms:W3CDTF">2026-10-31T01:21:49Z</dcterms:modified>
</cp:coreProperties>
</file>